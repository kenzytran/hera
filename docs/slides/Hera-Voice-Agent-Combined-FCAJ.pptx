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22"/>
  </p:notesMasterIdLst>
  <p:sldIdLst>
    <p:sldId id="378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019"/>
    <a:srgbClr val="080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2"/>
    <p:restoredTop sz="94678"/>
  </p:normalViewPr>
  <p:slideViewPr>
    <p:cSldViewPr snapToGrid="0">
      <p:cViewPr varScale="1">
        <p:scale>
          <a:sx n="90" d="100"/>
          <a:sy n="90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D63C4-0799-4A2C-AD48-BC1ED3A02247}" type="datetimeFigureOut">
              <a:rPr lang="vi-VN" smtClean="0"/>
              <a:t>26/06/2026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BE50-8498-4475-931F-7BE761A788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33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1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;p66">
            <a:extLst>
              <a:ext uri="{FF2B5EF4-FFF2-40B4-BE49-F238E27FC236}">
                <a16:creationId xmlns:a16="http://schemas.microsoft.com/office/drawing/2014/main" id="{64DCE6E7-812F-42A0-6F71-EEFA7D1FEE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7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;p66">
            <a:extLst>
              <a:ext uri="{FF2B5EF4-FFF2-40B4-BE49-F238E27FC236}">
                <a16:creationId xmlns:a16="http://schemas.microsoft.com/office/drawing/2014/main" id="{896180DA-1E13-B450-0AFF-6B03106FB5AA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rPr>
              <a:t>Amazon Web Services, Inc. or its Affiliates. </a:t>
            </a:r>
            <a:endParaRPr sz="15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B2EC284-19D1-B707-7327-DDDC101D5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70358"/>
            <a:ext cx="3414713" cy="369332"/>
          </a:xfrm>
        </p:spPr>
        <p:txBody>
          <a:bodyPr/>
          <a:lstStyle>
            <a:lvl1pPr>
              <a:buNone/>
              <a:defRPr sz="20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Speaker name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34CEF89-D289-4DCE-277E-BC0B42660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35573"/>
            <a:ext cx="3414713" cy="313932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Job title</a:t>
            </a:r>
          </a:p>
        </p:txBody>
      </p:sp>
      <p:pic>
        <p:nvPicPr>
          <p:cNvPr id="11" name="Picture 1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01CA924C-5765-E9EA-F404-A026068E5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202BE2D-3C38-4219-E07B-F011AC806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42742"/>
            <a:ext cx="8401792" cy="840230"/>
          </a:xfrm>
        </p:spPr>
        <p:txBody>
          <a:bodyPr>
            <a:normAutofit/>
          </a:bodyPr>
          <a:lstStyle>
            <a:lvl1pPr>
              <a:buNone/>
              <a:defRPr sz="4800" b="1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Walk in slide</a:t>
            </a:r>
            <a:endParaRPr lang="en-VN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06E23E3-17D4-FAAA-7737-9C9DE7821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05489"/>
            <a:ext cx="2143496" cy="424732"/>
          </a:xfrm>
        </p:spPr>
        <p:txBody>
          <a:bodyPr/>
          <a:lstStyle>
            <a:lvl1pPr>
              <a:buNone/>
              <a:defRPr sz="2400" b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Week number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9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F1304-0D4C-4A06-CBE7-119A785AE423}"/>
              </a:ext>
            </a:extLst>
          </p:cNvPr>
          <p:cNvSpPr/>
          <p:nvPr userDrawn="1"/>
        </p:nvSpPr>
        <p:spPr>
          <a:xfrm>
            <a:off x="0" y="0"/>
            <a:ext cx="12100956" cy="6858000"/>
          </a:xfrm>
          <a:prstGeom prst="rect">
            <a:avLst/>
          </a:prstGeom>
          <a:solidFill>
            <a:srgbClr val="0804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 err="1"/>
          </a:p>
        </p:txBody>
      </p:sp>
      <p:sp>
        <p:nvSpPr>
          <p:cNvPr id="3" name="Google Shape;19;p66">
            <a:extLst>
              <a:ext uri="{FF2B5EF4-FFF2-40B4-BE49-F238E27FC236}">
                <a16:creationId xmlns:a16="http://schemas.microsoft.com/office/drawing/2014/main" id="{33A3DACA-925C-11D4-B418-DE25DAB9EE9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A08F034-728C-83A4-E19E-83590BD4B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38F82F-7674-A892-F955-817697585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800" y="172800"/>
            <a:ext cx="11258550" cy="827827"/>
          </a:xfrm>
        </p:spPr>
        <p:txBody>
          <a:bodyPr>
            <a:noAutofit/>
          </a:bodyPr>
          <a:lstStyle>
            <a:lvl1pPr>
              <a:defRPr sz="2800" b="1" i="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/>
              <a:t>Slide title / Section name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87B56-D088-BF53-D4DB-56B8A0AED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11258550" cy="49276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8;p76">
            <a:extLst>
              <a:ext uri="{FF2B5EF4-FFF2-40B4-BE49-F238E27FC236}">
                <a16:creationId xmlns:a16="http://schemas.microsoft.com/office/drawing/2014/main" id="{E001CE48-199D-56A0-69D1-556D578CE7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;p66">
            <a:extLst>
              <a:ext uri="{FF2B5EF4-FFF2-40B4-BE49-F238E27FC236}">
                <a16:creationId xmlns:a16="http://schemas.microsoft.com/office/drawing/2014/main" id="{3F333B57-27F9-22F1-23EA-39219270A4D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29093AB-1582-1E20-7653-046307648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1" name="Google Shape;59;p76">
            <a:extLst>
              <a:ext uri="{FF2B5EF4-FFF2-40B4-BE49-F238E27FC236}">
                <a16:creationId xmlns:a16="http://schemas.microsoft.com/office/drawing/2014/main" id="{D491E884-C6E6-A451-C0C1-40CE734A462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60800" y="2836800"/>
            <a:ext cx="781990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3800" b="1" cap="none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 name</a:t>
            </a:r>
            <a:endParaRPr/>
          </a:p>
        </p:txBody>
      </p:sp>
      <p:sp>
        <p:nvSpPr>
          <p:cNvPr id="12" name="Google Shape;60;p76">
            <a:extLst>
              <a:ext uri="{FF2B5EF4-FFF2-40B4-BE49-F238E27FC236}">
                <a16:creationId xmlns:a16="http://schemas.microsoft.com/office/drawing/2014/main" id="{A15B343D-3356-673C-478B-D285C7C6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583375"/>
            <a:ext cx="6849533" cy="65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80985" lvl="0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2417">
                <a:solidFill>
                  <a:schemeClr val="bg1"/>
                </a:solidFill>
              </a:defRPr>
            </a:lvl1pPr>
            <a:lvl2pPr marL="761970" lvl="1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/>
            </a:lvl2pPr>
            <a:lvl3pPr marL="1142954" lvl="2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523939" lvl="3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1904924" lvl="4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285909" lvl="5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666893" lvl="6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047878" lvl="7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428863" lvl="8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90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- Patter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47D8DF4-5955-37F7-84A5-0450FA9A1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AE210-12E3-DF68-ED52-9B488FA1B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423247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5D34725-67E9-2352-B0E7-B41E8E95B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3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ey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E28E1A-01BF-6719-3F25-FF7ABB48F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1667DF-7E1E-2301-FB33-922A8FB34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grid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1715CB-C1BE-A469-26C3-2B34ECCD2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2719-D113-906F-557A-AB07F52967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D71B1E-50D4-E0C7-E22E-4757F4CEE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E92D56-60D0-B4E4-B0BF-E1CAF0C62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4705-ACEB-0B82-894F-D6448045AE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0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steps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F0E2-2DE2-BEB4-5FFE-50CD57D0C3CC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84236-65F1-C1D0-E328-FEA2706B5FC4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E856-95B1-4B21-016D-8AFADA0AE24C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22D2-0CC4-F729-CC94-DF7EC63AD935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3718-5CD1-D2E2-5484-0BCE71111F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8EF1-EA1E-13F8-567A-B1A4ED9C9569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C41345-4A3C-ED32-334C-2DB16827BE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BE6A78-E226-379F-BA4C-9CA76381978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FDE8A50-DE1D-FCEA-A344-D38AC583173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354D20-09E2-7938-F3D5-823E1A4C73A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53CDEB-2EEB-EAEB-AE99-91ADE34B7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DDA8FB-1D43-18E9-16BC-8DE4D85E5A3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FCAD366-1D38-DC91-D0A7-8E55B3DE6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F68136E-97E5-5E56-E46A-5B832F33B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E63A1-DC69-F078-A35E-216777573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2D6063-53E7-27C3-F781-5ABB7E4D7F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4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CBD583-E8BC-1684-9A4D-D61DA8E2B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9BA9F0-9D69-C5FC-89C4-F394B63337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1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patter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C60BC7-0C50-10FB-7151-EA11F40EF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5F5C516-8FF0-EF01-997B-C5520A81F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9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EE1858-6798-7E28-BEE5-466468BC38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C90D3-135E-F448-A122-BA9C3BDB7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81F9-9990-F54B-612C-58FAC23431C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1FF32-B384-59B9-5A4F-F418B697F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606-802A-37E5-4599-45C76CC22C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72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steps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870B6-9B5A-70F4-076A-80BDA87C00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A6D8-A9F3-11A2-8A80-DDB689B8BBE7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FAD15-38F3-3412-6864-F2B15FDF0B5F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182D385-45AD-B207-BE22-C0281D054EB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FF3CFB2-0E67-5F09-A6DC-7126ED764E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36987-AE76-23C9-8662-D3995743236E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A7BC3D-8C18-95A9-F966-EB82040A487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6056-708D-756B-6B17-CC8EBC7678AB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724EAF2-7703-B86C-2540-3F94706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D20F3A-A794-9FCA-5EC9-37808CDB0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3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39C3A8-ED20-DDD4-8A01-63C9CB05C3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B95A5F-FF9F-E938-57C4-44CC7F06F26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75231D-5825-AE5F-F6E9-6F8E21827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50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D8D8B9-3FC0-1D35-2201-FF21996F1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27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ABD480-0343-F735-3C49-E3358EA6A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2C5E13-4D18-F97F-4BD7-CE102825B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1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3174-11D6-305C-16B3-9FE6251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AF2E4-A524-E5CC-E6BF-2494A73A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4A8B-4B1C-CF7F-DACB-BCF8E9A6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409C2-61C9-8D49-96BE-171968F58CAA}" type="datetimeFigureOut">
              <a:t>6/26/2026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F0A-28EC-1CFD-3A4A-EE4CC595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96A7-3B40-4EA5-804B-6583774A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5951-7675-3946-A94E-47A019A45A3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5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5693FD-7083-8AB8-66AF-185882566F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5954" y="3002844"/>
            <a:ext cx="4274372" cy="426156"/>
          </a:xfrm>
        </p:spPr>
        <p:txBody>
          <a:bodyPr wrap="square" lIns="25400" tIns="25400" rIns="25400" bIns="25400">
            <a:no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</a:rPr>
              <a:t>AWS Workshop | June 26, 2026</a:t>
            </a:r>
          </a:p>
          <a:p>
            <a:r>
              <a:rPr lang="en-US" sz="1400" dirty="0">
                <a:solidFill>
                  <a:srgbClr val="FFFFFF"/>
                </a:solidFill>
                <a:latin typeface="Trebuchet MS" panose="020B0603020202020204" pitchFamily="34" charset="0"/>
              </a:rPr>
              <a:t>Trung Vu - Nghi Danh – Kiet Tran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701A5-5DEA-7792-2C7E-08627E23C2A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95955" y="1120172"/>
            <a:ext cx="5027407" cy="1148894"/>
          </a:xfrm>
        </p:spPr>
        <p:txBody>
          <a:bodyPr wrap="square" lIns="25400" tIns="25400" rIns="25400" bIns="25400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  <a:latin typeface="Trebuchet MS" panose="020B0603020202020204" pitchFamily="34" charset="0"/>
                <a:ea typeface="Amazon Ember Duospace"/>
                <a:cs typeface="Amazon Ember Duospace"/>
              </a:rPr>
              <a:t>Building Voice Agent </a:t>
            </a:r>
            <a:br>
              <a:rPr lang="en-US" sz="3400" dirty="0">
                <a:solidFill>
                  <a:srgbClr val="FFFFFF"/>
                </a:solidFill>
                <a:latin typeface="Trebuchet MS" panose="020B0603020202020204" pitchFamily="34" charset="0"/>
                <a:ea typeface="Amazon Ember Duospace"/>
                <a:cs typeface="Amazon Ember Duospace"/>
              </a:rPr>
            </a:br>
            <a:r>
              <a:rPr lang="en-US" sz="3400" dirty="0">
                <a:solidFill>
                  <a:srgbClr val="FFFFFF"/>
                </a:solidFill>
                <a:latin typeface="Trebuchet MS" panose="020B0603020202020204" pitchFamily="34" charset="0"/>
                <a:ea typeface="Amazon Ember Duospace"/>
                <a:cs typeface="Amazon Ember Duospace"/>
              </a:rPr>
              <a:t>at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89DEB-A32C-6F19-7DA6-AED4E913A3FD}"/>
              </a:ext>
            </a:extLst>
          </p:cNvPr>
          <p:cNvSpPr txBox="1"/>
          <p:nvPr/>
        </p:nvSpPr>
        <p:spPr>
          <a:xfrm>
            <a:off x="304800" y="4000500"/>
            <a:ext cx="5207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dirty="0">
                <a:solidFill>
                  <a:srgbClr val="C4CFDC"/>
                </a:solidFill>
                <a:latin typeface="Calibri" panose="020F0502020204030204" pitchFamily="34" charset="0"/>
              </a:rPr>
              <a:t>From real-time audio to production agent runtime</a:t>
            </a:r>
          </a:p>
        </p:txBody>
      </p:sp>
    </p:spTree>
    <p:extLst>
      <p:ext uri="{BB962C8B-B14F-4D97-AF65-F5344CB8AC3E}">
        <p14:creationId xmlns:p14="http://schemas.microsoft.com/office/powerpoint/2010/main" val="1751229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E86584-5DDC-1928-C4EA-9C54D7FB174F}"/>
              </a:ext>
            </a:extLst>
          </p:cNvPr>
          <p:cNvSpPr txBox="1"/>
          <p:nvPr/>
        </p:nvSpPr>
        <p:spPr>
          <a:xfrm>
            <a:off x="736600" y="889000"/>
            <a:ext cx="6604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Workshop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0C3FE-0533-A05C-B99D-D3752ADF270E}"/>
              </a:ext>
            </a:extLst>
          </p:cNvPr>
          <p:cNvSpPr txBox="1"/>
          <p:nvPr/>
        </p:nvSpPr>
        <p:spPr>
          <a:xfrm>
            <a:off x="762000" y="1600200"/>
            <a:ext cx="91440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</a:rPr>
              <a:t>By the end, participants can explain the moving parts of a production voice agent and choose a deployment path on AWS.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1FE4D-72BB-5958-996C-2CD27276E391}"/>
              </a:ext>
            </a:extLst>
          </p:cNvPr>
          <p:cNvSpPr/>
          <p:nvPr/>
        </p:nvSpPr>
        <p:spPr>
          <a:xfrm>
            <a:off x="914400" y="2667000"/>
            <a:ext cx="3111500" cy="20320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BDE122-3911-0D26-EA18-ABC1D62C90DF}"/>
              </a:ext>
            </a:extLst>
          </p:cNvPr>
          <p:cNvSpPr/>
          <p:nvPr/>
        </p:nvSpPr>
        <p:spPr>
          <a:xfrm>
            <a:off x="914400" y="2667000"/>
            <a:ext cx="63500" cy="2032000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019B9-6EC5-B1CF-6E52-2945773AAFE1}"/>
              </a:ext>
            </a:extLst>
          </p:cNvPr>
          <p:cNvSpPr txBox="1"/>
          <p:nvPr/>
        </p:nvSpPr>
        <p:spPr>
          <a:xfrm>
            <a:off x="1092200" y="2794000"/>
            <a:ext cx="2832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</a:rPr>
              <a:t>1. Choose the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4B438-3EEF-B3D1-4E75-3B0CAB3512CF}"/>
              </a:ext>
            </a:extLst>
          </p:cNvPr>
          <p:cNvSpPr txBox="1"/>
          <p:nvPr/>
        </p:nvSpPr>
        <p:spPr>
          <a:xfrm>
            <a:off x="1092200" y="3162300"/>
            <a:ext cx="28321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dirty="0">
                <a:solidFill>
                  <a:srgbClr val="D2DCE8"/>
                </a:solidFill>
                <a:latin typeface="Calibri" panose="020F0502020204030204" pitchFamily="34" charset="0"/>
              </a:rPr>
              <a:t>Compare speech-to-speech vs cascaded STT - LLM - TTS pipelines, and know where latency enters.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A703F-B10B-AA79-E4B7-3C81F01EC5AF}"/>
              </a:ext>
            </a:extLst>
          </p:cNvPr>
          <p:cNvSpPr/>
          <p:nvPr/>
        </p:nvSpPr>
        <p:spPr>
          <a:xfrm>
            <a:off x="4546600" y="2667000"/>
            <a:ext cx="3111500" cy="20320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C3E47-7198-8994-3DAB-E7132C82A14F}"/>
              </a:ext>
            </a:extLst>
          </p:cNvPr>
          <p:cNvSpPr/>
          <p:nvPr/>
        </p:nvSpPr>
        <p:spPr>
          <a:xfrm>
            <a:off x="4546600" y="2667000"/>
            <a:ext cx="63500" cy="2032000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364DC1-5F8F-CC68-6182-4A33DD75E736}"/>
              </a:ext>
            </a:extLst>
          </p:cNvPr>
          <p:cNvSpPr txBox="1"/>
          <p:nvPr/>
        </p:nvSpPr>
        <p:spPr>
          <a:xfrm>
            <a:off x="4724400" y="2794000"/>
            <a:ext cx="2832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</a:rPr>
              <a:t>2. Scale the agent brain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83908-DB00-443F-7DA1-D0048EF9C26E}"/>
              </a:ext>
            </a:extLst>
          </p:cNvPr>
          <p:cNvSpPr txBox="1"/>
          <p:nvPr/>
        </p:nvSpPr>
        <p:spPr>
          <a:xfrm>
            <a:off x="4724400" y="3162300"/>
            <a:ext cx="28321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dirty="0">
                <a:solidFill>
                  <a:srgbClr val="D2DCE8"/>
                </a:solidFill>
                <a:latin typeface="Calibri" panose="020F0502020204030204" pitchFamily="34" charset="0"/>
              </a:rPr>
              <a:t>Use tools, sub-agents, and session segmentation without turning one prompt into the whole system.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CE7260-7889-6639-644D-DE44AF62A167}"/>
              </a:ext>
            </a:extLst>
          </p:cNvPr>
          <p:cNvSpPr/>
          <p:nvPr/>
        </p:nvSpPr>
        <p:spPr>
          <a:xfrm>
            <a:off x="8178800" y="2667000"/>
            <a:ext cx="3111500" cy="20320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64D339-48A7-1453-3BA6-C2153164DB2D}"/>
              </a:ext>
            </a:extLst>
          </p:cNvPr>
          <p:cNvSpPr/>
          <p:nvPr/>
        </p:nvSpPr>
        <p:spPr>
          <a:xfrm>
            <a:off x="8178800" y="2667000"/>
            <a:ext cx="63500" cy="2032000"/>
          </a:xfrm>
          <a:prstGeom prst="rect">
            <a:avLst/>
          </a:prstGeom>
          <a:solidFill>
            <a:srgbClr val="00D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5D457-EC42-A9C5-8AA9-F2B73374BEAB}"/>
              </a:ext>
            </a:extLst>
          </p:cNvPr>
          <p:cNvSpPr txBox="1"/>
          <p:nvPr/>
        </p:nvSpPr>
        <p:spPr>
          <a:xfrm>
            <a:off x="8356600" y="2794000"/>
            <a:ext cx="2832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</a:rPr>
              <a:t>3. Ship the runtime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C0FF3-FE40-D693-1225-DF155BAFDC35}"/>
              </a:ext>
            </a:extLst>
          </p:cNvPr>
          <p:cNvSpPr txBox="1"/>
          <p:nvPr/>
        </p:nvSpPr>
        <p:spPr>
          <a:xfrm>
            <a:off x="8356600" y="3162300"/>
            <a:ext cx="2832100" cy="128240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dirty="0">
                <a:solidFill>
                  <a:srgbClr val="D2DCE8"/>
                </a:solidFill>
                <a:latin typeface="Calibri" panose="020F0502020204030204" pitchFamily="34" charset="0"/>
              </a:rPr>
              <a:t>Map WebSocket, WebRTC, telephony, </a:t>
            </a:r>
            <a:r>
              <a:rPr lang="en-US" sz="2000" dirty="0" err="1">
                <a:solidFill>
                  <a:srgbClr val="D2DCE8"/>
                </a:solidFill>
                <a:latin typeface="Calibri" panose="020F0502020204030204" pitchFamily="34" charset="0"/>
              </a:rPr>
              <a:t>AgentCore</a:t>
            </a:r>
            <a:r>
              <a:rPr lang="en-US" sz="2000" dirty="0">
                <a:solidFill>
                  <a:srgbClr val="D2DCE8"/>
                </a:solidFill>
                <a:latin typeface="Calibri" panose="020F0502020204030204" pitchFamily="34" charset="0"/>
              </a:rPr>
              <a:t> Runtime, and observability to a realistic delivery path.</a:t>
            </a:r>
          </a:p>
        </p:txBody>
      </p:sp>
    </p:spTree>
    <p:extLst>
      <p:ext uri="{BB962C8B-B14F-4D97-AF65-F5344CB8AC3E}">
        <p14:creationId xmlns:p14="http://schemas.microsoft.com/office/powerpoint/2010/main" val="125741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D3D836-5DC0-0219-996F-6785313BC396}"/>
              </a:ext>
            </a:extLst>
          </p:cNvPr>
          <p:cNvSpPr txBox="1"/>
          <p:nvPr/>
        </p:nvSpPr>
        <p:spPr>
          <a:xfrm>
            <a:off x="285750" y="1101135"/>
            <a:ext cx="5334000" cy="4360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</a:rPr>
              <a:t>Voice Agents Are Streaming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08C6A-57A0-FF2A-70DB-A413DD338BD8}"/>
              </a:ext>
            </a:extLst>
          </p:cNvPr>
          <p:cNvSpPr txBox="1"/>
          <p:nvPr/>
        </p:nvSpPr>
        <p:spPr>
          <a:xfrm>
            <a:off x="381000" y="1813956"/>
            <a:ext cx="4191000" cy="254428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dirty="0">
                <a:solidFill>
                  <a:srgbClr val="DAE4EF"/>
                </a:solidFill>
                <a:latin typeface="Calibri" panose="020F0502020204030204" pitchFamily="34" charset="0"/>
              </a:rPr>
              <a:t>Natural conversation needs simultaneous streams, not request/response turns.</a:t>
            </a:r>
          </a:p>
          <a:p>
            <a:endParaRPr lang="en-US" dirty="0">
              <a:solidFill>
                <a:srgbClr val="DAE4EF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DAE4EF"/>
                </a:solidFill>
                <a:latin typeface="Calibri" panose="020F0502020204030204" pitchFamily="34" charset="0"/>
              </a:rPr>
              <a:t>- Client to agent: browser, mobile, edge, phone</a:t>
            </a:r>
          </a:p>
          <a:p>
            <a:r>
              <a:rPr lang="en-US" dirty="0">
                <a:solidFill>
                  <a:srgbClr val="DAE4EF"/>
                </a:solidFill>
                <a:latin typeface="Calibri" panose="020F0502020204030204" pitchFamily="34" charset="0"/>
              </a:rPr>
              <a:t>- Agent to model: bidirectional audio + tool events</a:t>
            </a:r>
          </a:p>
          <a:p>
            <a:r>
              <a:rPr lang="en-US" dirty="0">
                <a:solidFill>
                  <a:srgbClr val="DAE4EF"/>
                </a:solidFill>
                <a:latin typeface="Calibri" panose="020F0502020204030204" pitchFamily="34" charset="0"/>
              </a:rPr>
              <a:t>- Telephony: SIP/voice-provider handoff for calls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BF137-C149-C729-AC90-450FE85843C0}"/>
              </a:ext>
            </a:extLst>
          </p:cNvPr>
          <p:cNvSpPr/>
          <p:nvPr/>
        </p:nvSpPr>
        <p:spPr>
          <a:xfrm>
            <a:off x="635000" y="4699000"/>
            <a:ext cx="1270000" cy="6858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3E525-3FE0-656C-BC03-C6A09F36761B}"/>
              </a:ext>
            </a:extLst>
          </p:cNvPr>
          <p:cNvSpPr/>
          <p:nvPr/>
        </p:nvSpPr>
        <p:spPr>
          <a:xfrm>
            <a:off x="635000" y="4699000"/>
            <a:ext cx="63500" cy="685800"/>
          </a:xfrm>
          <a:prstGeom prst="rect">
            <a:avLst/>
          </a:prstGeom>
          <a:solidFill>
            <a:srgbClr val="00D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EF5D1-AD40-56AA-F057-C982BF8EC0C1}"/>
              </a:ext>
            </a:extLst>
          </p:cNvPr>
          <p:cNvSpPr txBox="1"/>
          <p:nvPr/>
        </p:nvSpPr>
        <p:spPr>
          <a:xfrm>
            <a:off x="812800" y="4826000"/>
            <a:ext cx="990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Target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C1938-E4A4-D442-FFE1-DEA95DF5585B}"/>
              </a:ext>
            </a:extLst>
          </p:cNvPr>
          <p:cNvSpPr txBox="1"/>
          <p:nvPr/>
        </p:nvSpPr>
        <p:spPr>
          <a:xfrm>
            <a:off x="812800" y="5194300"/>
            <a:ext cx="9906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D2DCE8"/>
                </a:solidFill>
                <a:latin typeface="Calibri" panose="020F0502020204030204" pitchFamily="34" charset="0"/>
              </a:rPr>
              <a:t>Sub-second feel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61035B-004B-1BC3-BA94-D3259085A2CD}"/>
              </a:ext>
            </a:extLst>
          </p:cNvPr>
          <p:cNvSpPr/>
          <p:nvPr/>
        </p:nvSpPr>
        <p:spPr>
          <a:xfrm>
            <a:off x="2095500" y="4699000"/>
            <a:ext cx="1270000" cy="6858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40DA-85A2-3C90-2C01-6CAF65CBFD34}"/>
              </a:ext>
            </a:extLst>
          </p:cNvPr>
          <p:cNvSpPr/>
          <p:nvPr/>
        </p:nvSpPr>
        <p:spPr>
          <a:xfrm>
            <a:off x="2095500" y="4699000"/>
            <a:ext cx="63500" cy="685800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6ACE3-BD65-E47E-0886-86A72DBD8659}"/>
              </a:ext>
            </a:extLst>
          </p:cNvPr>
          <p:cNvSpPr txBox="1"/>
          <p:nvPr/>
        </p:nvSpPr>
        <p:spPr>
          <a:xfrm>
            <a:off x="2273300" y="4826000"/>
            <a:ext cx="990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Risk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F1FD26-0C3C-F44C-31FA-8228F100DE95}"/>
              </a:ext>
            </a:extLst>
          </p:cNvPr>
          <p:cNvSpPr txBox="1"/>
          <p:nvPr/>
        </p:nvSpPr>
        <p:spPr>
          <a:xfrm>
            <a:off x="2273300" y="5194300"/>
            <a:ext cx="9906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Jitter + stalls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25E99-79A8-4B93-D4E8-FD9D35E139D7}"/>
              </a:ext>
            </a:extLst>
          </p:cNvPr>
          <p:cNvSpPr/>
          <p:nvPr/>
        </p:nvSpPr>
        <p:spPr>
          <a:xfrm>
            <a:off x="3556000" y="4699000"/>
            <a:ext cx="1270000" cy="6858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B2E866-2811-80E6-430A-47C73D40B8AB}"/>
              </a:ext>
            </a:extLst>
          </p:cNvPr>
          <p:cNvSpPr/>
          <p:nvPr/>
        </p:nvSpPr>
        <p:spPr>
          <a:xfrm>
            <a:off x="3556000" y="4699000"/>
            <a:ext cx="63500" cy="685800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914D30-D452-C319-9A83-B117990385B1}"/>
              </a:ext>
            </a:extLst>
          </p:cNvPr>
          <p:cNvSpPr txBox="1"/>
          <p:nvPr/>
        </p:nvSpPr>
        <p:spPr>
          <a:xfrm>
            <a:off x="3733800" y="4826000"/>
            <a:ext cx="990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Fix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8DA64D-A8CE-57D3-B376-893B8E17F174}"/>
              </a:ext>
            </a:extLst>
          </p:cNvPr>
          <p:cNvSpPr txBox="1"/>
          <p:nvPr/>
        </p:nvSpPr>
        <p:spPr>
          <a:xfrm>
            <a:off x="3733800" y="5194300"/>
            <a:ext cx="9906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D2DCE8"/>
                </a:solidFill>
                <a:latin typeface="Calibri" panose="020F0502020204030204" pitchFamily="34" charset="0"/>
              </a:rPr>
              <a:t>Stream each hop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8502FF-0F7C-BD18-44E3-B73EF6AA161E}"/>
              </a:ext>
            </a:extLst>
          </p:cNvPr>
          <p:cNvSpPr/>
          <p:nvPr/>
        </p:nvSpPr>
        <p:spPr>
          <a:xfrm>
            <a:off x="5207000" y="990600"/>
            <a:ext cx="6223000" cy="41910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BE3BB0-3510-FDBC-5B97-48309F54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707531"/>
            <a:ext cx="6096000" cy="275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FD2C2E-F4BF-D0CA-C489-FF1110FD19DA}"/>
              </a:ext>
            </a:extLst>
          </p:cNvPr>
          <p:cNvSpPr/>
          <p:nvPr/>
        </p:nvSpPr>
        <p:spPr>
          <a:xfrm>
            <a:off x="939800" y="1600200"/>
            <a:ext cx="10223500" cy="31750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7F1BD-F12B-13C3-D8BA-C865DB5A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4" y="1663700"/>
            <a:ext cx="8830491" cy="304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779DB7-D1A8-F9E0-AB69-27E59DA732EE}"/>
              </a:ext>
            </a:extLst>
          </p:cNvPr>
          <p:cNvSpPr/>
          <p:nvPr/>
        </p:nvSpPr>
        <p:spPr>
          <a:xfrm>
            <a:off x="1016000" y="5016500"/>
            <a:ext cx="3149600" cy="971322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7CBFAC-B166-9BAF-2ECE-733D26AD8329}"/>
              </a:ext>
            </a:extLst>
          </p:cNvPr>
          <p:cNvSpPr/>
          <p:nvPr/>
        </p:nvSpPr>
        <p:spPr>
          <a:xfrm>
            <a:off x="1016000" y="5016500"/>
            <a:ext cx="63500" cy="971322"/>
          </a:xfrm>
          <a:prstGeom prst="rect">
            <a:avLst/>
          </a:prstGeom>
          <a:solidFill>
            <a:srgbClr val="00D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F780E-FD32-9011-F219-933595A1787E}"/>
              </a:ext>
            </a:extLst>
          </p:cNvPr>
          <p:cNvSpPr txBox="1"/>
          <p:nvPr/>
        </p:nvSpPr>
        <p:spPr>
          <a:xfrm>
            <a:off x="1193800" y="5143500"/>
            <a:ext cx="28702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Speech-to-speech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4C63F-7205-535D-D31F-1B0F0A639C87}"/>
              </a:ext>
            </a:extLst>
          </p:cNvPr>
          <p:cNvSpPr txBox="1"/>
          <p:nvPr/>
        </p:nvSpPr>
        <p:spPr>
          <a:xfrm>
            <a:off x="1193800" y="5511800"/>
            <a:ext cx="28702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</a:rPr>
              <a:t>Lowest moving-parts count; built-in streaming, turn-taking, voices, and tool use.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BE364-67DA-AB6C-FF7F-023E932B1D51}"/>
              </a:ext>
            </a:extLst>
          </p:cNvPr>
          <p:cNvSpPr/>
          <p:nvPr/>
        </p:nvSpPr>
        <p:spPr>
          <a:xfrm>
            <a:off x="4521200" y="5016500"/>
            <a:ext cx="3149600" cy="971322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3DF4A6-DF18-8B40-7C07-1CD4410B7D92}"/>
              </a:ext>
            </a:extLst>
          </p:cNvPr>
          <p:cNvSpPr/>
          <p:nvPr/>
        </p:nvSpPr>
        <p:spPr>
          <a:xfrm>
            <a:off x="4521200" y="5016500"/>
            <a:ext cx="76200" cy="971322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6EFEF-805F-255C-EB09-779EAFC8259A}"/>
              </a:ext>
            </a:extLst>
          </p:cNvPr>
          <p:cNvSpPr txBox="1"/>
          <p:nvPr/>
        </p:nvSpPr>
        <p:spPr>
          <a:xfrm>
            <a:off x="4699000" y="5143500"/>
            <a:ext cx="28702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Cascaded pipeline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1BABB9-128F-3D03-609E-154B815963D7}"/>
              </a:ext>
            </a:extLst>
          </p:cNvPr>
          <p:cNvSpPr txBox="1"/>
          <p:nvPr/>
        </p:nvSpPr>
        <p:spPr>
          <a:xfrm>
            <a:off x="4699000" y="5511800"/>
            <a:ext cx="28702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</a:rPr>
              <a:t>More control over STT, LLM, TTS, language coverage, and specialized components.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739C24-F52A-532E-75D0-4A90D25B9B62}"/>
              </a:ext>
            </a:extLst>
          </p:cNvPr>
          <p:cNvSpPr/>
          <p:nvPr/>
        </p:nvSpPr>
        <p:spPr>
          <a:xfrm>
            <a:off x="8026400" y="5016500"/>
            <a:ext cx="3149600" cy="971322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935AF2-4B7C-0DF3-41A0-19569EB45B9E}"/>
              </a:ext>
            </a:extLst>
          </p:cNvPr>
          <p:cNvSpPr/>
          <p:nvPr/>
        </p:nvSpPr>
        <p:spPr>
          <a:xfrm>
            <a:off x="8026400" y="5016500"/>
            <a:ext cx="76200" cy="971322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6B35CF-5BB3-E8ED-E70B-F8F64EE92DCF}"/>
              </a:ext>
            </a:extLst>
          </p:cNvPr>
          <p:cNvSpPr txBox="1"/>
          <p:nvPr/>
        </p:nvSpPr>
        <p:spPr>
          <a:xfrm>
            <a:off x="8204200" y="5143500"/>
            <a:ext cx="28702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Decision frame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173A50-0581-AF74-50D3-EABB672A1727}"/>
              </a:ext>
            </a:extLst>
          </p:cNvPr>
          <p:cNvSpPr txBox="1"/>
          <p:nvPr/>
        </p:nvSpPr>
        <p:spPr>
          <a:xfrm>
            <a:off x="8204200" y="5511800"/>
            <a:ext cx="28702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</a:rPr>
              <a:t>Optimize for natural flow first; choose modularity only where it buys real capability.</a:t>
            </a:r>
          </a:p>
        </p:txBody>
      </p:sp>
    </p:spTree>
    <p:extLst>
      <p:ext uri="{BB962C8B-B14F-4D97-AF65-F5344CB8AC3E}">
        <p14:creationId xmlns:p14="http://schemas.microsoft.com/office/powerpoint/2010/main" val="410693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B87014-AF7F-463D-5639-69818ECA5BFA}"/>
              </a:ext>
            </a:extLst>
          </p:cNvPr>
          <p:cNvSpPr txBox="1"/>
          <p:nvPr/>
        </p:nvSpPr>
        <p:spPr>
          <a:xfrm>
            <a:off x="355600" y="1422400"/>
            <a:ext cx="2413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Calibri" panose="020F0502020204030204" pitchFamily="34" charset="0"/>
              </a:rPr>
              <a:t>Transport Choices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D6ED6-80AB-61BA-6EBD-8BC3CEC33944}"/>
              </a:ext>
            </a:extLst>
          </p:cNvPr>
          <p:cNvSpPr txBox="1"/>
          <p:nvPr/>
        </p:nvSpPr>
        <p:spPr>
          <a:xfrm>
            <a:off x="355600" y="1930400"/>
            <a:ext cx="20955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dirty="0">
                <a:solidFill>
                  <a:srgbClr val="C2CFDC"/>
                </a:solidFill>
                <a:latin typeface="Calibri" panose="020F0502020204030204" pitchFamily="34" charset="0"/>
              </a:rPr>
              <a:t>Select the network path by channel, latency budget, reliability, and operating model.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C6503-CFFB-DC55-C8F5-660A57588330}"/>
              </a:ext>
            </a:extLst>
          </p:cNvPr>
          <p:cNvSpPr/>
          <p:nvPr/>
        </p:nvSpPr>
        <p:spPr>
          <a:xfrm>
            <a:off x="3111500" y="1752600"/>
            <a:ext cx="2184400" cy="1549400"/>
          </a:xfrm>
          <a:prstGeom prst="rect">
            <a:avLst/>
          </a:prstGeom>
          <a:solidFill>
            <a:srgbClr val="131E2B">
              <a:alpha val="95000"/>
            </a:srgbClr>
          </a:solidFill>
          <a:ln w="12700">
            <a:solidFill>
              <a:srgbClr val="3D4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F2882-33E5-4CF6-3913-2CB8D030854E}"/>
              </a:ext>
            </a:extLst>
          </p:cNvPr>
          <p:cNvSpPr txBox="1"/>
          <p:nvPr/>
        </p:nvSpPr>
        <p:spPr>
          <a:xfrm>
            <a:off x="3263900" y="1930400"/>
            <a:ext cx="1841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WebSocket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B1E1FF-D1DF-01CD-9715-94272D30933E}"/>
              </a:ext>
            </a:extLst>
          </p:cNvPr>
          <p:cNvSpPr txBox="1"/>
          <p:nvPr/>
        </p:nvSpPr>
        <p:spPr>
          <a:xfrm>
            <a:off x="3263900" y="2311400"/>
            <a:ext cx="18415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 dirty="0">
                <a:solidFill>
                  <a:srgbClr val="D2DCE8"/>
                </a:solidFill>
                <a:latin typeface="Calibri" panose="020F0502020204030204" pitchFamily="34" charset="0"/>
              </a:rPr>
              <a:t>Simple full-duplex path for web/mobile prototypes and direct audio streaming.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7925D-218D-009A-2A39-060E232A527F}"/>
              </a:ext>
            </a:extLst>
          </p:cNvPr>
          <p:cNvSpPr/>
          <p:nvPr/>
        </p:nvSpPr>
        <p:spPr>
          <a:xfrm>
            <a:off x="6159500" y="1752600"/>
            <a:ext cx="2184400" cy="1549400"/>
          </a:xfrm>
          <a:prstGeom prst="rect">
            <a:avLst/>
          </a:prstGeom>
          <a:solidFill>
            <a:srgbClr val="131E2B">
              <a:alpha val="95000"/>
            </a:srgbClr>
          </a:solidFill>
          <a:ln w="12700">
            <a:solidFill>
              <a:srgbClr val="3D4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E61F5-A614-2A6F-F27D-612432D56CA8}"/>
              </a:ext>
            </a:extLst>
          </p:cNvPr>
          <p:cNvSpPr txBox="1"/>
          <p:nvPr/>
        </p:nvSpPr>
        <p:spPr>
          <a:xfrm>
            <a:off x="6311900" y="1930400"/>
            <a:ext cx="1841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WebRTC + TURN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B8DF8C-9C69-87D9-C228-D9F14F4D0C06}"/>
              </a:ext>
            </a:extLst>
          </p:cNvPr>
          <p:cNvSpPr txBox="1"/>
          <p:nvPr/>
        </p:nvSpPr>
        <p:spPr>
          <a:xfrm>
            <a:off x="6311900" y="2311400"/>
            <a:ext cx="1841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D2DCE8"/>
                </a:solidFill>
                <a:latin typeface="Calibri" panose="020F0502020204030204" pitchFamily="34" charset="0"/>
              </a:rPr>
              <a:t>UDP-first media path for lower latency and resilience across networks.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3AE4F9-0A80-955A-B91F-7CEB4F019B07}"/>
              </a:ext>
            </a:extLst>
          </p:cNvPr>
          <p:cNvSpPr/>
          <p:nvPr/>
        </p:nvSpPr>
        <p:spPr>
          <a:xfrm>
            <a:off x="9216890" y="1700847"/>
            <a:ext cx="2184400" cy="1549400"/>
          </a:xfrm>
          <a:prstGeom prst="rect">
            <a:avLst/>
          </a:prstGeom>
          <a:solidFill>
            <a:srgbClr val="131E2B">
              <a:alpha val="95000"/>
            </a:srgbClr>
          </a:solidFill>
          <a:ln w="12700">
            <a:solidFill>
              <a:srgbClr val="3D4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75E81C-87C1-BA59-864C-A20CFE9B4FE7}"/>
              </a:ext>
            </a:extLst>
          </p:cNvPr>
          <p:cNvSpPr txBox="1"/>
          <p:nvPr/>
        </p:nvSpPr>
        <p:spPr>
          <a:xfrm>
            <a:off x="9359900" y="1930400"/>
            <a:ext cx="1841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Managed WebRTC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512BC-5D29-2210-2CBA-664404197520}"/>
              </a:ext>
            </a:extLst>
          </p:cNvPr>
          <p:cNvSpPr txBox="1"/>
          <p:nvPr/>
        </p:nvSpPr>
        <p:spPr>
          <a:xfrm>
            <a:off x="9359900" y="2311400"/>
            <a:ext cx="18415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 dirty="0">
                <a:solidFill>
                  <a:srgbClr val="D2DCE8"/>
                </a:solidFill>
                <a:latin typeface="Calibri" panose="020F0502020204030204" pitchFamily="34" charset="0"/>
              </a:rPr>
              <a:t>Offload SFU, relays, reconnection, and client SDKs to a managed RTC provider.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62FDCD-3F98-4997-6395-8B4626B33B38}"/>
              </a:ext>
            </a:extLst>
          </p:cNvPr>
          <p:cNvSpPr/>
          <p:nvPr/>
        </p:nvSpPr>
        <p:spPr>
          <a:xfrm>
            <a:off x="3252974" y="4709795"/>
            <a:ext cx="2184400" cy="1549400"/>
          </a:xfrm>
          <a:prstGeom prst="rect">
            <a:avLst/>
          </a:prstGeom>
          <a:solidFill>
            <a:srgbClr val="131E2B">
              <a:alpha val="95000"/>
            </a:srgbClr>
          </a:solidFill>
          <a:ln w="12700">
            <a:solidFill>
              <a:srgbClr val="3D4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6E7B6-2C6A-38EC-14C5-80248CD83EEE}"/>
              </a:ext>
            </a:extLst>
          </p:cNvPr>
          <p:cNvSpPr txBox="1"/>
          <p:nvPr/>
        </p:nvSpPr>
        <p:spPr>
          <a:xfrm>
            <a:off x="3263900" y="4775200"/>
            <a:ext cx="1841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Telephony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0FFC3-00AD-24AB-F20C-4EA33C3B7678}"/>
              </a:ext>
            </a:extLst>
          </p:cNvPr>
          <p:cNvSpPr txBox="1"/>
          <p:nvPr/>
        </p:nvSpPr>
        <p:spPr>
          <a:xfrm>
            <a:off x="3263900" y="5156200"/>
            <a:ext cx="18415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 dirty="0">
                <a:solidFill>
                  <a:srgbClr val="D2DCE8"/>
                </a:solidFill>
                <a:latin typeface="Calibri" panose="020F0502020204030204" pitchFamily="34" charset="0"/>
              </a:rPr>
              <a:t>For inbound/outbound calls through contact center or voice provider integrations.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94E4D4-0795-D3D3-5C1D-4AF78F26C691}"/>
              </a:ext>
            </a:extLst>
          </p:cNvPr>
          <p:cNvSpPr/>
          <p:nvPr/>
        </p:nvSpPr>
        <p:spPr>
          <a:xfrm>
            <a:off x="6230237" y="4614897"/>
            <a:ext cx="2184400" cy="1549400"/>
          </a:xfrm>
          <a:prstGeom prst="rect">
            <a:avLst/>
          </a:prstGeom>
          <a:solidFill>
            <a:srgbClr val="131E2B">
              <a:alpha val="95000"/>
            </a:srgbClr>
          </a:solidFill>
          <a:ln w="12700">
            <a:solidFill>
              <a:srgbClr val="3D4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FC24E3-134E-C3A8-A094-63A33B35106C}"/>
              </a:ext>
            </a:extLst>
          </p:cNvPr>
          <p:cNvSpPr txBox="1"/>
          <p:nvPr/>
        </p:nvSpPr>
        <p:spPr>
          <a:xfrm>
            <a:off x="6311900" y="4775200"/>
            <a:ext cx="1841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KVS TURN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0E3BEB-438F-CB8D-986D-68E4C2EDE2E4}"/>
              </a:ext>
            </a:extLst>
          </p:cNvPr>
          <p:cNvSpPr txBox="1"/>
          <p:nvPr/>
        </p:nvSpPr>
        <p:spPr>
          <a:xfrm>
            <a:off x="6311900" y="5156200"/>
            <a:ext cx="1841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D2DCE8"/>
                </a:solidFill>
                <a:latin typeface="Calibri" panose="020F0502020204030204" pitchFamily="34" charset="0"/>
              </a:rPr>
              <a:t>AWS-native temporary TURN credentials for WebRTC NAT traversal.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ED2CE2-0E1D-1D6D-75B1-EC8B3E8CF8B8}"/>
              </a:ext>
            </a:extLst>
          </p:cNvPr>
          <p:cNvSpPr/>
          <p:nvPr/>
        </p:nvSpPr>
        <p:spPr>
          <a:xfrm>
            <a:off x="9216890" y="4614897"/>
            <a:ext cx="2184400" cy="1549400"/>
          </a:xfrm>
          <a:prstGeom prst="rect">
            <a:avLst/>
          </a:prstGeom>
          <a:solidFill>
            <a:srgbClr val="131E2B">
              <a:alpha val="95000"/>
            </a:srgbClr>
          </a:solidFill>
          <a:ln w="12700">
            <a:solidFill>
              <a:srgbClr val="3D4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DF13EA-2879-A792-35D2-190B0C919B0C}"/>
              </a:ext>
            </a:extLst>
          </p:cNvPr>
          <p:cNvSpPr txBox="1"/>
          <p:nvPr/>
        </p:nvSpPr>
        <p:spPr>
          <a:xfrm>
            <a:off x="9359900" y="4775200"/>
            <a:ext cx="1841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SageMaker + vLLM STT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3781D5-1FFC-BEC6-B304-CAA146F10BF8}"/>
              </a:ext>
            </a:extLst>
          </p:cNvPr>
          <p:cNvSpPr txBox="1"/>
          <p:nvPr/>
        </p:nvSpPr>
        <p:spPr>
          <a:xfrm>
            <a:off x="9359900" y="5156200"/>
            <a:ext cx="18415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D2DCE8"/>
                </a:solidFill>
                <a:latin typeface="Calibri" panose="020F0502020204030204" pitchFamily="34" charset="0"/>
              </a:rPr>
              <a:t>Bring open real-time ASR models behind managed bidirectional streaming.</a:t>
            </a:r>
          </a:p>
        </p:txBody>
      </p:sp>
    </p:spTree>
    <p:extLst>
      <p:ext uri="{BB962C8B-B14F-4D97-AF65-F5344CB8AC3E}">
        <p14:creationId xmlns:p14="http://schemas.microsoft.com/office/powerpoint/2010/main" val="181934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B78A-8E31-E77C-5CE3-51D05EDB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56" y="1555030"/>
            <a:ext cx="10651609" cy="2911151"/>
          </a:xfrm>
        </p:spPr>
        <p:txBody>
          <a:bodyPr wrap="square" lIns="25400" tIns="25400" rIns="25400" bIns="25400">
            <a:normAutofit/>
          </a:bodyPr>
          <a:lstStyle/>
          <a:p>
            <a:r>
              <a:rPr lang="en-US" sz="4300" b="1">
                <a:solidFill>
                  <a:srgbClr val="FFFFFF"/>
                </a:solidFill>
                <a:latin typeface="Trebuchet MS" panose="020B0603020202020204" pitchFamily="34" charset="0"/>
              </a:rPr>
              <a:t>Latency Is</a:t>
            </a:r>
            <a:br>
              <a:rPr lang="en-US" sz="4300" b="1">
                <a:solidFill>
                  <a:srgbClr val="FFFFFF"/>
                </a:solidFill>
                <a:latin typeface="Trebuchet MS" panose="020B0603020202020204" pitchFamily="34" charset="0"/>
              </a:rPr>
            </a:br>
            <a:r>
              <a:rPr lang="en-US" sz="4300" b="1">
                <a:solidFill>
                  <a:srgbClr val="FFFFFF"/>
                </a:solidFill>
                <a:latin typeface="Trebuchet MS" panose="020B0603020202020204" pitchFamily="34" charset="0"/>
              </a:rPr>
              <a:t>the Product.</a:t>
            </a:r>
            <a:endParaRPr lang="en-US" sz="4300" b="1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713A3-4FCD-08A4-F84F-8A57676D09DC}"/>
              </a:ext>
            </a:extLst>
          </p:cNvPr>
          <p:cNvSpPr txBox="1"/>
          <p:nvPr/>
        </p:nvSpPr>
        <p:spPr>
          <a:xfrm>
            <a:off x="381000" y="4165600"/>
            <a:ext cx="71120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Users judge intelligence by timing before they judge model quality.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DA411-E082-9671-9DB2-750499512F61}"/>
              </a:ext>
            </a:extLst>
          </p:cNvPr>
          <p:cNvSpPr/>
          <p:nvPr/>
        </p:nvSpPr>
        <p:spPr>
          <a:xfrm>
            <a:off x="7874000" y="1397000"/>
            <a:ext cx="2921000" cy="8890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1A3FA-81B4-E76F-6F92-AE0F1BDBA6CF}"/>
              </a:ext>
            </a:extLst>
          </p:cNvPr>
          <p:cNvSpPr/>
          <p:nvPr/>
        </p:nvSpPr>
        <p:spPr>
          <a:xfrm>
            <a:off x="7874000" y="1397000"/>
            <a:ext cx="63500" cy="889000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1FD0F-43D6-779B-4A14-75251C8B0FBE}"/>
              </a:ext>
            </a:extLst>
          </p:cNvPr>
          <p:cNvSpPr txBox="1"/>
          <p:nvPr/>
        </p:nvSpPr>
        <p:spPr>
          <a:xfrm>
            <a:off x="8051800" y="1524000"/>
            <a:ext cx="2641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Time to first audio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5AD83-D84B-1117-38C3-655BCAC858B8}"/>
              </a:ext>
            </a:extLst>
          </p:cNvPr>
          <p:cNvSpPr txBox="1"/>
          <p:nvPr/>
        </p:nvSpPr>
        <p:spPr>
          <a:xfrm>
            <a:off x="8051800" y="1892300"/>
            <a:ext cx="26416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Measure the silence after the user stops speaking.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622B6-7121-8A2D-D3D7-BC5C967408C6}"/>
              </a:ext>
            </a:extLst>
          </p:cNvPr>
          <p:cNvSpPr/>
          <p:nvPr/>
        </p:nvSpPr>
        <p:spPr>
          <a:xfrm>
            <a:off x="7874000" y="2603500"/>
            <a:ext cx="2921000" cy="8890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F61E8-B5F3-81EA-D737-97CD5EFC04CA}"/>
              </a:ext>
            </a:extLst>
          </p:cNvPr>
          <p:cNvSpPr/>
          <p:nvPr/>
        </p:nvSpPr>
        <p:spPr>
          <a:xfrm>
            <a:off x="7874000" y="2603500"/>
            <a:ext cx="63500" cy="889000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EC1CC-EF1A-8EAD-5CF1-F00C18FD4587}"/>
              </a:ext>
            </a:extLst>
          </p:cNvPr>
          <p:cNvSpPr txBox="1"/>
          <p:nvPr/>
        </p:nvSpPr>
        <p:spPr>
          <a:xfrm>
            <a:off x="8051800" y="2730500"/>
            <a:ext cx="2641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Barge-in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55392-17E5-4E71-7038-5772EE30F6A9}"/>
              </a:ext>
            </a:extLst>
          </p:cNvPr>
          <p:cNvSpPr txBox="1"/>
          <p:nvPr/>
        </p:nvSpPr>
        <p:spPr>
          <a:xfrm>
            <a:off x="8051800" y="3098800"/>
            <a:ext cx="2641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Let users interrupt, clarify, and redirect mid-response.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6936A-887C-E8CB-D27F-8CB7B0C819F1}"/>
              </a:ext>
            </a:extLst>
          </p:cNvPr>
          <p:cNvSpPr/>
          <p:nvPr/>
        </p:nvSpPr>
        <p:spPr>
          <a:xfrm>
            <a:off x="7874000" y="3810000"/>
            <a:ext cx="2921000" cy="8890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B3C37A-0150-DDD8-C1D1-E0C3A942C20F}"/>
              </a:ext>
            </a:extLst>
          </p:cNvPr>
          <p:cNvSpPr/>
          <p:nvPr/>
        </p:nvSpPr>
        <p:spPr>
          <a:xfrm>
            <a:off x="7874000" y="3810000"/>
            <a:ext cx="63500" cy="889000"/>
          </a:xfrm>
          <a:prstGeom prst="rect">
            <a:avLst/>
          </a:prstGeom>
          <a:solidFill>
            <a:srgbClr val="00D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272DA-AEA3-B799-01F7-6E193ABB8CE4}"/>
              </a:ext>
            </a:extLst>
          </p:cNvPr>
          <p:cNvSpPr txBox="1"/>
          <p:nvPr/>
        </p:nvSpPr>
        <p:spPr>
          <a:xfrm>
            <a:off x="8051800" y="3937000"/>
            <a:ext cx="2641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Network recovery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C2177A-2DAF-677E-DC7F-ACE767C8882B}"/>
              </a:ext>
            </a:extLst>
          </p:cNvPr>
          <p:cNvSpPr txBox="1"/>
          <p:nvPr/>
        </p:nvSpPr>
        <p:spPr>
          <a:xfrm>
            <a:off x="8051800" y="4305300"/>
            <a:ext cx="26416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Treat reconnects and jitter as first-class UX paths.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B4FA7B-DE11-3B26-2CC9-49D9FBB03A9B}"/>
              </a:ext>
            </a:extLst>
          </p:cNvPr>
          <p:cNvSpPr txBox="1"/>
          <p:nvPr/>
        </p:nvSpPr>
        <p:spPr>
          <a:xfrm>
            <a:off x="355600" y="5880100"/>
            <a:ext cx="10033000" cy="15901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700">
                <a:solidFill>
                  <a:srgbClr val="FFFFFF"/>
                </a:solidFill>
                <a:latin typeface="Calibri" panose="020F0502020204030204" pitchFamily="34" charset="0"/>
              </a:rPr>
              <a:t>Workshop takeaway from AWS Nova Sonic, Pipecat, WebRTC, and AgentCore streaming guidance</a:t>
            </a:r>
          </a:p>
        </p:txBody>
      </p:sp>
    </p:spTree>
    <p:extLst>
      <p:ext uri="{BB962C8B-B14F-4D97-AF65-F5344CB8AC3E}">
        <p14:creationId xmlns:p14="http://schemas.microsoft.com/office/powerpoint/2010/main" val="248867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ED9D-62E8-A79C-D0F2-DA41FBF6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94" y="1120172"/>
            <a:ext cx="5027407" cy="2387600"/>
          </a:xfrm>
        </p:spPr>
        <p:txBody>
          <a:bodyPr wrap="square" lIns="25400" tIns="25400" rIns="25400" bIns="25400"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Trebuchet MS" panose="020B0603020202020204" pitchFamily="34" charset="0"/>
              </a:rPr>
              <a:t>Build Path</a:t>
            </a:r>
            <a:br>
              <a:rPr lang="en-US" sz="3100" b="1">
                <a:solidFill>
                  <a:srgbClr val="FFFFFF"/>
                </a:solidFill>
                <a:latin typeface="Trebuchet MS" panose="020B0603020202020204" pitchFamily="34" charset="0"/>
              </a:rPr>
            </a:br>
            <a:r>
              <a:rPr lang="en-US" sz="3100" b="1">
                <a:solidFill>
                  <a:srgbClr val="FFFFFF"/>
                </a:solidFill>
                <a:latin typeface="Trebuchet MS" panose="020B0603020202020204" pitchFamily="34" charset="0"/>
              </a:rPr>
              <a:t>Prototype to Production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4CD56-7EC2-C690-F78B-2AA5E59B01F7}"/>
              </a:ext>
            </a:extLst>
          </p:cNvPr>
          <p:cNvSpPr txBox="1"/>
          <p:nvPr/>
        </p:nvSpPr>
        <p:spPr>
          <a:xfrm>
            <a:off x="1092200" y="3708400"/>
            <a:ext cx="6604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400" dirty="0">
                <a:solidFill>
                  <a:srgbClr val="CCD8E4"/>
                </a:solidFill>
                <a:latin typeface="Calibri" panose="020F0502020204030204" pitchFamily="34" charset="0"/>
              </a:rPr>
              <a:t>Four decisions turn a voice demo into a production workshop architecture.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27618-9DB8-CD71-60BE-3F0199522D0A}"/>
              </a:ext>
            </a:extLst>
          </p:cNvPr>
          <p:cNvSpPr/>
          <p:nvPr/>
        </p:nvSpPr>
        <p:spPr>
          <a:xfrm>
            <a:off x="1092200" y="4635500"/>
            <a:ext cx="1968500" cy="939800"/>
          </a:xfrm>
          <a:prstGeom prst="rect">
            <a:avLst/>
          </a:prstGeom>
          <a:solidFill>
            <a:srgbClr val="162231"/>
          </a:solidFill>
          <a:ln w="12700">
            <a:solidFill>
              <a:srgbClr val="4250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7C27F-2A15-13E9-6DBC-C9FFD76C31EF}"/>
              </a:ext>
            </a:extLst>
          </p:cNvPr>
          <p:cNvSpPr txBox="1"/>
          <p:nvPr/>
        </p:nvSpPr>
        <p:spPr>
          <a:xfrm>
            <a:off x="1270000" y="4800600"/>
            <a:ext cx="1587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01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6E46E-3E57-CA4E-31E1-F0398E6C099A}"/>
              </a:ext>
            </a:extLst>
          </p:cNvPr>
          <p:cNvSpPr txBox="1"/>
          <p:nvPr/>
        </p:nvSpPr>
        <p:spPr>
          <a:xfrm>
            <a:off x="1270000" y="5130800"/>
            <a:ext cx="1587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C7D3E0"/>
                </a:solidFill>
                <a:latin typeface="Calibri" panose="020F0502020204030204" pitchFamily="34" charset="0"/>
              </a:rPr>
              <a:t>Nova Sonic or cascaded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4279C6-7B05-4FB6-4BF9-0006491DF904}"/>
              </a:ext>
            </a:extLst>
          </p:cNvPr>
          <p:cNvSpPr/>
          <p:nvPr/>
        </p:nvSpPr>
        <p:spPr>
          <a:xfrm>
            <a:off x="3810000" y="4635500"/>
            <a:ext cx="1968500" cy="939800"/>
          </a:xfrm>
          <a:prstGeom prst="rect">
            <a:avLst/>
          </a:prstGeom>
          <a:solidFill>
            <a:srgbClr val="162231"/>
          </a:solidFill>
          <a:ln w="12700">
            <a:solidFill>
              <a:srgbClr val="4250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B73F7-7938-15F6-FB21-3E597AAF1F2A}"/>
              </a:ext>
            </a:extLst>
          </p:cNvPr>
          <p:cNvSpPr txBox="1"/>
          <p:nvPr/>
        </p:nvSpPr>
        <p:spPr>
          <a:xfrm>
            <a:off x="3987800" y="4800600"/>
            <a:ext cx="1587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02 Transport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98752-690E-7CC6-F2D9-1D1A8FE4DC50}"/>
              </a:ext>
            </a:extLst>
          </p:cNvPr>
          <p:cNvSpPr txBox="1"/>
          <p:nvPr/>
        </p:nvSpPr>
        <p:spPr>
          <a:xfrm>
            <a:off x="3987800" y="5130800"/>
            <a:ext cx="1587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C7D3E0"/>
                </a:solidFill>
                <a:latin typeface="Calibri" panose="020F0502020204030204" pitchFamily="34" charset="0"/>
              </a:rPr>
              <a:t>WebSocket, WebRTC, telephony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C468A-F229-8937-7219-B5E96093EADE}"/>
              </a:ext>
            </a:extLst>
          </p:cNvPr>
          <p:cNvSpPr/>
          <p:nvPr/>
        </p:nvSpPr>
        <p:spPr>
          <a:xfrm>
            <a:off x="6604000" y="4635500"/>
            <a:ext cx="1968500" cy="939800"/>
          </a:xfrm>
          <a:prstGeom prst="rect">
            <a:avLst/>
          </a:prstGeom>
          <a:solidFill>
            <a:srgbClr val="162231"/>
          </a:solidFill>
          <a:ln w="12700">
            <a:solidFill>
              <a:srgbClr val="4250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8E502-86B8-0CD0-AE59-7B2B2818404E}"/>
              </a:ext>
            </a:extLst>
          </p:cNvPr>
          <p:cNvSpPr txBox="1"/>
          <p:nvPr/>
        </p:nvSpPr>
        <p:spPr>
          <a:xfrm>
            <a:off x="6781800" y="4800600"/>
            <a:ext cx="1587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03 Runtime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B210FF-237D-BBFE-D0D2-AF35EA7D349A}"/>
              </a:ext>
            </a:extLst>
          </p:cNvPr>
          <p:cNvSpPr txBox="1"/>
          <p:nvPr/>
        </p:nvSpPr>
        <p:spPr>
          <a:xfrm>
            <a:off x="6781800" y="5130800"/>
            <a:ext cx="1587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C7D3E0"/>
                </a:solidFill>
                <a:latin typeface="Calibri" panose="020F0502020204030204" pitchFamily="34" charset="0"/>
              </a:rPr>
              <a:t>AgentCore, Fargate, SageMaker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D8FF3-7A91-00F3-0AC0-83CCB1FA9FE3}"/>
              </a:ext>
            </a:extLst>
          </p:cNvPr>
          <p:cNvSpPr/>
          <p:nvPr/>
        </p:nvSpPr>
        <p:spPr>
          <a:xfrm>
            <a:off x="9334500" y="4635500"/>
            <a:ext cx="1968500" cy="939800"/>
          </a:xfrm>
          <a:prstGeom prst="rect">
            <a:avLst/>
          </a:prstGeom>
          <a:solidFill>
            <a:srgbClr val="162231"/>
          </a:solidFill>
          <a:ln w="12700">
            <a:solidFill>
              <a:srgbClr val="4250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3204F-C9C4-B8A1-70DB-6B9935CAF4E7}"/>
              </a:ext>
            </a:extLst>
          </p:cNvPr>
          <p:cNvSpPr txBox="1"/>
          <p:nvPr/>
        </p:nvSpPr>
        <p:spPr>
          <a:xfrm>
            <a:off x="9512300" y="4800600"/>
            <a:ext cx="1587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04 Operations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F218B1-2793-5DD4-6A5A-99C35C5296CE}"/>
              </a:ext>
            </a:extLst>
          </p:cNvPr>
          <p:cNvSpPr txBox="1"/>
          <p:nvPr/>
        </p:nvSpPr>
        <p:spPr>
          <a:xfrm>
            <a:off x="9512300" y="5130800"/>
            <a:ext cx="1587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00">
                <a:solidFill>
                  <a:srgbClr val="C7D3E0"/>
                </a:solidFill>
                <a:latin typeface="Calibri" panose="020F0502020204030204" pitchFamily="34" charset="0"/>
              </a:rPr>
              <a:t>Evals, policy, cost, handoff</a:t>
            </a:r>
          </a:p>
        </p:txBody>
      </p:sp>
    </p:spTree>
    <p:extLst>
      <p:ext uri="{BB962C8B-B14F-4D97-AF65-F5344CB8AC3E}">
        <p14:creationId xmlns:p14="http://schemas.microsoft.com/office/powerpoint/2010/main" val="111226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BA93-426D-A2B4-5C05-9E4B3AF7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96" y="1662932"/>
            <a:ext cx="4976190" cy="895985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Trebuchet MS" panose="020B0603020202020204" pitchFamily="34" charset="0"/>
              </a:rPr>
              <a:t>Reference path for production voice agents:</a:t>
            </a:r>
            <a:br>
              <a:rPr lang="en-US" dirty="0">
                <a:solidFill>
                  <a:srgbClr val="FFFFFF"/>
                </a:solidFill>
                <a:latin typeface="Trebuchet MS" panose="020B0603020202020204" pitchFamily="34" charset="0"/>
              </a:rPr>
            </a:br>
            <a:endParaRPr lang="en-US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ACA37-D018-0560-F0E1-7021B5990B5C}"/>
              </a:ext>
            </a:extLst>
          </p:cNvPr>
          <p:cNvSpPr txBox="1"/>
          <p:nvPr/>
        </p:nvSpPr>
        <p:spPr>
          <a:xfrm>
            <a:off x="571500" y="889000"/>
            <a:ext cx="66040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Calibri" panose="020F0502020204030204" pitchFamily="34" charset="0"/>
              </a:rPr>
              <a:t>AgentCore Runtime Deployment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3C10A-32B5-C47B-7062-2C24923E60B9}"/>
              </a:ext>
            </a:extLst>
          </p:cNvPr>
          <p:cNvSpPr txBox="1"/>
          <p:nvPr/>
        </p:nvSpPr>
        <p:spPr>
          <a:xfrm>
            <a:off x="529336" y="2675866"/>
            <a:ext cx="4529328" cy="199028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en-US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- Package the agent pipeline as a container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- Expose /</a:t>
            </a:r>
            <a:r>
              <a:rPr lang="en-US" dirty="0" err="1">
                <a:solidFill>
                  <a:srgbClr val="FFFFFF"/>
                </a:solidFill>
                <a:latin typeface="Calibri" panose="020F0502020204030204" pitchFamily="34" charset="0"/>
              </a:rPr>
              <a:t>ws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 or WebRTC </a:t>
            </a:r>
            <a:r>
              <a:rPr lang="en-US" dirty="0" err="1">
                <a:solidFill>
                  <a:srgbClr val="FFFFFF"/>
                </a:solidFill>
                <a:latin typeface="Calibri" panose="020F0502020204030204" pitchFamily="34" charset="0"/>
              </a:rPr>
              <a:t>entrypoints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- Isolate each session in </a:t>
            </a:r>
            <a:r>
              <a:rPr lang="en-US" dirty="0" err="1">
                <a:solidFill>
                  <a:srgbClr val="FFFFFF"/>
                </a:solidFill>
                <a:latin typeface="Calibri" panose="020F0502020204030204" pitchFamily="34" charset="0"/>
              </a:rPr>
              <a:t>AgentCore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 Runtime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- Use TURN/VPC design when WebRTC is required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</a:rPr>
              <a:t>- Trace audio, reasoning, and tool calls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730D5-03B1-115B-03D4-BD0E4EFE7C09}"/>
              </a:ext>
            </a:extLst>
          </p:cNvPr>
          <p:cNvSpPr/>
          <p:nvPr/>
        </p:nvSpPr>
        <p:spPr>
          <a:xfrm>
            <a:off x="698500" y="4851400"/>
            <a:ext cx="1841500" cy="6985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1ACF76-46B7-BA91-7332-5417B6D69124}"/>
              </a:ext>
            </a:extLst>
          </p:cNvPr>
          <p:cNvSpPr/>
          <p:nvPr/>
        </p:nvSpPr>
        <p:spPr>
          <a:xfrm>
            <a:off x="698500" y="4851400"/>
            <a:ext cx="63500" cy="698500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A63FF-83E1-4913-200C-B42F3FCC8A52}"/>
              </a:ext>
            </a:extLst>
          </p:cNvPr>
          <p:cNvSpPr txBox="1"/>
          <p:nvPr/>
        </p:nvSpPr>
        <p:spPr>
          <a:xfrm>
            <a:off x="876300" y="4978400"/>
            <a:ext cx="15621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Container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A197F8-4E40-C8CE-75C0-E07085EC7BC2}"/>
              </a:ext>
            </a:extLst>
          </p:cNvPr>
          <p:cNvSpPr txBox="1"/>
          <p:nvPr/>
        </p:nvSpPr>
        <p:spPr>
          <a:xfrm>
            <a:off x="876300" y="5346700"/>
            <a:ext cx="15621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ARM64 / Graviton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3B628-DB23-6DE1-576D-9234F78ED35B}"/>
              </a:ext>
            </a:extLst>
          </p:cNvPr>
          <p:cNvSpPr/>
          <p:nvPr/>
        </p:nvSpPr>
        <p:spPr>
          <a:xfrm>
            <a:off x="2794000" y="4851400"/>
            <a:ext cx="1841500" cy="6985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636CFF-39D3-A6A5-BD57-70E16A211A00}"/>
              </a:ext>
            </a:extLst>
          </p:cNvPr>
          <p:cNvSpPr/>
          <p:nvPr/>
        </p:nvSpPr>
        <p:spPr>
          <a:xfrm>
            <a:off x="2794000" y="4851400"/>
            <a:ext cx="63500" cy="698500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D0C0AB-659D-E489-A284-2DB74130DEF3}"/>
              </a:ext>
            </a:extLst>
          </p:cNvPr>
          <p:cNvSpPr txBox="1"/>
          <p:nvPr/>
        </p:nvSpPr>
        <p:spPr>
          <a:xfrm>
            <a:off x="2971800" y="4978400"/>
            <a:ext cx="15621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Session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A325A-7575-0BB4-395E-48A8AD6EFB5B}"/>
              </a:ext>
            </a:extLst>
          </p:cNvPr>
          <p:cNvSpPr txBox="1"/>
          <p:nvPr/>
        </p:nvSpPr>
        <p:spPr>
          <a:xfrm>
            <a:off x="2971800" y="5346700"/>
            <a:ext cx="15621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MicroVM isolation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E364-1B29-33EF-6820-7CF15F7C2236}"/>
              </a:ext>
            </a:extLst>
          </p:cNvPr>
          <p:cNvSpPr/>
          <p:nvPr/>
        </p:nvSpPr>
        <p:spPr>
          <a:xfrm>
            <a:off x="5778500" y="1460500"/>
            <a:ext cx="5461000" cy="38100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25B04-BF9A-D1E7-1685-5B807D417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1558136"/>
            <a:ext cx="5334000" cy="361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4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7E6B-D356-4DB4-F238-660E714EE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357377"/>
            <a:ext cx="4976190" cy="895985"/>
          </a:xfrm>
        </p:spPr>
        <p:txBody>
          <a:bodyPr/>
          <a:lstStyle/>
          <a:p>
            <a:r>
              <a:rPr lang="en-US" sz="1400" dirty="0">
                <a:solidFill>
                  <a:srgbClr val="CDD9E6"/>
                </a:solidFill>
                <a:latin typeface="Trebuchet MS" panose="020B0603020202020204" pitchFamily="34" charset="0"/>
              </a:rPr>
              <a:t>Keep the real-time voice loop focused. Move complexity into tools, sub-agents, and scoped sessions.</a:t>
            </a:r>
            <a:br>
              <a:rPr lang="en-US" sz="1400" dirty="0">
                <a:solidFill>
                  <a:srgbClr val="CDD9E6"/>
                </a:solidFill>
                <a:latin typeface="Trebuchet MS" panose="020B0603020202020204" pitchFamily="34" charset="0"/>
              </a:rPr>
            </a:b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EF4D3-682C-BF35-7138-E58B19247D2E}"/>
              </a:ext>
            </a:extLst>
          </p:cNvPr>
          <p:cNvSpPr txBox="1"/>
          <p:nvPr/>
        </p:nvSpPr>
        <p:spPr>
          <a:xfrm>
            <a:off x="571500" y="889000"/>
            <a:ext cx="5334000" cy="4360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Calibri" panose="020F0502020204030204" pitchFamily="34" charset="0"/>
              </a:rPr>
              <a:t>Scaling the Agent Brain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ED205-3994-73B4-BBDE-370D8E0E207B}"/>
              </a:ext>
            </a:extLst>
          </p:cNvPr>
          <p:cNvSpPr/>
          <p:nvPr/>
        </p:nvSpPr>
        <p:spPr>
          <a:xfrm>
            <a:off x="635000" y="2412999"/>
            <a:ext cx="3175000" cy="949027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E07D7-3A6F-5502-0CDD-CB5DE42847A8}"/>
              </a:ext>
            </a:extLst>
          </p:cNvPr>
          <p:cNvSpPr/>
          <p:nvPr/>
        </p:nvSpPr>
        <p:spPr>
          <a:xfrm>
            <a:off x="635000" y="2413000"/>
            <a:ext cx="63500" cy="949026"/>
          </a:xfrm>
          <a:prstGeom prst="rect">
            <a:avLst/>
          </a:prstGeom>
          <a:solidFill>
            <a:srgbClr val="00D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7B102-72C0-5475-B3CE-EC566F2CD7E9}"/>
              </a:ext>
            </a:extLst>
          </p:cNvPr>
          <p:cNvSpPr txBox="1"/>
          <p:nvPr/>
        </p:nvSpPr>
        <p:spPr>
          <a:xfrm>
            <a:off x="812800" y="2540000"/>
            <a:ext cx="2895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Tool calling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F964F-62EA-502A-E1D0-91FF21E4D210}"/>
              </a:ext>
            </a:extLst>
          </p:cNvPr>
          <p:cNvSpPr txBox="1"/>
          <p:nvPr/>
        </p:nvSpPr>
        <p:spPr>
          <a:xfrm>
            <a:off x="812800" y="2908300"/>
            <a:ext cx="289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D2DCE8"/>
                </a:solidFill>
                <a:latin typeface="Calibri" panose="020F0502020204030204" pitchFamily="34" charset="0"/>
              </a:rPr>
              <a:t>Nova Sonic invokes MCP tools through AgentCore Gateway for low-latency actions.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873E6-23EE-7C3F-1256-B4F215FB3D56}"/>
              </a:ext>
            </a:extLst>
          </p:cNvPr>
          <p:cNvSpPr/>
          <p:nvPr/>
        </p:nvSpPr>
        <p:spPr>
          <a:xfrm>
            <a:off x="635000" y="3509813"/>
            <a:ext cx="3175000" cy="7874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29E494-9776-45D3-4D76-0642DF9FBE42}"/>
              </a:ext>
            </a:extLst>
          </p:cNvPr>
          <p:cNvSpPr/>
          <p:nvPr/>
        </p:nvSpPr>
        <p:spPr>
          <a:xfrm>
            <a:off x="635000" y="3509813"/>
            <a:ext cx="63500" cy="787400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75D3A-44B8-3E40-DCB5-C743A040A97E}"/>
              </a:ext>
            </a:extLst>
          </p:cNvPr>
          <p:cNvSpPr txBox="1"/>
          <p:nvPr/>
        </p:nvSpPr>
        <p:spPr>
          <a:xfrm>
            <a:off x="812800" y="3608853"/>
            <a:ext cx="2895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Agent-as-tool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7679EC-80D2-EE8D-2944-11FAF4031C0D}"/>
              </a:ext>
            </a:extLst>
          </p:cNvPr>
          <p:cNvSpPr txBox="1"/>
          <p:nvPr/>
        </p:nvSpPr>
        <p:spPr>
          <a:xfrm>
            <a:off x="806450" y="3842891"/>
            <a:ext cx="289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Delegate complex reasoning to specialized agents with their own prompts and tools.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E97AB-3A74-30DE-B688-D014F668BB26}"/>
              </a:ext>
            </a:extLst>
          </p:cNvPr>
          <p:cNvSpPr/>
          <p:nvPr/>
        </p:nvSpPr>
        <p:spPr>
          <a:xfrm>
            <a:off x="635000" y="4445000"/>
            <a:ext cx="3175000" cy="7874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E7BBCC-1056-344B-440C-AFB5C2E83400}"/>
              </a:ext>
            </a:extLst>
          </p:cNvPr>
          <p:cNvSpPr/>
          <p:nvPr/>
        </p:nvSpPr>
        <p:spPr>
          <a:xfrm>
            <a:off x="635000" y="4445000"/>
            <a:ext cx="63500" cy="787400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DBD220-CB37-EFE9-EBFB-57C41B4A98B5}"/>
              </a:ext>
            </a:extLst>
          </p:cNvPr>
          <p:cNvSpPr txBox="1"/>
          <p:nvPr/>
        </p:nvSpPr>
        <p:spPr>
          <a:xfrm>
            <a:off x="812800" y="4572000"/>
            <a:ext cx="28956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Session segmentation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59F1AE-939F-F7AD-707A-9CBC9C854FBE}"/>
              </a:ext>
            </a:extLst>
          </p:cNvPr>
          <p:cNvSpPr txBox="1"/>
          <p:nvPr/>
        </p:nvSpPr>
        <p:spPr>
          <a:xfrm>
            <a:off x="812800" y="4838591"/>
            <a:ext cx="2895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Split authentication, inquiry, and fulfillment into focused voice sessions.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4DCFA4-9CED-74C4-69A9-F80173F338E9}"/>
              </a:ext>
            </a:extLst>
          </p:cNvPr>
          <p:cNvSpPr/>
          <p:nvPr/>
        </p:nvSpPr>
        <p:spPr>
          <a:xfrm>
            <a:off x="5693463" y="1460500"/>
            <a:ext cx="6350000" cy="34925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84A4D6-1B0C-1835-7D24-1C816985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463" y="2006875"/>
            <a:ext cx="6223000" cy="252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7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105E-0D06-D341-B870-E9FD43C9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155" y="1260158"/>
            <a:ext cx="6172198" cy="895985"/>
          </a:xfrm>
        </p:spPr>
        <p:txBody>
          <a:bodyPr/>
          <a:lstStyle/>
          <a:p>
            <a:r>
              <a:rPr lang="en-US" sz="1400" dirty="0">
                <a:solidFill>
                  <a:srgbClr val="CDD9E6"/>
                </a:solidFill>
                <a:latin typeface="Trebuchet MS" panose="020B0603020202020204" pitchFamily="34" charset="0"/>
              </a:rPr>
              <a:t>Anchor the workshop in patterns that already map to real AWS examples.</a:t>
            </a:r>
            <a:br>
              <a:rPr lang="en-US" sz="1400" dirty="0">
                <a:solidFill>
                  <a:srgbClr val="CDD9E6"/>
                </a:solidFill>
                <a:latin typeface="Trebuchet MS" panose="020B0603020202020204" pitchFamily="34" charset="0"/>
              </a:rPr>
            </a:b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444C4-D2D9-2641-9EBE-A47CFAD915C5}"/>
              </a:ext>
            </a:extLst>
          </p:cNvPr>
          <p:cNvSpPr txBox="1"/>
          <p:nvPr/>
        </p:nvSpPr>
        <p:spPr>
          <a:xfrm>
            <a:off x="571500" y="787400"/>
            <a:ext cx="5334000" cy="4360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Calibri" panose="020F0502020204030204" pitchFamily="34" charset="0"/>
              </a:rPr>
              <a:t>Use Cases Worth Stealing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C94AE-A888-1410-A349-7BEDF8BE6C1B}"/>
              </a:ext>
            </a:extLst>
          </p:cNvPr>
          <p:cNvSpPr/>
          <p:nvPr/>
        </p:nvSpPr>
        <p:spPr>
          <a:xfrm>
            <a:off x="685800" y="2133600"/>
            <a:ext cx="2984500" cy="7366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FD1D1-F2A5-4804-F00A-2E6CC5BFE373}"/>
              </a:ext>
            </a:extLst>
          </p:cNvPr>
          <p:cNvSpPr/>
          <p:nvPr/>
        </p:nvSpPr>
        <p:spPr>
          <a:xfrm>
            <a:off x="685800" y="2133600"/>
            <a:ext cx="63500" cy="736600"/>
          </a:xfrm>
          <a:prstGeom prst="rect">
            <a:avLst/>
          </a:prstGeom>
          <a:solidFill>
            <a:srgbClr val="00D8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0DD19-472F-B740-17EF-1B2096563A0A}"/>
              </a:ext>
            </a:extLst>
          </p:cNvPr>
          <p:cNvSpPr txBox="1"/>
          <p:nvPr/>
        </p:nvSpPr>
        <p:spPr>
          <a:xfrm>
            <a:off x="863600" y="2147416"/>
            <a:ext cx="27051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Healthcare contact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B1350-E3AA-4984-A850-4046F9B30255}"/>
              </a:ext>
            </a:extLst>
          </p:cNvPr>
          <p:cNvSpPr txBox="1"/>
          <p:nvPr/>
        </p:nvSpPr>
        <p:spPr>
          <a:xfrm>
            <a:off x="863600" y="2476371"/>
            <a:ext cx="2705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Clarus Care: multi-intent </a:t>
            </a:r>
            <a:r>
              <a:rPr lang="en-US" sz="1000" dirty="0" err="1">
                <a:solidFill>
                  <a:srgbClr val="D2DCE8"/>
                </a:solidFill>
                <a:latin typeface="Calibri" panose="020F0502020204030204" pitchFamily="34" charset="0"/>
              </a:rPr>
              <a:t>voicebot</a:t>
            </a:r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, urgent routing, analytics.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ED8FFA-A6BA-D8B9-92C8-FD4E96800FD8}"/>
              </a:ext>
            </a:extLst>
          </p:cNvPr>
          <p:cNvSpPr/>
          <p:nvPr/>
        </p:nvSpPr>
        <p:spPr>
          <a:xfrm>
            <a:off x="3937000" y="2133600"/>
            <a:ext cx="2984500" cy="7366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917CD0-D4BB-B9C0-D2A3-DD71BFD163C2}"/>
              </a:ext>
            </a:extLst>
          </p:cNvPr>
          <p:cNvSpPr/>
          <p:nvPr/>
        </p:nvSpPr>
        <p:spPr>
          <a:xfrm>
            <a:off x="3937000" y="2133600"/>
            <a:ext cx="63500" cy="736600"/>
          </a:xfrm>
          <a:prstGeom prst="rect">
            <a:avLst/>
          </a:prstGeom>
          <a:solidFill>
            <a:srgbClr val="FF9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9DE74-0520-AC11-4120-103E1DBCB470}"/>
              </a:ext>
            </a:extLst>
          </p:cNvPr>
          <p:cNvSpPr txBox="1"/>
          <p:nvPr/>
        </p:nvSpPr>
        <p:spPr>
          <a:xfrm>
            <a:off x="4114800" y="2222271"/>
            <a:ext cx="27051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Media assistant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EDD62A-96CE-E20B-41FE-A53C4F9BD14D}"/>
              </a:ext>
            </a:extLst>
          </p:cNvPr>
          <p:cNvSpPr txBox="1"/>
          <p:nvPr/>
        </p:nvSpPr>
        <p:spPr>
          <a:xfrm>
            <a:off x="4121150" y="2501900"/>
            <a:ext cx="2705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Movie recommendations and scene Q&amp;A with </a:t>
            </a:r>
            <a:r>
              <a:rPr lang="en-US" sz="1000" dirty="0" err="1">
                <a:solidFill>
                  <a:srgbClr val="D2DCE8"/>
                </a:solidFill>
                <a:latin typeface="Calibri" panose="020F0502020204030204" pitchFamily="34" charset="0"/>
              </a:rPr>
              <a:t>AgentCore</a:t>
            </a:r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 Gateway + RAG.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DF3E73-7F13-20C8-A861-3A99DF9D6ACC}"/>
              </a:ext>
            </a:extLst>
          </p:cNvPr>
          <p:cNvSpPr/>
          <p:nvPr/>
        </p:nvSpPr>
        <p:spPr>
          <a:xfrm>
            <a:off x="685800" y="3175000"/>
            <a:ext cx="2984500" cy="7366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CB9804-FA8E-8F79-C0AA-9B3D94FD9284}"/>
              </a:ext>
            </a:extLst>
          </p:cNvPr>
          <p:cNvSpPr/>
          <p:nvPr/>
        </p:nvSpPr>
        <p:spPr>
          <a:xfrm>
            <a:off x="685800" y="3175000"/>
            <a:ext cx="63500" cy="736600"/>
          </a:xfrm>
          <a:prstGeom prst="rect">
            <a:avLst/>
          </a:prstGeom>
          <a:solidFill>
            <a:srgbClr val="40B4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4E178F-4D55-B715-E40B-D64B8EAC3012}"/>
              </a:ext>
            </a:extLst>
          </p:cNvPr>
          <p:cNvSpPr txBox="1"/>
          <p:nvPr/>
        </p:nvSpPr>
        <p:spPr>
          <a:xfrm>
            <a:off x="863600" y="3234854"/>
            <a:ext cx="27051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Podcast generator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35BA44-AD3D-DE9E-DE53-878C963BCEA5}"/>
              </a:ext>
            </a:extLst>
          </p:cNvPr>
          <p:cNvSpPr txBox="1"/>
          <p:nvPr/>
        </p:nvSpPr>
        <p:spPr>
          <a:xfrm>
            <a:off x="886377" y="3535680"/>
            <a:ext cx="2705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Nova 2 Sonic for two-host conversational audio generation.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B6112B-DB80-15AB-9AD0-3A0CEA850A56}"/>
              </a:ext>
            </a:extLst>
          </p:cNvPr>
          <p:cNvSpPr/>
          <p:nvPr/>
        </p:nvSpPr>
        <p:spPr>
          <a:xfrm>
            <a:off x="3937000" y="3175000"/>
            <a:ext cx="2984500" cy="7366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CABA03-CA21-7134-F93F-61A51A799BF8}"/>
              </a:ext>
            </a:extLst>
          </p:cNvPr>
          <p:cNvSpPr/>
          <p:nvPr/>
        </p:nvSpPr>
        <p:spPr>
          <a:xfrm>
            <a:off x="3937000" y="3175000"/>
            <a:ext cx="63500" cy="736600"/>
          </a:xfrm>
          <a:prstGeom prst="rect">
            <a:avLst/>
          </a:prstGeom>
          <a:solidFill>
            <a:srgbClr val="A55A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50B1A-7D25-377B-7C69-1926185E58BA}"/>
              </a:ext>
            </a:extLst>
          </p:cNvPr>
          <p:cNvSpPr txBox="1"/>
          <p:nvPr/>
        </p:nvSpPr>
        <p:spPr>
          <a:xfrm>
            <a:off x="4108450" y="3199760"/>
            <a:ext cx="27051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Smart devices / vehicles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7EE7AF-8162-A417-1468-A783E12C3D3F}"/>
              </a:ext>
            </a:extLst>
          </p:cNvPr>
          <p:cNvSpPr txBox="1"/>
          <p:nvPr/>
        </p:nvSpPr>
        <p:spPr>
          <a:xfrm>
            <a:off x="4108450" y="3535680"/>
            <a:ext cx="27051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Nova Sonic + WebRTC for low-latency voice on edge clients.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880FD7-C3F6-8AE4-6010-073BDB8B4C90}"/>
              </a:ext>
            </a:extLst>
          </p:cNvPr>
          <p:cNvSpPr/>
          <p:nvPr/>
        </p:nvSpPr>
        <p:spPr>
          <a:xfrm>
            <a:off x="685800" y="4216400"/>
            <a:ext cx="6235700" cy="812800"/>
          </a:xfrm>
          <a:prstGeom prst="rect">
            <a:avLst/>
          </a:prstGeom>
          <a:solidFill>
            <a:srgbClr val="172231"/>
          </a:solidFill>
          <a:ln w="12700">
            <a:solidFill>
              <a:srgbClr val="374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18ABFD-DB0D-6BA0-B813-8F21F871DDAB}"/>
              </a:ext>
            </a:extLst>
          </p:cNvPr>
          <p:cNvSpPr/>
          <p:nvPr/>
        </p:nvSpPr>
        <p:spPr>
          <a:xfrm>
            <a:off x="685800" y="4216400"/>
            <a:ext cx="63500" cy="812800"/>
          </a:xfrm>
          <a:prstGeom prst="rect">
            <a:avLst/>
          </a:prstGeom>
          <a:solidFill>
            <a:srgbClr val="FF49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177AEF-9355-DA02-0C28-524F606DA40F}"/>
              </a:ext>
            </a:extLst>
          </p:cNvPr>
          <p:cNvSpPr txBox="1"/>
          <p:nvPr/>
        </p:nvSpPr>
        <p:spPr>
          <a:xfrm>
            <a:off x="863600" y="4343400"/>
            <a:ext cx="59563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High-volume support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6BADBF-FCB4-9C46-2AC0-53837FD9653C}"/>
              </a:ext>
            </a:extLst>
          </p:cNvPr>
          <p:cNvSpPr txBox="1"/>
          <p:nvPr/>
        </p:nvSpPr>
        <p:spPr>
          <a:xfrm>
            <a:off x="863600" y="4711700"/>
            <a:ext cx="59563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dirty="0">
                <a:solidFill>
                  <a:srgbClr val="D2DCE8"/>
                </a:solidFill>
                <a:latin typeface="Calibri" panose="020F0502020204030204" pitchFamily="34" charset="0"/>
              </a:rPr>
              <a:t>Speech-to-speech agents resolve repetitive requests and hand off with structured context.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86DE7E-B6E2-2726-5C1C-0960E0420C31}"/>
              </a:ext>
            </a:extLst>
          </p:cNvPr>
          <p:cNvSpPr/>
          <p:nvPr/>
        </p:nvSpPr>
        <p:spPr>
          <a:xfrm>
            <a:off x="7747000" y="990600"/>
            <a:ext cx="3556000" cy="4318000"/>
          </a:xfrm>
          <a:prstGeom prst="rect">
            <a:avLst/>
          </a:prstGeom>
          <a:solidFill>
            <a:srgbClr val="0E1722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20436-7F93-DBD4-C374-F208ABFC9DD1}"/>
              </a:ext>
            </a:extLst>
          </p:cNvPr>
          <p:cNvSpPr txBox="1"/>
          <p:nvPr/>
        </p:nvSpPr>
        <p:spPr>
          <a:xfrm>
            <a:off x="8026400" y="1333500"/>
            <a:ext cx="2794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Workshop design principle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05CFC7-39A3-4D01-E600-8FF8B86CC338}"/>
              </a:ext>
            </a:extLst>
          </p:cNvPr>
          <p:cNvSpPr txBox="1"/>
          <p:nvPr/>
        </p:nvSpPr>
        <p:spPr>
          <a:xfrm>
            <a:off x="8026400" y="1778000"/>
            <a:ext cx="2794000" cy="135934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Use cases are not just demos.</a:t>
            </a:r>
          </a:p>
          <a:p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They define the transport, latency target, memory boundary, tool surface, and human fallback path.</a:t>
            </a:r>
          </a:p>
        </p:txBody>
      </p:sp>
    </p:spTree>
    <p:extLst>
      <p:ext uri="{BB962C8B-B14F-4D97-AF65-F5344CB8AC3E}">
        <p14:creationId xmlns:p14="http://schemas.microsoft.com/office/powerpoint/2010/main" val="2702293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EFC3-425B-C90C-50A3-866EB6D0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75" y="1640432"/>
            <a:ext cx="5645751" cy="895985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Trebuchet MS" panose="020B0603020202020204" pitchFamily="34" charset="0"/>
              </a:rPr>
              <a:t>Before going live, test the voice system as a distributed streaming product - not just a chatbot with a microphone.</a:t>
            </a:r>
            <a:br>
              <a:rPr lang="en-US" dirty="0">
                <a:solidFill>
                  <a:srgbClr val="FFFFFF"/>
                </a:solidFill>
                <a:latin typeface="Trebuchet MS" panose="020B0603020202020204" pitchFamily="34" charset="0"/>
              </a:rPr>
            </a:br>
            <a:endParaRPr lang="en-US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44BF4-BEB2-76AE-58AC-8B13BAD50595}"/>
              </a:ext>
            </a:extLst>
          </p:cNvPr>
          <p:cNvSpPr txBox="1"/>
          <p:nvPr/>
        </p:nvSpPr>
        <p:spPr>
          <a:xfrm>
            <a:off x="647700" y="595372"/>
            <a:ext cx="46355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</a:rPr>
              <a:t>Production Readiness Checklist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E5D2AB-A396-9603-6704-02045F078C70}"/>
              </a:ext>
            </a:extLst>
          </p:cNvPr>
          <p:cNvSpPr/>
          <p:nvPr/>
        </p:nvSpPr>
        <p:spPr>
          <a:xfrm>
            <a:off x="647700" y="3628103"/>
            <a:ext cx="3937000" cy="1473200"/>
          </a:xfrm>
          <a:prstGeom prst="rect">
            <a:avLst/>
          </a:prstGeom>
          <a:solidFill>
            <a:srgbClr val="1C1E2E"/>
          </a:solidFill>
          <a:ln w="12700">
            <a:solidFill>
              <a:srgbClr val="3C41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372A1-90F9-6CB4-56F2-C3428801F719}"/>
              </a:ext>
            </a:extLst>
          </p:cNvPr>
          <p:cNvSpPr txBox="1"/>
          <p:nvPr/>
        </p:nvSpPr>
        <p:spPr>
          <a:xfrm>
            <a:off x="838200" y="3832671"/>
            <a:ext cx="3175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</a:rPr>
              <a:t>Exit criteria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3127B-65FA-816F-FCBC-64DCE538DF52}"/>
              </a:ext>
            </a:extLst>
          </p:cNvPr>
          <p:cNvSpPr txBox="1"/>
          <p:nvPr/>
        </p:nvSpPr>
        <p:spPr>
          <a:xfrm>
            <a:off x="838200" y="4200212"/>
            <a:ext cx="3302000" cy="7284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</a:rPr>
              <a:t>- p50/p95 time-to-first-audio tracked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</a:rPr>
              <a:t>- Barge-in and VAD tested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</a:rPr>
              <a:t>- Tool failures degrade gracefully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</a:rPr>
              <a:t>- Human handoff has 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E0237-B41A-DF44-0E9E-2E22479157FC}"/>
              </a:ext>
            </a:extLst>
          </p:cNvPr>
          <p:cNvSpPr txBox="1"/>
          <p:nvPr/>
        </p:nvSpPr>
        <p:spPr>
          <a:xfrm>
            <a:off x="6324600" y="1016000"/>
            <a:ext cx="2222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Calibri" panose="020F0502020204030204" pitchFamily="34" charset="0"/>
              </a:rPr>
              <a:t>Latency + audio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A91FB-FD5B-37C9-13B9-9217F18BFB37}"/>
              </a:ext>
            </a:extLst>
          </p:cNvPr>
          <p:cNvSpPr txBox="1"/>
          <p:nvPr/>
        </p:nvSpPr>
        <p:spPr>
          <a:xfrm>
            <a:off x="6324600" y="1422400"/>
            <a:ext cx="2349500" cy="128240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</a:rPr>
              <a:t>TTFA, jitter, chunk size, sample-rate conversion, turn detection.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9D0B9-5633-11D2-633C-0805C09429CB}"/>
              </a:ext>
            </a:extLst>
          </p:cNvPr>
          <p:cNvSpPr txBox="1"/>
          <p:nvPr/>
        </p:nvSpPr>
        <p:spPr>
          <a:xfrm>
            <a:off x="9359900" y="1016000"/>
            <a:ext cx="2222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Calibri" panose="020F0502020204030204" pitchFamily="34" charset="0"/>
              </a:rPr>
              <a:t>Reliability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7E058-318B-8932-ABD8-53E323E12FA5}"/>
              </a:ext>
            </a:extLst>
          </p:cNvPr>
          <p:cNvSpPr txBox="1"/>
          <p:nvPr/>
        </p:nvSpPr>
        <p:spPr>
          <a:xfrm>
            <a:off x="9359900" y="1422400"/>
            <a:ext cx="2222500" cy="128240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</a:rPr>
              <a:t>Reconnects, session timeout, retries, circuit breakers, fallback channels.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10676-0DA9-CE44-8137-C15F845F7A2E}"/>
              </a:ext>
            </a:extLst>
          </p:cNvPr>
          <p:cNvSpPr txBox="1"/>
          <p:nvPr/>
        </p:nvSpPr>
        <p:spPr>
          <a:xfrm>
            <a:off x="6324600" y="4114800"/>
            <a:ext cx="2222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Calibri" panose="020F0502020204030204" pitchFamily="34" charset="0"/>
              </a:rPr>
              <a:t>Trust + access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3B1FA-DCA3-E79C-4EBA-8AB5DAB45214}"/>
              </a:ext>
            </a:extLst>
          </p:cNvPr>
          <p:cNvSpPr txBox="1"/>
          <p:nvPr/>
        </p:nvSpPr>
        <p:spPr>
          <a:xfrm>
            <a:off x="6324600" y="4521200"/>
            <a:ext cx="2349500" cy="128240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</a:rPr>
              <a:t>SigV4/OAuth, policy controls, guardrails, PII boundaries, audit traces.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A5B887-98B3-6A70-E886-94F2CFD6882E}"/>
              </a:ext>
            </a:extLst>
          </p:cNvPr>
          <p:cNvSpPr txBox="1"/>
          <p:nvPr/>
        </p:nvSpPr>
        <p:spPr>
          <a:xfrm>
            <a:off x="9359900" y="4114800"/>
            <a:ext cx="22225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Calibri" panose="020F0502020204030204" pitchFamily="34" charset="0"/>
              </a:rPr>
              <a:t>Cost + operations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3C34-F505-8C58-276E-690F6FFD96BD}"/>
              </a:ext>
            </a:extLst>
          </p:cNvPr>
          <p:cNvSpPr txBox="1"/>
          <p:nvPr/>
        </p:nvSpPr>
        <p:spPr>
          <a:xfrm>
            <a:off x="9359900" y="4521200"/>
            <a:ext cx="2222500" cy="15901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</a:rPr>
              <a:t>Session cleanup, model mix, observability, evals, dashboard ownership.</a:t>
            </a:r>
          </a:p>
        </p:txBody>
      </p:sp>
    </p:spTree>
    <p:extLst>
      <p:ext uri="{BB962C8B-B14F-4D97-AF65-F5344CB8AC3E}">
        <p14:creationId xmlns:p14="http://schemas.microsoft.com/office/powerpoint/2010/main" val="2746626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662932"/>
            <a:ext cx="4976190" cy="895985"/>
          </a:xfrm>
        </p:spPr>
        <p:txBody>
          <a:bodyPr/>
          <a:lstStyle/>
          <a:p>
            <a:r>
              <a:rPr>
                <a:latin typeface="Trebuchet MS" panose="020B0603020202020204" pitchFamily="34" charset="0"/>
              </a:rPr>
              <a:t>What is Hera?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7933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800" b="1">
                <a:latin typeface="Calibri" panose="020F0502020204030204" pitchFamily="34" charset="0"/>
              </a:rPr>
              <a:t>Voice-first assistant for Apple Store, running on AWS</a:t>
            </a:r>
          </a:p>
          <a:p>
            <a:pPr>
              <a:buNone/>
            </a:pPr>
            <a:r>
              <a:rPr sz="1800">
                <a:latin typeface="Calibri" panose="020F0502020204030204" pitchFamily="34" charset="0"/>
              </a:rPr>
              <a:t>Users interact via browser microphone; the agent responds in a natural voice, leveraging RAG to retrieve Apple product specs / pricing / inventory from a lightweight S3 Vectors knowledge base.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0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800" b="1">
                <a:solidFill>
                  <a:srgbClr val="FFFFFF"/>
                </a:solidFill>
                <a:latin typeface="Calibri" panose="020F0502020204030204" pitchFamily="34" charset="0"/>
              </a:rPr>
              <a:t>Key Features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  <a:latin typeface="Calibri" panose="020F0502020204030204" pitchFamily="34" charset="0"/>
              </a:rPr>
              <a:t>•  Speech-to-speech with Nova 2 Sonic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  <a:latin typeface="Calibri" panose="020F0502020204030204" pitchFamily="34" charset="0"/>
              </a:rPr>
              <a:t>•  RAG voice tool calling (lookup_product)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  <a:latin typeface="Calibri" panose="020F0502020204030204" pitchFamily="34" charset="0"/>
              </a:rPr>
              <a:t>•  Browser-only — only browser microphone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1255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005840"/>
            <a:ext cx="4976190" cy="895985"/>
          </a:xfrm>
        </p:spPr>
        <p:txBody>
          <a:bodyPr/>
          <a:lstStyle/>
          <a:p>
            <a:r>
              <a:rPr dirty="0">
                <a:latin typeface="Trebuchet MS" panose="020B0603020202020204" pitchFamily="34" charset="0"/>
              </a:rPr>
              <a:t>Use case — Apple Store assistant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7933" y="2083284"/>
            <a:ext cx="5538815" cy="3314000"/>
          </a:xfrm>
        </p:spPr>
        <p:txBody>
          <a:bodyPr wrap="square">
            <a:noAutofit/>
          </a:bodyPr>
          <a:lstStyle/>
          <a:p>
            <a:pPr>
              <a:buNone/>
            </a:pPr>
            <a:r>
              <a:rPr sz="1700" b="1" dirty="0">
                <a:latin typeface="Calibri" panose="020F0502020204030204" pitchFamily="34" charset="0"/>
              </a:rPr>
              <a:t>Demo voice agent + 3-SKU knowledge base</a:t>
            </a:r>
          </a:p>
          <a:p>
            <a:pPr>
              <a:buNone/>
            </a:pPr>
            <a:r>
              <a:rPr sz="1700" b="1" dirty="0">
                <a:latin typeface="Calibri" panose="020F0502020204030204" pitchFamily="34" charset="0"/>
              </a:rPr>
              <a:t>Real conversation sample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User — Do you have MacBook Pro M4 in stock?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Agent — Yes, we have the 14-inch M4 Pro in Silver and Space Black. The 14-inch starts at $1,999. Anything else?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User — What about iPhone 13 Pro Max?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Agent — iPhone 13 Pro Max is currently out of stock. Would you like an alternative?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0" y="2167950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700" b="1" dirty="0">
                <a:solidFill>
                  <a:srgbClr val="FFFFFF"/>
                </a:solidFill>
                <a:latin typeface="Calibri" panose="020F0502020204030204" pitchFamily="34" charset="0"/>
              </a:rPr>
              <a:t>KNOWLEDGE BASE</a:t>
            </a:r>
          </a:p>
          <a:p>
            <a:pPr>
              <a:buNone/>
            </a:pPr>
            <a:r>
              <a:rPr sz="1700" dirty="0">
                <a:solidFill>
                  <a:srgbClr val="FFFFFF"/>
                </a:solidFill>
                <a:latin typeface="Calibri" panose="020F0502020204030204" pitchFamily="34" charset="0"/>
              </a:rPr>
              <a:t>Apple Watch Series 11 — $399  ·  in stock</a:t>
            </a:r>
          </a:p>
          <a:p>
            <a:pPr>
              <a:buNone/>
            </a:pPr>
            <a:r>
              <a:rPr sz="1700" dirty="0">
                <a:solidFill>
                  <a:srgbClr val="FFFFFF"/>
                </a:solidFill>
                <a:latin typeface="Calibri" panose="020F0502020204030204" pitchFamily="34" charset="0"/>
              </a:rPr>
              <a:t>iPhone 13 Pro Max — $1,099  ·  out of stock</a:t>
            </a:r>
          </a:p>
          <a:p>
            <a:pPr>
              <a:buNone/>
            </a:pPr>
            <a:r>
              <a:rPr sz="1700" dirty="0">
                <a:solidFill>
                  <a:srgbClr val="FFFFFF"/>
                </a:solidFill>
                <a:latin typeface="Calibri" panose="020F0502020204030204" pitchFamily="34" charset="0"/>
              </a:rPr>
              <a:t>MacBook Pro M4 (14-inch) — $1,999  ·  in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754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 panose="020F0502020204030204" pitchFamily="34" charset="0"/>
              </a:rPr>
              <a:t>Overall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Calibri" panose="020F0502020204030204" pitchFamily="34" charset="0"/>
              </a:rPr>
              <a:t>Edge layer + Compute/AI layer  ·  fully managed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he image depicts a complex AWS infrastructure with various services such as Hera, Bedrock AgentCore Runtime, CloudWatch, CloudFront, Nova Sonic, S3, and Lambda, illustrating a workflow for handling audio data and retrieving vector information.&#10;&#10;AI-generated content may be incorrect.">
            <a:extLst>
              <a:ext uri="{FF2B5EF4-FFF2-40B4-BE49-F238E27FC236}">
                <a16:creationId xmlns:a16="http://schemas.microsoft.com/office/drawing/2014/main" id="{064F418E-13B6-0FF4-2BAA-9D95AC1D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400" y="2186057"/>
            <a:ext cx="70072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05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662932"/>
            <a:ext cx="4976190" cy="895985"/>
          </a:xfrm>
        </p:spPr>
        <p:txBody>
          <a:bodyPr/>
          <a:lstStyle/>
          <a:p>
            <a:r>
              <a:rPr dirty="0">
                <a:latin typeface="Trebuchet MS" panose="020B0603020202020204" pitchFamily="34" charset="0"/>
              </a:rPr>
              <a:t>Amazon Bedrock + Nova 2 Sonic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7933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800" b="1">
                <a:latin typeface="Calibri" panose="020F0502020204030204" pitchFamily="34" charset="0"/>
              </a:rPr>
              <a:t>Speech-to-speech foundation model</a:t>
            </a:r>
          </a:p>
          <a:p>
            <a:pPr>
              <a:buNone/>
            </a:pPr>
            <a:r>
              <a:rPr sz="1800">
                <a:latin typeface="Calibri" panose="020F0502020204030204" pitchFamily="34" charset="0"/>
              </a:rPr>
              <a:t>ASR + LLM + TTS in a single stream</a:t>
            </a:r>
          </a:p>
          <a:p>
            <a:pPr>
              <a:buNone/>
            </a:pPr>
            <a:r>
              <a:rPr sz="1800">
                <a:latin typeface="Calibri" panose="020F0502020204030204" pitchFamily="34" charset="0"/>
              </a:rPr>
              <a:t>•  Bidirectional WebSocket — two-way simultaneous audio</a:t>
            </a:r>
          </a:p>
          <a:p>
            <a:pPr>
              <a:buNone/>
            </a:pPr>
            <a:r>
              <a:rPr sz="1800">
                <a:latin typeface="Calibri" panose="020F0502020204030204" pitchFamily="34" charset="0"/>
              </a:rPr>
              <a:t>•  Built-in tool calling — model directly invokes lookup_product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0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800" b="1">
                <a:solidFill>
                  <a:srgbClr val="FFFFFF"/>
                </a:solidFill>
                <a:latin typeface="Calibri" panose="020F0502020204030204" pitchFamily="34" charset="0"/>
              </a:rPr>
              <a:t>Why use it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  <a:latin typeface="Calibri" panose="020F0502020204030204" pitchFamily="34" charset="0"/>
              </a:rPr>
              <a:t>•  Natural barge-in — responds to user interruption instantly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  <a:latin typeface="Calibri" panose="020F0502020204030204" pitchFamily="34" charset="0"/>
              </a:rPr>
              <a:t>•  Async tool calling — agent keeps speaking while tool executes in the background</a:t>
            </a:r>
          </a:p>
          <a:p>
            <a:pPr>
              <a:buNone/>
            </a:pPr>
            <a:r>
              <a:rPr sz="1800" b="1">
                <a:solidFill>
                  <a:srgbClr val="FFFFFF"/>
                </a:solidFill>
                <a:latin typeface="Calibri" panose="020F0502020204030204" pitchFamily="34" charset="0"/>
              </a:rPr>
              <a:t>Latency &lt;2s · natural barge-in · no need to glue 3 vendors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83335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662932"/>
            <a:ext cx="4976190" cy="895985"/>
          </a:xfrm>
        </p:spPr>
        <p:txBody>
          <a:bodyPr/>
          <a:lstStyle/>
          <a:p>
            <a:r>
              <a:rPr>
                <a:latin typeface="Trebuchet MS" panose="020B0603020202020204" pitchFamily="34" charset="0"/>
              </a:rPr>
              <a:t>Bedrock Knowledge Base + S3 Vectors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7933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600" b="1">
                <a:latin typeface="Calibri" panose="020F0502020204030204" pitchFamily="34" charset="0"/>
              </a:rPr>
              <a:t>RAG layer for voice agent – serverless storage and retrieval</a:t>
            </a:r>
          </a:p>
          <a:p>
            <a:pPr>
              <a:buNone/>
            </a:pPr>
            <a:r>
              <a:rPr sz="1600" b="1">
                <a:latin typeface="Calibri" panose="020F0502020204030204" pitchFamily="34" charset="0"/>
              </a:rPr>
              <a:t>Ingestion Pipeline</a:t>
            </a:r>
          </a:p>
          <a:p>
            <a:pPr>
              <a:buNone/>
            </a:pPr>
            <a:r>
              <a:rPr sz="1600">
                <a:latin typeface="Calibri" panose="020F0502020204030204" pitchFamily="34" charset="0"/>
              </a:rPr>
              <a:t>catalog/*.md → S3 source → Bedrock ingestion job → Titan v2 embed → S3 Vectors</a:t>
            </a:r>
          </a:p>
          <a:p>
            <a:pPr>
              <a:buNone/>
            </a:pPr>
            <a:r>
              <a:rPr sz="1600" b="1">
                <a:latin typeface="Calibri" panose="020F0502020204030204" pitchFamily="34" charset="0"/>
              </a:rPr>
              <a:t>Retrieval Pipeline (single tool call)</a:t>
            </a:r>
          </a:p>
          <a:p>
            <a:pPr>
              <a:buNone/>
            </a:pPr>
            <a:r>
              <a:rPr sz="1600">
                <a:latin typeface="Calibri" panose="020F0502020204030204" pitchFamily="34" charset="0"/>
              </a:rPr>
              <a:t>lookup_product(query) → Retrieve API → S3 Vectors search → top-3 chunks → Sonic reply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0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700" b="1">
                <a:solidFill>
                  <a:srgbClr val="FFFFFF"/>
                </a:solidFill>
                <a:latin typeface="Calibri" panose="020F0502020204030204" pitchFamily="34" charset="0"/>
              </a:rPr>
              <a:t>S3 Vectors vs OpenSearch Serverless</a:t>
            </a:r>
          </a:p>
          <a:p>
            <a:pPr>
              <a:buNone/>
            </a:pPr>
            <a:r>
              <a:rPr sz="1700">
                <a:solidFill>
                  <a:srgbClr val="FFFFFF"/>
                </a:solidFill>
                <a:latin typeface="Calibri" panose="020F0502020204030204" pitchFamily="34" charset="0"/>
              </a:rPr>
              <a:t>•  Truly serverless — pay-per-use, no OCU floor</a:t>
            </a:r>
          </a:p>
          <a:p>
            <a:pPr>
              <a:buNone/>
            </a:pPr>
            <a:r>
              <a:rPr sz="1700">
                <a:solidFill>
                  <a:srgbClr val="FFFFFF"/>
                </a:solidFill>
                <a:latin typeface="Calibri" panose="020F0502020204030204" pitchFamily="34" charset="0"/>
              </a:rPr>
              <a:t>•  Native integration with Bedrock KB</a:t>
            </a:r>
          </a:p>
          <a:p>
            <a:pPr>
              <a:buNone/>
            </a:pPr>
            <a:r>
              <a:rPr sz="1700">
                <a:solidFill>
                  <a:srgbClr val="FFFFFF"/>
                </a:solidFill>
                <a:latin typeface="Calibri" panose="020F0502020204030204" pitchFamily="34" charset="0"/>
              </a:rPr>
              <a:t>•  Perfect for spiky, read-light workloads, scales with data size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92588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662932"/>
            <a:ext cx="4976190" cy="895985"/>
          </a:xfrm>
        </p:spPr>
        <p:txBody>
          <a:bodyPr/>
          <a:lstStyle/>
          <a:p>
            <a:r>
              <a:rPr dirty="0">
                <a:latin typeface="Trebuchet MS" panose="020B0603020202020204" pitchFamily="34" charset="0"/>
              </a:rPr>
              <a:t>How does a voice turn flow?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7933" y="2642084"/>
            <a:ext cx="5538815" cy="3314000"/>
          </a:xfrm>
        </p:spPr>
        <p:txBody>
          <a:bodyPr wrap="square">
            <a:noAutofit/>
          </a:bodyPr>
          <a:lstStyle/>
          <a:p>
            <a:pPr>
              <a:buNone/>
            </a:pPr>
            <a:r>
              <a:rPr sz="1700" b="1" dirty="0">
                <a:latin typeface="Calibri" panose="020F0502020204030204" pitchFamily="34" charset="0"/>
              </a:rPr>
              <a:t>5 steps / 1 turn — end-to-end &lt; 3s p95</a:t>
            </a:r>
          </a:p>
          <a:p>
            <a:pPr>
              <a:buNone/>
            </a:pPr>
            <a:r>
              <a:rPr sz="1700" b="1" dirty="0">
                <a:latin typeface="Calibri" panose="020F0502020204030204" pitchFamily="34" charset="0"/>
              </a:rPr>
              <a:t>01 · Browser requests presigned WSS URL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Lambda presigner signs SigV4 URL, 5-minute TTL</a:t>
            </a:r>
          </a:p>
          <a:p>
            <a:pPr>
              <a:buNone/>
            </a:pPr>
            <a:r>
              <a:rPr sz="1700" b="1" dirty="0">
                <a:latin typeface="Calibri" panose="020F0502020204030204" pitchFamily="34" charset="0"/>
              </a:rPr>
              <a:t>02 · Browser opens WebSocket → AgentCore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No SDK required, vanilla JS</a:t>
            </a:r>
          </a:p>
          <a:p>
            <a:pPr>
              <a:buNone/>
            </a:pPr>
            <a:r>
              <a:rPr sz="1700" b="1" dirty="0">
                <a:latin typeface="Calibri" panose="020F0502020204030204" pitchFamily="34" charset="0"/>
              </a:rPr>
              <a:t>03 · Pipecat receives PCM mic input</a:t>
            </a:r>
          </a:p>
          <a:p>
            <a:pPr>
              <a:buNone/>
            </a:pPr>
            <a:r>
              <a:rPr sz="1700" dirty="0">
                <a:latin typeface="Calibri" panose="020F0502020204030204" pitchFamily="34" charset="0"/>
              </a:rPr>
              <a:t>16 kHz mono Int16 via WebSocket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0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04 · Sonic calls lookup_product</a:t>
            </a:r>
          </a:p>
          <a:p>
            <a:pPr>
              <a:buNone/>
            </a:pPr>
            <a:r>
              <a:rPr sz="1600">
                <a:solidFill>
                  <a:srgbClr val="FFFFFF"/>
                </a:solidFill>
                <a:latin typeface="Calibri" panose="020F0502020204030204" pitchFamily="34" charset="0"/>
              </a:rPr>
              <a:t>Bedrock KB Retrieve → S3 Vectors → top-3</a:t>
            </a:r>
          </a:p>
          <a:p>
            <a:pPr>
              <a:buNone/>
            </a:pPr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05 · Sonic outputs 24 kHz audio</a:t>
            </a:r>
          </a:p>
          <a:p>
            <a:pPr>
              <a:buNone/>
            </a:pPr>
            <a:r>
              <a:rPr sz="1600">
                <a:solidFill>
                  <a:srgbClr val="FFFFFF"/>
                </a:solidFill>
                <a:latin typeface="Calibri" panose="020F0502020204030204" pitchFamily="34" charset="0"/>
              </a:rPr>
              <a:t>Browser plays back via audio worklet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10438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 panose="020F0502020204030204" pitchFamily="34" charset="0"/>
              </a:rPr>
              <a:t>Real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Calibri" panose="020F0502020204030204" pitchFamily="34" charset="0"/>
              </a:rPr>
              <a:t>Cost · latency · pricing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2194560" cy="1965960"/>
          </a:xfrm>
          <a:prstGeom prst="roundRect">
            <a:avLst/>
          </a:prstGeom>
          <a:solidFill>
            <a:srgbClr val="1C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194560" cy="12311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Calibri" panose="020F0502020204030204" pitchFamily="34" charset="0"/>
              </a:rPr>
              <a:t>&lt;$1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/h burst test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 panose="020F0502020204030204" pitchFamily="34" charset="0"/>
              </a:rPr>
              <a:t>Voice + KB +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2606040"/>
            <a:ext cx="2194560" cy="1965960"/>
          </a:xfrm>
          <a:prstGeom prst="roundRect">
            <a:avLst/>
          </a:prstGeom>
          <a:solidFill>
            <a:srgbClr val="1C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98064" y="2834640"/>
            <a:ext cx="2194560" cy="12311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Calibri" panose="020F0502020204030204" pitchFamily="34" charset="0"/>
              </a:rPr>
              <a:t>~$0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idle overnight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 panose="020F0502020204030204" pitchFamily="34" charset="0"/>
              </a:rPr>
              <a:t>AgentCore $0, S3V $0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2606040"/>
            <a:ext cx="2194560" cy="1965960"/>
          </a:xfrm>
          <a:prstGeom prst="roundRect">
            <a:avLst/>
          </a:prstGeom>
          <a:solidFill>
            <a:srgbClr val="1C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8928" y="2834640"/>
            <a:ext cx="2194560" cy="12311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Calibri" panose="020F0502020204030204" pitchFamily="34" charset="0"/>
              </a:rPr>
              <a:t>0.86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KB top score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 panose="020F0502020204030204" pitchFamily="34" charset="0"/>
              </a:rPr>
              <a:t>iPhone 13 stock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2606040"/>
            <a:ext cx="2194560" cy="1965960"/>
          </a:xfrm>
          <a:prstGeom prst="roundRect">
            <a:avLst/>
          </a:prstGeom>
          <a:solidFill>
            <a:srgbClr val="1C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2834640"/>
            <a:ext cx="2194560" cy="12311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Calibri" panose="020F0502020204030204" pitchFamily="34" charset="0"/>
              </a:rPr>
              <a:t>&lt;3s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p95 latency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 panose="020F0502020204030204" pitchFamily="34" charset="0"/>
              </a:rPr>
              <a:t>end-of-utt →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0656" y="2606040"/>
            <a:ext cx="2194560" cy="1965960"/>
          </a:xfrm>
          <a:prstGeom prst="roundRect">
            <a:avLst/>
          </a:prstGeom>
          <a:solidFill>
            <a:srgbClr val="1C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0656" y="2834640"/>
            <a:ext cx="2194560" cy="12311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Calibri" panose="020F0502020204030204" pitchFamily="34" charset="0"/>
              </a:rPr>
              <a:t>$0.017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 pitchFamily="34" charset="0"/>
              </a:rPr>
              <a:t>/min conversation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 panose="020F0502020204030204" pitchFamily="34" charset="0"/>
              </a:rPr>
              <a:t>Nova 2 Sonic pricing</a:t>
            </a:r>
          </a:p>
        </p:txBody>
      </p:sp>
    </p:spTree>
    <p:extLst>
      <p:ext uri="{BB962C8B-B14F-4D97-AF65-F5344CB8AC3E}">
        <p14:creationId xmlns:p14="http://schemas.microsoft.com/office/powerpoint/2010/main" val="1412197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662932"/>
            <a:ext cx="4976190" cy="895985"/>
          </a:xfrm>
        </p:spPr>
        <p:txBody>
          <a:bodyPr/>
          <a:lstStyle/>
          <a:p>
            <a:r>
              <a:rPr>
                <a:latin typeface="Trebuchet MS" panose="020B0603020202020204" pitchFamily="34" charset="0"/>
              </a:rPr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7933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400" b="1" dirty="0">
                <a:latin typeface="Calibri" panose="020F0502020204030204" pitchFamily="34" charset="0"/>
              </a:rPr>
              <a:t>Building Voice Agents: 1 Speech-to-Speech Model + Tool Calling + RAG on Managed Infrastructure</a:t>
            </a:r>
          </a:p>
          <a:p>
            <a:pPr>
              <a:buNone/>
            </a:pPr>
            <a:r>
              <a:rPr sz="1400" b="1" dirty="0">
                <a:latin typeface="Calibri" panose="020F0502020204030204" pitchFamily="34" charset="0"/>
              </a:rPr>
              <a:t>VOICE AGENT FORMULA</a:t>
            </a:r>
          </a:p>
          <a:p>
            <a:pPr>
              <a:buNone/>
            </a:pPr>
            <a:r>
              <a:rPr sz="1400" dirty="0">
                <a:latin typeface="Calibri" panose="020F0502020204030204" pitchFamily="34" charset="0"/>
              </a:rPr>
              <a:t>Speech-to-speech: Nova 2 Sonic — 1 model</a:t>
            </a:r>
          </a:p>
          <a:p>
            <a:pPr>
              <a:buNone/>
            </a:pPr>
            <a:r>
              <a:rPr sz="1400" dirty="0">
                <a:latin typeface="Calibri" panose="020F0502020204030204" pitchFamily="34" charset="0"/>
              </a:rPr>
              <a:t>Tool calling + RAG: Sonic calls </a:t>
            </a:r>
            <a:r>
              <a:rPr sz="1400" dirty="0" err="1">
                <a:latin typeface="Calibri" panose="020F0502020204030204" pitchFamily="34" charset="0"/>
              </a:rPr>
              <a:t>lookup_product</a:t>
            </a:r>
            <a:r>
              <a:rPr sz="1400" dirty="0">
                <a:latin typeface="Calibri" panose="020F0502020204030204" pitchFamily="34" charset="0"/>
              </a:rPr>
              <a:t> → KB → S3 Vectors</a:t>
            </a:r>
          </a:p>
          <a:p>
            <a:pPr>
              <a:buNone/>
            </a:pPr>
            <a:r>
              <a:rPr sz="1400" dirty="0" err="1">
                <a:latin typeface="Calibri" panose="020F0502020204030204" pitchFamily="34" charset="0"/>
              </a:rPr>
              <a:t>Pipecat</a:t>
            </a:r>
            <a:r>
              <a:rPr sz="1400" dirty="0">
                <a:latin typeface="Calibri" panose="020F0502020204030204" pitchFamily="34" charset="0"/>
              </a:rPr>
              <a:t>: Manages audio frames, barge-in, stream rotation – 1 day to run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096000" y="2642084"/>
            <a:ext cx="5538815" cy="3314000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 pitchFamily="34" charset="0"/>
              </a:rPr>
              <a:t>CHEAP · LEAN · OBSERVABLE</a:t>
            </a:r>
          </a:p>
          <a:p>
            <a:pPr>
              <a:buNone/>
            </a:pPr>
            <a:r>
              <a:rPr sz="1400">
                <a:solidFill>
                  <a:srgbClr val="FFFFFF"/>
                </a:solidFill>
                <a:latin typeface="Calibri" panose="020F0502020204030204" pitchFamily="34" charset="0"/>
              </a:rPr>
              <a:t>Managed/serverless: AgentCore scale-to-zero, $0 when idle</a:t>
            </a:r>
          </a:p>
          <a:p>
            <a:pPr>
              <a:buNone/>
            </a:pPr>
            <a:r>
              <a:rPr sz="1400">
                <a:solidFill>
                  <a:srgbClr val="FFFFFF"/>
                </a:solidFill>
                <a:latin typeface="Calibri" panose="020F0502020204030204" pitchFamily="34" charset="0"/>
              </a:rPr>
              <a:t>Observable: Langfuse trace for every conversation</a:t>
            </a:r>
          </a:p>
          <a:p>
            <a:pPr>
              <a:buNone/>
            </a:pPr>
            <a:r>
              <a:rPr sz="1400">
                <a:solidFill>
                  <a:srgbClr val="FFFFFF"/>
                </a:solidFill>
                <a:latin typeface="Calibri" panose="020F0502020204030204" pitchFamily="34" charset="0"/>
              </a:rPr>
              <a:t>NO self-managed ECS/EC2/VPC — idle ~$0, demo &lt; $1/h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66299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955" y="1555030"/>
            <a:ext cx="10651609" cy="2911151"/>
          </a:xfrm>
        </p:spPr>
        <p:txBody>
          <a:bodyPr/>
          <a:lstStyle/>
          <a:p>
            <a:r>
              <a:rPr dirty="0">
                <a:latin typeface="Trebuchet MS" panose="020B0603020202020204" pitchFamily="34" charset="0"/>
              </a:rPr>
              <a:t>Thank you!</a:t>
            </a:r>
          </a:p>
          <a:p>
            <a:r>
              <a:rPr sz="2200" b="0" dirty="0">
                <a:latin typeface="Trebuchet MS" panose="020B0603020202020204" pitchFamily="34" charset="0"/>
              </a:rPr>
              <a:t>Questions &amp; Discussion</a:t>
            </a:r>
          </a:p>
          <a:p>
            <a:r>
              <a:rPr sz="1600" b="0" dirty="0">
                <a:latin typeface="Trebuchet MS" panose="020B0603020202020204" pitchFamily="34" charset="0"/>
              </a:rPr>
              <a:t>Builder · AWS Student Builder Group HUFLIT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93AAD-4D4B-2A00-0195-D65E58F25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55" y="5302970"/>
            <a:ext cx="9093200" cy="652565"/>
          </a:xfrm>
        </p:spPr>
        <p:txBody>
          <a:bodyPr/>
          <a:lstStyle/>
          <a:p>
            <a:r>
              <a:rPr lang="en-US" dirty="0"/>
              <a:t>https://www.meetup.com/aws-sbg-at-huflit/events/315340642/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A7008-0A58-ED4B-0522-F5FFB729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220" y="509525"/>
            <a:ext cx="2857500" cy="4105275"/>
          </a:xfrm>
          <a:prstGeom prst="rect">
            <a:avLst/>
          </a:prstGeom>
        </p:spPr>
      </p:pic>
      <p:pic>
        <p:nvPicPr>
          <p:cNvPr id="7" name="Picture 6" descr="The image shows a QR code with a black background.&#10;&#10;AI-generated content may be incorrect.">
            <a:extLst>
              <a:ext uri="{FF2B5EF4-FFF2-40B4-BE49-F238E27FC236}">
                <a16:creationId xmlns:a16="http://schemas.microsoft.com/office/drawing/2014/main" id="{03E35D80-0C48-E76B-42A7-E28E56E9C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20" y="1791820"/>
            <a:ext cx="2876742" cy="28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701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1433</Words>
  <Application>Microsoft Office PowerPoint</Application>
  <PresentationFormat>Widescreen</PresentationFormat>
  <Paragraphs>195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Amazon Ember</vt:lpstr>
      <vt:lpstr>Amazon Ember Display</vt:lpstr>
      <vt:lpstr>Amazon Ember Duospace</vt:lpstr>
      <vt:lpstr>Aptos</vt:lpstr>
      <vt:lpstr>Aptos Display</vt:lpstr>
      <vt:lpstr>Arial</vt:lpstr>
      <vt:lpstr>Calibri</vt:lpstr>
      <vt:lpstr>Trebuchet MS</vt:lpstr>
      <vt:lpstr>Custom Design</vt:lpstr>
      <vt:lpstr>Building Voice Agent  at Scale</vt:lpstr>
      <vt:lpstr>PowerPoint Presentation</vt:lpstr>
      <vt:lpstr>PowerPoint Presentation</vt:lpstr>
      <vt:lpstr>PowerPoint Presentation</vt:lpstr>
      <vt:lpstr>PowerPoint Presentation</vt:lpstr>
      <vt:lpstr>Latency Is the Product.</vt:lpstr>
      <vt:lpstr>Build Path Prototype to Production</vt:lpstr>
      <vt:lpstr>Reference path for production voice agents: </vt:lpstr>
      <vt:lpstr>Keep the real-time voice loop focused. Move complexity into tools, sub-agents, and scoped sessions. </vt:lpstr>
      <vt:lpstr>Anchor the workshop in patterns that already map to real AWS examples. </vt:lpstr>
      <vt:lpstr>Before going live, test the voice system as a distributed streaming product - not just a chatbot with a microphone. </vt:lpstr>
      <vt:lpstr>What is Hera?</vt:lpstr>
      <vt:lpstr>Use case — Apple Store assistant</vt:lpstr>
      <vt:lpstr>PowerPoint Presentation</vt:lpstr>
      <vt:lpstr>Amazon Bedrock + Nova 2 Sonic</vt:lpstr>
      <vt:lpstr>Bedrock Knowledge Base + S3 Vectors</vt:lpstr>
      <vt:lpstr>How does a voice turn flow?</vt:lpstr>
      <vt:lpstr>PowerPoint Presentation</vt:lpstr>
      <vt:lpstr>Recap</vt:lpstr>
      <vt:lpstr>Thank you! Questions &amp; Discussion Builder · AWS Student Builder Group HUFLIT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Thien Lu Hoan</dc:creator>
  <cp:lastModifiedBy>Tran Kiet</cp:lastModifiedBy>
  <cp:revision>24</cp:revision>
  <dcterms:created xsi:type="dcterms:W3CDTF">2026-02-25T10:51:59Z</dcterms:created>
  <dcterms:modified xsi:type="dcterms:W3CDTF">2026-06-26T14:17:03Z</dcterms:modified>
</cp:coreProperties>
</file>