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2" r:id="rId6"/>
    <p:sldId id="261" r:id="rId7"/>
    <p:sldId id="258" r:id="rId8"/>
    <p:sldId id="265" r:id="rId9"/>
    <p:sldId id="266" r:id="rId10"/>
    <p:sldId id="267" r:id="rId11"/>
    <p:sldId id="268" r:id="rId12"/>
    <p:sldId id="269" r:id="rId13"/>
    <p:sldId id="263" r:id="rId14"/>
    <p:sldId id="271" r:id="rId15"/>
    <p:sldId id="272" r:id="rId16"/>
    <p:sldId id="273" r:id="rId17"/>
    <p:sldId id="275" r:id="rId18"/>
    <p:sldId id="274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CA969-5D7D-4869-9174-3302CF1C5DF0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85D25-560A-4369-898B-3B8DCB089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8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85D25-560A-4369-898B-3B8DCB0891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6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-2286000"/>
            <a:ext cx="10058400" cy="10058400"/>
          </a:xfrm>
          <a:prstGeom prst="ellipse">
            <a:avLst/>
          </a:prstGeom>
          <a:gradFill rotWithShape="1">
            <a:gsLst>
              <a:gs pos="0">
                <a:srgbClr val="42B4FF"/>
              </a:gs>
              <a:gs pos="33000">
                <a:srgbClr val="8C4FFF"/>
              </a:gs>
              <a:gs pos="66000">
                <a:srgbClr val="D43AC8"/>
              </a:gs>
              <a:gs pos="100000">
                <a:srgbClr val="FF8A3D"/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dirty="0">
                <a:solidFill>
                  <a:srgbClr val="E2E8F0"/>
                </a:solidFill>
                <a:latin typeface="Arial"/>
              </a:rPr>
              <a:t>AWS STUDENT BUILDER GROUP VIETNAM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058400" cy="194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200" b="1" dirty="0">
                <a:solidFill>
                  <a:srgbClr val="97A6BA"/>
                </a:solidFill>
                <a:latin typeface="Arial"/>
              </a:rPr>
              <a:t>30</a:t>
            </a:r>
            <a:r>
              <a:rPr sz="1200" b="1" dirty="0">
                <a:solidFill>
                  <a:srgbClr val="97A6BA"/>
                </a:solidFill>
                <a:latin typeface="Arial"/>
              </a:rPr>
              <a:t>-05-2026  ·  Ho Chi Minh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dirty="0">
                <a:solidFill>
                  <a:srgbClr val="FFFFFF"/>
                </a:solidFill>
                <a:latin typeface="Trebuchet MS"/>
              </a:rPr>
              <a:t>Hera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dirty="0">
                <a:solidFill>
                  <a:srgbClr val="FFFFFF"/>
                </a:solidFill>
                <a:latin typeface="Trebuchet MS"/>
              </a:rPr>
              <a:t>Voice agent </a:t>
            </a:r>
            <a:r>
              <a:rPr sz="2800" b="0" dirty="0" err="1">
                <a:solidFill>
                  <a:srgbClr val="FFFFFF"/>
                </a:solidFill>
                <a:latin typeface="Trebuchet MS"/>
              </a:rPr>
              <a:t>trên</a:t>
            </a:r>
            <a:r>
              <a:rPr sz="2800" b="0" dirty="0">
                <a:solidFill>
                  <a:srgbClr val="FFFFFF"/>
                </a:solidFill>
                <a:latin typeface="Trebuchet MS"/>
              </a:rPr>
              <a:t> AWS</a:t>
            </a:r>
          </a:p>
          <a:p>
            <a:pPr algn="l">
              <a:lnSpc>
                <a:spcPct val="125000"/>
              </a:lnSpc>
            </a:pPr>
            <a:r>
              <a:rPr sz="2800" b="0" dirty="0" err="1">
                <a:solidFill>
                  <a:srgbClr val="FFFFFF"/>
                </a:solidFill>
                <a:latin typeface="Trebuchet MS"/>
              </a:rPr>
              <a:t>với</a:t>
            </a:r>
            <a:r>
              <a:rPr sz="2800" b="0" dirty="0">
                <a:solidFill>
                  <a:srgbClr val="FFFFFF"/>
                </a:solidFill>
                <a:latin typeface="Trebuchet MS"/>
              </a:rPr>
              <a:t> Amazon Bedrock Nova 2 Sonic + </a:t>
            </a:r>
            <a:r>
              <a:rPr sz="2800" b="0" dirty="0" err="1">
                <a:solidFill>
                  <a:srgbClr val="FFFFFF"/>
                </a:solidFill>
                <a:latin typeface="Trebuchet MS"/>
              </a:rPr>
              <a:t>AgentCore</a:t>
            </a:r>
            <a:endParaRPr sz="2800" b="0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Trebuchet MS"/>
              </a:rPr>
              <a:t>Kiet Tran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4572000" cy="194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97A6BA"/>
                </a:solidFill>
                <a:latin typeface="Arial"/>
              </a:rPr>
              <a:t>Builder · AWS </a:t>
            </a:r>
            <a:r>
              <a:rPr lang="en-US" sz="1200" dirty="0">
                <a:solidFill>
                  <a:srgbClr val="97A6BA"/>
                </a:solidFill>
                <a:latin typeface="Arial"/>
              </a:rPr>
              <a:t>Student Builder Group HUFLIT</a:t>
            </a:r>
            <a:endParaRPr sz="1200" b="0" dirty="0">
              <a:solidFill>
                <a:srgbClr val="97A6BA"/>
              </a:solidFill>
              <a:latin typeface="Arial"/>
            </a:endParaRPr>
          </a:p>
        </p:txBody>
      </p:sp>
      <p:pic>
        <p:nvPicPr>
          <p:cNvPr id="11" name="Picture 10" descr="fcj-logo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Trebuchet MS"/>
              </a:rP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640080" cy="594360"/>
          </a:xfrm>
          <a:prstGeom prst="roundRect">
            <a:avLst>
              <a:gd name="adj" fmla="val 5000"/>
            </a:avLst>
          </a:prstGeom>
          <a:solidFill>
            <a:srgbClr val="1C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42B4FF"/>
                </a:solidFill>
                <a:latin typeface="Trebuchet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1965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Trebuchet MS"/>
              </a:rPr>
              <a:t>Tổng quan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3055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97A6BA"/>
                </a:solidFill>
                <a:latin typeface="Arial"/>
              </a:rPr>
              <a:t>Hera </a:t>
            </a:r>
            <a:r>
              <a:rPr sz="1200" b="0" dirty="0" err="1">
                <a:solidFill>
                  <a:srgbClr val="97A6BA"/>
                </a:solidFill>
                <a:latin typeface="Arial"/>
              </a:rPr>
              <a:t>là</a:t>
            </a:r>
            <a:r>
              <a:rPr sz="1200" b="0" dirty="0">
                <a:solidFill>
                  <a:srgbClr val="97A6B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97A6BA"/>
                </a:solidFill>
                <a:latin typeface="Arial"/>
              </a:rPr>
              <a:t>gì</a:t>
            </a:r>
            <a:r>
              <a:rPr sz="1200" b="0" dirty="0">
                <a:solidFill>
                  <a:srgbClr val="97A6BA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97A6BA"/>
                </a:solidFill>
                <a:latin typeface="Arial"/>
              </a:rPr>
              <a:t>kiến</a:t>
            </a:r>
            <a:r>
              <a:rPr sz="1200" b="0" dirty="0">
                <a:solidFill>
                  <a:srgbClr val="97A6BA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97A6BA"/>
                </a:solidFill>
                <a:latin typeface="Arial"/>
              </a:rPr>
              <a:t>trúc</a:t>
            </a:r>
            <a:r>
              <a:rPr sz="1200" b="0" dirty="0">
                <a:solidFill>
                  <a:srgbClr val="97A6BA"/>
                </a:solidFill>
                <a:latin typeface="Arial"/>
              </a:rPr>
              <a:t>, voice 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96312"/>
            <a:ext cx="640080" cy="594360"/>
          </a:xfrm>
          <a:prstGeom prst="roundRect">
            <a:avLst>
              <a:gd name="adj" fmla="val 5000"/>
            </a:avLst>
          </a:prstGeom>
          <a:solidFill>
            <a:srgbClr val="1C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42B4FF"/>
                </a:solidFill>
                <a:latin typeface="Trebuchet M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3288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Trebuchet MS"/>
              </a:rPr>
              <a:t>Lý thuyết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4378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7A6BA"/>
                </a:solidFill>
                <a:latin typeface="Arial"/>
              </a:rPr>
              <a:t>Cascade vs S2S, AWS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09544"/>
            <a:ext cx="640080" cy="594360"/>
          </a:xfrm>
          <a:prstGeom prst="roundRect">
            <a:avLst>
              <a:gd name="adj" fmla="val 5000"/>
            </a:avLst>
          </a:prstGeom>
          <a:solidFill>
            <a:srgbClr val="1C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09544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42B4FF"/>
                </a:solidFill>
                <a:latin typeface="Trebuchet M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246120"/>
            <a:ext cx="4114800" cy="298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dirty="0">
                <a:solidFill>
                  <a:srgbClr val="FFFFFF"/>
                </a:solidFill>
                <a:latin typeface="Trebuchet MS"/>
              </a:rPr>
              <a:t>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557016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7A6BA"/>
                </a:solidFill>
                <a:latin typeface="Arial"/>
              </a:rPr>
              <a:t>Voice loop live, cost, latency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22776"/>
            <a:ext cx="640080" cy="594360"/>
          </a:xfrm>
          <a:prstGeom prst="roundRect">
            <a:avLst>
              <a:gd name="adj" fmla="val 5000"/>
            </a:avLst>
          </a:prstGeom>
          <a:solidFill>
            <a:srgbClr val="1C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922776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42B4FF"/>
                </a:solidFill>
                <a:latin typeface="Trebuchet M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959352"/>
            <a:ext cx="4114800" cy="298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b="1" dirty="0">
                <a:solidFill>
                  <a:srgbClr val="FFFFFF"/>
                </a:solidFill>
                <a:latin typeface="Trebuchet MS"/>
              </a:rPr>
              <a:t>Recap</a:t>
            </a:r>
            <a:endParaRPr sz="1800" b="1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45920" y="427024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7A6BA"/>
                </a:solidFill>
                <a:latin typeface="Arial"/>
              </a:rPr>
              <a:t>Surprises và hướng đi tiếp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67258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45920" y="49834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45920" y="538581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45920" y="569671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pic>
        <p:nvPicPr>
          <p:cNvPr id="30" name="Picture 29" descr="fcj-logo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  <p:pic>
        <p:nvPicPr>
          <p:cNvPr id="26" name="Picture 25" descr="The image depicts a glowing microphone with swirling, star-like lines radiating outward, set against a dark background with classical columns.&#10;&#10;AI-generated content may be incorrect.">
            <a:extLst>
              <a:ext uri="{FF2B5EF4-FFF2-40B4-BE49-F238E27FC236}">
                <a16:creationId xmlns:a16="http://schemas.microsoft.com/office/drawing/2014/main" id="{690454C6-9B04-F6B3-6A55-53B424181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450" y="0"/>
            <a:ext cx="60141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Trebuchet MS"/>
              </a:rPr>
              <a:t>Hera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7A6BA"/>
                </a:solidFill>
                <a:latin typeface="Arial"/>
              </a:rPr>
              <a:t>Trợ lý voice-first cho Apple Store, chạy trên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6858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dirty="0" err="1">
                <a:solidFill>
                  <a:srgbClr val="FFFFFF"/>
                </a:solidFill>
                <a:latin typeface="Trebuchet MS"/>
              </a:rPr>
              <a:t>Người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dùng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nói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qua microphone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của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trình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duyệt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, agent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trả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lời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bằng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giọng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nói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tự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nhiên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có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RAG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lấy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spec /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giá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/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tồn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kho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sản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phẩm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Apple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từ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knowledge base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nhỏ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Trebuchet MS"/>
              </a:rPr>
              <a:t>trên</a:t>
            </a:r>
            <a:r>
              <a:rPr sz="2000" b="0" dirty="0">
                <a:solidFill>
                  <a:srgbClr val="FFFFFF"/>
                </a:solidFill>
                <a:latin typeface="Trebuchet MS"/>
              </a:rPr>
              <a:t> S3 Vectors.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6858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 dirty="0">
                <a:solidFill>
                  <a:srgbClr val="42B4FF"/>
                </a:solidFill>
                <a:latin typeface="Arial"/>
              </a:rPr>
              <a:t>•  Speech-to-speech </a:t>
            </a:r>
            <a:r>
              <a:rPr sz="1700" b="1" dirty="0" err="1">
                <a:solidFill>
                  <a:srgbClr val="42B4FF"/>
                </a:solidFill>
                <a:latin typeface="Arial"/>
              </a:rPr>
              <a:t>với</a:t>
            </a:r>
            <a:r>
              <a:rPr sz="1700" b="1" dirty="0">
                <a:solidFill>
                  <a:srgbClr val="42B4FF"/>
                </a:solidFill>
                <a:latin typeface="Arial"/>
              </a:rPr>
              <a:t> Nova 2 Sonic</a:t>
            </a:r>
          </a:p>
          <a:p>
            <a:pPr algn="l">
              <a:lnSpc>
                <a:spcPct val="150000"/>
              </a:lnSpc>
            </a:pPr>
            <a:r>
              <a:rPr sz="1700" b="1" dirty="0">
                <a:solidFill>
                  <a:srgbClr val="42B4FF"/>
                </a:solidFill>
                <a:latin typeface="Arial"/>
              </a:rPr>
              <a:t>•  RAG voice tool calling (</a:t>
            </a:r>
            <a:r>
              <a:rPr sz="1700" b="1" dirty="0" err="1">
                <a:solidFill>
                  <a:srgbClr val="42B4FF"/>
                </a:solidFill>
                <a:latin typeface="Arial"/>
              </a:rPr>
              <a:t>lookup_product</a:t>
            </a:r>
            <a:r>
              <a:rPr sz="1700" b="1" dirty="0">
                <a:solidFill>
                  <a:srgbClr val="42B4FF"/>
                </a:solidFill>
                <a:latin typeface="Arial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sz="1700" b="1" dirty="0">
                <a:solidFill>
                  <a:srgbClr val="42B4FF"/>
                </a:solidFill>
                <a:latin typeface="Arial"/>
              </a:rPr>
              <a:t>•  Browser-only — </a:t>
            </a:r>
            <a:r>
              <a:rPr sz="1700" b="1" dirty="0" err="1">
                <a:solidFill>
                  <a:srgbClr val="42B4FF"/>
                </a:solidFill>
                <a:latin typeface="Arial"/>
              </a:rPr>
              <a:t>chỉ</a:t>
            </a:r>
            <a:r>
              <a:rPr sz="1700" b="1" dirty="0">
                <a:solidFill>
                  <a:srgbClr val="42B4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42B4FF"/>
                </a:solidFill>
                <a:latin typeface="Arial"/>
              </a:rPr>
              <a:t>cần</a:t>
            </a:r>
            <a:r>
              <a:rPr sz="1700" b="1" dirty="0">
                <a:solidFill>
                  <a:srgbClr val="42B4FF"/>
                </a:solidFill>
                <a:latin typeface="Arial"/>
              </a:rPr>
              <a:t> microphone</a:t>
            </a:r>
          </a:p>
        </p:txBody>
      </p:sp>
      <p:pic>
        <p:nvPicPr>
          <p:cNvPr id="12" name="Picture 11" descr="fcj-logo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Trebuchet MS"/>
              </a:rPr>
              <a:t>Use case — Apple Store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7A6BA"/>
                </a:solidFill>
                <a:latin typeface="Arial"/>
              </a:rPr>
              <a:t>Demo voice agent + knowledge base 3 SKU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7040880" cy="42976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2B4FF"/>
                </a:solidFill>
                <a:latin typeface="Trebuchet MS"/>
              </a:rPr>
              <a:t>Mẫu hội thoại thực tế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2B4FF"/>
                </a:solidFill>
                <a:latin typeface="Arial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31720"/>
            <a:ext cx="5760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Do you have MacBook Pro M4 in stock?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689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246120"/>
            <a:ext cx="5760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Yes, we have the 14-inch M4 Pro in Silver and Space Black. The 14-inch starts at $1,999. Anything else?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2B4FF"/>
                </a:solidFill>
                <a:latin typeface="Arial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160520"/>
            <a:ext cx="5760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What about iPhone 13 Pro Max?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074920"/>
            <a:ext cx="5760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iPhone 13 Pro Max is currently out of stock. Would you like an alternative?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783080"/>
            <a:ext cx="3749039" cy="42976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79" y="1783080"/>
            <a:ext cx="3749039" cy="502920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178308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Trebuchet MS"/>
              </a:rPr>
              <a:t>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5146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Apple Watch Series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80720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6BA"/>
                </a:solidFill>
                <a:latin typeface="Arial"/>
              </a:rPr>
              <a:t>$399  ·  in 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22783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iPhone 13 Pro 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520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6BA"/>
                </a:solidFill>
                <a:latin typeface="Arial"/>
              </a:rPr>
              <a:t>$1,099  ·  out of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94106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MacBook Pro M4 (14-inch)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2336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6BA"/>
                </a:solidFill>
                <a:latin typeface="Arial"/>
              </a:rPr>
              <a:t>$1,999  ·  in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502920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endParaRPr/>
          </a:p>
        </p:txBody>
      </p:sp>
      <p:pic>
        <p:nvPicPr>
          <p:cNvPr id="26" name="Picture 25" descr="fcj-logo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Trebuchet MS"/>
              </a:rPr>
              <a:t>Kiến trúc tổng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247120" cy="226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97A6BA"/>
                </a:solidFill>
                <a:latin typeface="Arial"/>
              </a:rPr>
              <a:t>Edge layer + Compute/AI layer  ·  </a:t>
            </a:r>
            <a:r>
              <a:rPr sz="1400" b="0" dirty="0" err="1">
                <a:solidFill>
                  <a:srgbClr val="97A6BA"/>
                </a:solidFill>
                <a:latin typeface="Arial"/>
              </a:rPr>
              <a:t>hoàn</a:t>
            </a:r>
            <a:r>
              <a:rPr sz="1400" b="0" dirty="0">
                <a:solidFill>
                  <a:srgbClr val="97A6B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97A6BA"/>
                </a:solidFill>
                <a:latin typeface="Arial"/>
              </a:rPr>
              <a:t>toàn</a:t>
            </a:r>
            <a:r>
              <a:rPr sz="1400" b="0" dirty="0">
                <a:solidFill>
                  <a:srgbClr val="97A6BA"/>
                </a:solidFill>
                <a:latin typeface="Arial"/>
              </a:rPr>
              <a:t> managed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691640"/>
            <a:ext cx="98755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cj-logo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  <p:pic>
        <p:nvPicPr>
          <p:cNvPr id="12" name="Picture 11" descr="The diagram illustrates a complex network architecture involving various services like AWS Cloud, Hera, CloudWatch, CloudFront, Nova, Bedrock, Lambda, S3, and Twilio, detailing their roles in data processing, communication, and storage.&#10;&#10;AI-generated content may be incorrect.">
            <a:extLst>
              <a:ext uri="{FF2B5EF4-FFF2-40B4-BE49-F238E27FC236}">
                <a16:creationId xmlns:a16="http://schemas.microsoft.com/office/drawing/2014/main" id="{2D23E5D5-561B-0CB4-7A95-8D99E6AAE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142" y="1872585"/>
            <a:ext cx="7565738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-3200400"/>
            <a:ext cx="10058400" cy="10058400"/>
          </a:xfrm>
          <a:prstGeom prst="ellipse">
            <a:avLst/>
          </a:prstGeom>
          <a:gradFill rotWithShape="1">
            <a:gsLst>
              <a:gs pos="0">
                <a:srgbClr val="42B4FF"/>
              </a:gs>
              <a:gs pos="33000">
                <a:srgbClr val="8C4FFF"/>
              </a:gs>
              <a:gs pos="66000">
                <a:srgbClr val="D43AC8"/>
              </a:gs>
              <a:gs pos="100000">
                <a:srgbClr val="FF8A3D"/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5720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0" b="1">
                <a:solidFill>
                  <a:srgbClr val="42B4FF"/>
                </a:solidFill>
                <a:latin typeface="Trebuchet M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160520"/>
            <a:ext cx="3200400" cy="9144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434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Trebuchet MS"/>
              </a:rPr>
              <a:t>Lý thuyết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2E8F0"/>
                </a:solidFill>
                <a:latin typeface="Arial"/>
              </a:rPr>
              <a:t>Vì sao chọn từng 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Trebuchet MS"/>
              </a:rPr>
              <a:t>Bài toán: voice AI đổi từ cascade sang speech-to-speech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438912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97A6BA"/>
                </a:solidFill>
                <a:latin typeface="Trebuchet MS"/>
              </a:rPr>
              <a:t>Cách làm cũ (~2023-2024)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9377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6B7A90"/>
                </a:solidFill>
                <a:latin typeface="Arial"/>
              </a:rPr>
              <a:t>•  3 service nối tiếp: STT → LLM → TTS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6B7A90"/>
                </a:solidFill>
                <a:latin typeface="Arial"/>
              </a:rPr>
              <a:t>•  Latency cộng dồn 4-6s mỗi turn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6B7A90"/>
                </a:solidFill>
                <a:latin typeface="Arial"/>
              </a:rPr>
              <a:t>•  Không có barge-in (ngắt lời)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6B7A90"/>
                </a:solidFill>
                <a:latin typeface="Arial"/>
              </a:rPr>
              <a:t>•  Code phức tạp để ghép 3 vendor</a:t>
            </a:r>
          </a:p>
          <a:p>
            <a:pPr algn="l">
              <a:lnSpc>
                <a:spcPct val="150000"/>
              </a:lnSpc>
            </a:pPr>
            <a:endParaRPr sz="1600" b="1">
              <a:solidFill>
                <a:srgbClr val="6B7A90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440680" cy="438912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737360"/>
            <a:ext cx="5440680" cy="73152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2B4FF"/>
                </a:solidFill>
                <a:latin typeface="Trebuchet MS"/>
              </a:rPr>
              <a:t>Cách làm mới (2025-2026)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8C4FFF"/>
                </a:solidFill>
                <a:latin typeface="Arial"/>
              </a:rPr>
              <a:t>•  1 foundation model thay cho cả 3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8C4FFF"/>
                </a:solidFill>
                <a:latin typeface="Arial"/>
              </a:rPr>
              <a:t>•  Bidirectional stream, latency &lt;2s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8C4FFF"/>
                </a:solidFill>
                <a:latin typeface="Arial"/>
              </a:rPr>
              <a:t>•  Barge-in tự nhiên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8C4FFF"/>
                </a:solidFill>
                <a:latin typeface="Arial"/>
              </a:rPr>
              <a:t>•  Tool calling trực tiếp từ model → RAG</a:t>
            </a:r>
          </a:p>
          <a:p>
            <a:pPr algn="l">
              <a:lnSpc>
                <a:spcPct val="150000"/>
              </a:lnSpc>
            </a:pPr>
            <a:endParaRPr sz="1600" b="1">
              <a:solidFill>
                <a:srgbClr val="8C4FFF"/>
              </a:solidFill>
              <a:latin typeface="Arial"/>
            </a:endParaRPr>
          </a:p>
        </p:txBody>
      </p:sp>
      <p:pic>
        <p:nvPicPr>
          <p:cNvPr id="12" name="Picture 11" descr="fcj-logo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72026"/>
            <a:ext cx="11247120" cy="5189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>
                <a:solidFill>
                  <a:srgbClr val="FFFFFF"/>
                </a:solidFill>
                <a:latin typeface="Trebuchet MS"/>
              </a:rPr>
              <a:t>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247120" cy="226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97A6BA"/>
                </a:solidFill>
                <a:latin typeface="Arial"/>
              </a:rPr>
              <a:t>Core: Bedrock · </a:t>
            </a:r>
            <a:r>
              <a:rPr sz="1400" b="0" dirty="0" err="1">
                <a:solidFill>
                  <a:srgbClr val="97A6BA"/>
                </a:solidFill>
                <a:latin typeface="Arial"/>
              </a:rPr>
              <a:t>AgentCore</a:t>
            </a:r>
            <a:r>
              <a:rPr sz="1400" b="0" dirty="0">
                <a:solidFill>
                  <a:srgbClr val="97A6BA"/>
                </a:solidFill>
                <a:latin typeface="Arial"/>
              </a:rPr>
              <a:t> · KB + S3 Vectors  · serverless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edr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34540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203911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FFFFFF"/>
                </a:solidFill>
                <a:latin typeface="Trebuchet MS"/>
              </a:rPr>
              <a:t>Bedrock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9631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Nova 2 Sonic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edr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34540"/>
            <a:ext cx="82296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32120" y="203911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Bedrock 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49631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+ S3 Vectors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gent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2034540"/>
            <a:ext cx="822960" cy="822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35440" y="203911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AgentCore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49631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18688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70148"/>
            <a:ext cx="822960" cy="822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28800" y="34747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3192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Widget + KB src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218688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loudfro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470148"/>
            <a:ext cx="822960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32120" y="34747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CloudFront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93192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HTTPS edge + OAC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218688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ambd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470148"/>
            <a:ext cx="822960" cy="8229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35440" y="34747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Trebuchet MS"/>
              </a:rPr>
              <a:t>Lambda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93192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SigV4 presigner</a:t>
            </a:r>
          </a:p>
        </p:txBody>
      </p:sp>
      <p:pic>
        <p:nvPicPr>
          <p:cNvPr id="42" name="Picture 41" descr="fcj-logo-lock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/>
      <p:bldP spid="10" grpId="0" animBg="1"/>
      <p:bldP spid="12" grpId="0"/>
      <p:bldP spid="13" grpId="0"/>
      <p:bldP spid="14" grpId="0" animBg="1"/>
      <p:bldP spid="16" grpId="0"/>
      <p:bldP spid="17" grpId="0"/>
      <p:bldP spid="18" grpId="0" animBg="1"/>
      <p:bldP spid="20" grpId="0"/>
      <p:bldP spid="21" grpId="0"/>
      <p:bldP spid="22" grpId="0" animBg="1"/>
      <p:bldP spid="24" grpId="0"/>
      <p:bldP spid="25" grpId="0"/>
      <p:bldP spid="26" grpId="0" animBg="1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657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Trebuchet MS"/>
              </a:rPr>
              <a:t>Amazon Bedrock + Nova 2 Sonic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05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7A6BA"/>
                </a:solidFill>
                <a:latin typeface="Arial"/>
              </a:rPr>
              <a:t>Speech-to-speech foundation model — ASR + LLM + TTS trong 1 stream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1064240" cy="329184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5156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1" dirty="0">
                <a:solidFill>
                  <a:srgbClr val="8C4FFF"/>
                </a:solidFill>
                <a:latin typeface="Arial"/>
              </a:rPr>
              <a:t>•  Bidirectional WebSocket — audio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chạy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2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chiều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cùng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lúc</a:t>
            </a:r>
            <a:endParaRPr sz="1600" b="1" dirty="0">
              <a:solidFill>
                <a:srgbClr val="8C4FFF"/>
              </a:solidFill>
              <a:latin typeface="Arial"/>
            </a:endParaRPr>
          </a:p>
          <a:p>
            <a:pPr algn="l">
              <a:lnSpc>
                <a:spcPct val="155000"/>
              </a:lnSpc>
            </a:pPr>
            <a:r>
              <a:rPr sz="1600" b="1" dirty="0">
                <a:solidFill>
                  <a:srgbClr val="8C4FFF"/>
                </a:solidFill>
                <a:latin typeface="Arial"/>
              </a:rPr>
              <a:t>•  Built-in tool calling — model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tự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gọi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lookup_product</a:t>
            </a:r>
            <a:endParaRPr sz="1600" b="1" dirty="0">
              <a:solidFill>
                <a:srgbClr val="8C4FFF"/>
              </a:solidFill>
              <a:latin typeface="Arial"/>
            </a:endParaRPr>
          </a:p>
          <a:p>
            <a:pPr algn="l">
              <a:lnSpc>
                <a:spcPct val="155000"/>
              </a:lnSpc>
            </a:pPr>
            <a:r>
              <a:rPr sz="1600" b="1" dirty="0">
                <a:solidFill>
                  <a:srgbClr val="8C4FFF"/>
                </a:solidFill>
                <a:latin typeface="Arial"/>
              </a:rPr>
              <a:t>•  Barge-in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tự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nhiên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,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ngắt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giọng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người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nói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được</a:t>
            </a:r>
            <a:endParaRPr sz="1600" b="1" dirty="0">
              <a:solidFill>
                <a:srgbClr val="8C4FFF"/>
              </a:solidFill>
              <a:latin typeface="Arial"/>
            </a:endParaRPr>
          </a:p>
          <a:p>
            <a:pPr algn="l">
              <a:lnSpc>
                <a:spcPct val="155000"/>
              </a:lnSpc>
            </a:pPr>
            <a:r>
              <a:rPr sz="1600" b="1" dirty="0">
                <a:solidFill>
                  <a:srgbClr val="8C4FFF"/>
                </a:solidFill>
                <a:latin typeface="Arial"/>
              </a:rPr>
              <a:t>•  Async tool calling — model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nói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trong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khi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tool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chạy</a:t>
            </a:r>
            <a:r>
              <a:rPr sz="1600" b="1" dirty="0">
                <a:solidFill>
                  <a:srgbClr val="8C4FF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8C4FFF"/>
                </a:solidFill>
                <a:latin typeface="Arial"/>
              </a:rPr>
              <a:t>nền</a:t>
            </a:r>
            <a:endParaRPr sz="1600" b="1" dirty="0">
              <a:solidFill>
                <a:srgbClr val="8C4FFF"/>
              </a:solidFill>
              <a:latin typeface="Arial"/>
            </a:endParaRPr>
          </a:p>
          <a:p>
            <a:pPr algn="l">
              <a:lnSpc>
                <a:spcPct val="155000"/>
              </a:lnSpc>
            </a:pPr>
            <a:endParaRPr sz="1600" b="1" dirty="0">
              <a:solidFill>
                <a:srgbClr val="8C4FFF"/>
              </a:solidFill>
              <a:latin typeface="Arial"/>
            </a:endParaRPr>
          </a:p>
          <a:p>
            <a:pPr algn="l">
              <a:lnSpc>
                <a:spcPct val="155000"/>
              </a:lnSpc>
            </a:pPr>
            <a:endParaRPr sz="1600" b="1" dirty="0">
              <a:solidFill>
                <a:srgbClr val="8C4FFF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1064240" cy="640080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3492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Latency &lt;2s, barge-in tự nhiên, không phải glue 3 vendor</a:t>
            </a:r>
          </a:p>
        </p:txBody>
      </p:sp>
      <p:pic>
        <p:nvPicPr>
          <p:cNvPr id="11" name="Picture 10" descr="fcj-logo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657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Trebuchet MS"/>
              </a:rPr>
              <a:t>Bedrock Knowledge Base + S3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05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7A6BA"/>
                </a:solidFill>
                <a:latin typeface="Arial"/>
              </a:rPr>
              <a:t>RAG layer cho voice agent  ·  serverless storage + retrieve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2B4FF"/>
                </a:solidFill>
                <a:latin typeface="Trebuchet MS"/>
              </a:rPr>
              <a:t>Pipeline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E2E8F0"/>
                </a:solidFill>
                <a:latin typeface="Arial"/>
              </a:rPr>
              <a:t>catalog/*.md  →  S3 source  →  Bedrock ingestion job  →  Titan v2 embed  →  S3 Vectors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2B4FF"/>
                </a:solidFill>
                <a:latin typeface="Trebuchet MS"/>
              </a:rPr>
              <a:t>Pipeline RETRIEVE (1 tool call)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E2E8F0"/>
                </a:solidFill>
                <a:latin typeface="Arial"/>
              </a:rPr>
              <a:t>lookup_product(query)  →  Retrieve API  →  S3 Vectors search  →  top-3 chunks  →  Sonic reply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1C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617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Trebuchet MS"/>
              </a:rPr>
              <a:t>S3 Vectors vs OpenSearch Serverless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292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42B4FF"/>
                </a:solidFill>
                <a:latin typeface="Arial"/>
              </a:rPr>
              <a:t>•  Serverless thật sự — pay per use, không OCU floor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42B4FF"/>
                </a:solidFill>
                <a:latin typeface="Arial"/>
              </a:rPr>
              <a:t>•  Native integration với Bedrock KB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42B4FF"/>
                </a:solidFill>
                <a:latin typeface="Arial"/>
              </a:rPr>
              <a:t>•  Hợp workload spiky, read-light, scale dần theo data</a:t>
            </a:r>
          </a:p>
        </p:txBody>
      </p:sp>
      <p:pic>
        <p:nvPicPr>
          <p:cNvPr id="16" name="Picture 15" descr="fcj-logo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gent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657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Trebuchet MS"/>
              </a:rPr>
              <a:t>Amazon Bedrock AgentCore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05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7A6BA"/>
                </a:solidFill>
                <a:latin typeface="Arial"/>
              </a:rPr>
              <a:t>Managed serverless agent runtime — first-party voice + Pipecat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1064240" cy="26974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5156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1">
                <a:solidFill>
                  <a:srgbClr val="8C4FFF"/>
                </a:solidFill>
                <a:latin typeface="Arial"/>
              </a:rPr>
              <a:t>•  Managed serverless — không cần VPC, ECS, NAT</a:t>
            </a:r>
          </a:p>
          <a:p>
            <a:pPr algn="l">
              <a:lnSpc>
                <a:spcPct val="155000"/>
              </a:lnSpc>
            </a:pPr>
            <a:r>
              <a:rPr sz="1600" b="1">
                <a:solidFill>
                  <a:srgbClr val="8C4FFF"/>
                </a:solidFill>
                <a:latin typeface="Arial"/>
              </a:rPr>
              <a:t>•  Mỗi session = 1 microVM riêng (isolation)</a:t>
            </a:r>
          </a:p>
          <a:p>
            <a:pPr algn="l">
              <a:lnSpc>
                <a:spcPct val="155000"/>
              </a:lnSpc>
            </a:pPr>
            <a:r>
              <a:rPr sz="1600" b="1">
                <a:solidFill>
                  <a:srgbClr val="8C4FFF"/>
                </a:solidFill>
                <a:latin typeface="Arial"/>
              </a:rPr>
              <a:t>•  $0 khi idle — service tự wake khi có session</a:t>
            </a:r>
          </a:p>
          <a:p>
            <a:pPr algn="l">
              <a:lnSpc>
                <a:spcPct val="155000"/>
              </a:lnSpc>
            </a:pPr>
            <a:r>
              <a:rPr sz="1600" b="1">
                <a:solidFill>
                  <a:srgbClr val="8C4FFF"/>
                </a:solidFill>
                <a:latin typeface="Arial"/>
              </a:rPr>
              <a:t>•  Session tối đa 8 giờ (vs Lambda 15 phút)</a:t>
            </a:r>
          </a:p>
          <a:p>
            <a:pPr algn="l">
              <a:lnSpc>
                <a:spcPct val="155000"/>
              </a:lnSpc>
            </a:pPr>
            <a:endParaRPr sz="1600" b="1">
              <a:solidFill>
                <a:srgbClr val="8C4FFF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4663440"/>
            <a:ext cx="11064240" cy="1600200"/>
          </a:xfrm>
          <a:prstGeom prst="roundRect">
            <a:avLst>
              <a:gd name="adj" fmla="val 5000"/>
            </a:avLst>
          </a:prstGeom>
          <a:solidFill>
            <a:srgbClr val="1C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8A3D"/>
                </a:solidFill>
                <a:latin typeface="Trebuchet MS"/>
              </a:rPr>
              <a:t>AgentCore vs ECS Fargate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663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AgentCore: first-party agent runtime, scale-to-zero thật sự, managed networking, mỗi session một microVM. Fargate phù hợp khi cần always-on hoặc fine-tune VPC/NLB.</a:t>
            </a:r>
          </a:p>
        </p:txBody>
      </p:sp>
      <p:pic>
        <p:nvPicPr>
          <p:cNvPr id="12" name="Picture 11" descr="fcj-logo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loud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657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Trebuchet MS"/>
              </a:rPr>
              <a:t>Edge + auth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05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7A6BA"/>
                </a:solidFill>
                <a:latin typeface="Arial"/>
              </a:rPr>
              <a:t>CloudFront → S3 widget  ·  Lambda Function URL = SigV4 presigner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194560" cy="256032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loud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011680"/>
            <a:ext cx="822960" cy="822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8803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CloudFront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2E8F0"/>
                </a:solidFill>
                <a:latin typeface="Arial"/>
              </a:rPr>
              <a:t>HTTPS + OAC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59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26080" y="1783080"/>
            <a:ext cx="2194560" cy="256032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11680"/>
            <a:ext cx="822960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26080" y="28803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S3 widget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91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2E8F0"/>
                </a:solidFill>
                <a:latin typeface="Arial"/>
              </a:rPr>
              <a:t>Static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65759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12080" y="1783080"/>
            <a:ext cx="2194560" cy="256032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lamb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011680"/>
            <a:ext cx="822960" cy="822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2080" y="28803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Lambda 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91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2E8F0"/>
                </a:solidFill>
                <a:latin typeface="Arial"/>
              </a:rPr>
              <a:t>SigV4 presigner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59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98079" y="1783080"/>
            <a:ext cx="4206240" cy="443484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79" y="1783080"/>
            <a:ext cx="4206240" cy="502920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59" y="178308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TẠI SAO CẦN PRESIGNER?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468880"/>
            <a:ext cx="37490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>
                <a:solidFill>
                  <a:srgbClr val="42B4FF"/>
                </a:solidFill>
                <a:latin typeface="Arial"/>
              </a:rPr>
              <a:t>•  Browser không tự ký SigV4 cho WS upgrade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42B4FF"/>
                </a:solidFill>
                <a:latin typeface="Arial"/>
              </a:rPr>
              <a:t>•  Không muốn dùng Cognito/OIDC cho demo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42B4FF"/>
                </a:solidFill>
                <a:latin typeface="Arial"/>
              </a:rPr>
              <a:t>•  Lambda tạo URL có thời hạn 5 phút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42B4FF"/>
                </a:solidFill>
                <a:latin typeface="Arial"/>
              </a:rPr>
              <a:t>•  Gọi 1 lần mỗi khi user record</a:t>
            </a:r>
          </a:p>
          <a:p>
            <a:pPr algn="l">
              <a:lnSpc>
                <a:spcPct val="155000"/>
              </a:lnSpc>
            </a:pPr>
            <a:endParaRPr sz="1400" b="1">
              <a:solidFill>
                <a:srgbClr val="42B4FF"/>
              </a:solidFill>
              <a:latin typeface="Arial"/>
            </a:endParaRPr>
          </a:p>
        </p:txBody>
      </p:sp>
      <p:pic>
        <p:nvPicPr>
          <p:cNvPr id="26" name="Picture 25" descr="fcj-logo-lock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Trebuchet MS"/>
              </a:rPr>
              <a:t>Một voice turn đi qua những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7A6BA"/>
                </a:solidFill>
                <a:latin typeface="Arial"/>
              </a:rPr>
              <a:t>5 bước / 1 turn  ·  end-to-end &lt; 3s p95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249424" cy="3977639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2249424" cy="457200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01368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BƯỚC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97510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Browser xin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presigned WSS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97510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Lambda presigner ký URL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SigV4, TTL 5 phút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" y="1783080"/>
            <a:ext cx="2249424" cy="3977639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71216" y="1783080"/>
            <a:ext cx="2249424" cy="457200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71216" y="1801368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BƯỚC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2468880"/>
            <a:ext cx="197510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Browser mở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WebSocket → AgentCore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4023360"/>
            <a:ext cx="197510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Không cần SDK,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vanilla 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8072" y="1783080"/>
            <a:ext cx="2249424" cy="3977639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48072" y="1783080"/>
            <a:ext cx="2249424" cy="457200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48072" y="1801368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BƯỚC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2468880"/>
            <a:ext cx="197510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dirty="0" err="1">
                <a:solidFill>
                  <a:srgbClr val="FFFFFF"/>
                </a:solidFill>
                <a:latin typeface="Trebuchet MS"/>
              </a:rPr>
              <a:t>Pipecat</a:t>
            </a:r>
            <a:r>
              <a:rPr sz="1500" b="1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Trebuchet MS"/>
              </a:rPr>
              <a:t>nhận</a:t>
            </a:r>
            <a:endParaRPr sz="1500" b="1" dirty="0">
              <a:solidFill>
                <a:srgbClr val="FFFFFF"/>
              </a:solidFill>
              <a:latin typeface="Trebuchet MS"/>
            </a:endParaRPr>
          </a:p>
          <a:p>
            <a:pPr algn="l">
              <a:lnSpc>
                <a:spcPct val="125000"/>
              </a:lnSpc>
            </a:pPr>
            <a:r>
              <a:rPr sz="1500" b="1" dirty="0">
                <a:solidFill>
                  <a:srgbClr val="FFFFFF"/>
                </a:solidFill>
                <a:latin typeface="Trebuchet MS"/>
              </a:rPr>
              <a:t>mic PCM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4023360"/>
            <a:ext cx="197510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16 kHz mono Int16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qua WebSocket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4928" y="1783080"/>
            <a:ext cx="2249424" cy="3977639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24928" y="1783080"/>
            <a:ext cx="2249424" cy="457200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24928" y="1801368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BƯỚC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468880"/>
            <a:ext cx="197510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Sonic gọi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lookup_product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4023360"/>
            <a:ext cx="197510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97A6BA"/>
                </a:solidFill>
                <a:latin typeface="Arial"/>
              </a:rPr>
              <a:t>Bedrock KB Retrieve →</a:t>
            </a: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97A6BA"/>
                </a:solidFill>
                <a:latin typeface="Arial"/>
              </a:rPr>
              <a:t>S3 Vectors → top-3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01784" y="1783080"/>
            <a:ext cx="2249424" cy="3977639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01784" y="1783080"/>
            <a:ext cx="2249424" cy="457200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01784" y="1801368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BƯỚC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4" y="2468880"/>
            <a:ext cx="197510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Sonic phát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audio 24 kHz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38944" y="4023360"/>
            <a:ext cx="197510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97A6BA"/>
                </a:solidFill>
                <a:latin typeface="Arial"/>
              </a:rPr>
              <a:t>Browser </a:t>
            </a:r>
            <a:r>
              <a:rPr sz="1100" b="0" dirty="0" err="1">
                <a:solidFill>
                  <a:srgbClr val="97A6BA"/>
                </a:solidFill>
                <a:latin typeface="Arial"/>
              </a:rPr>
              <a:t>phát</a:t>
            </a:r>
            <a:endParaRPr sz="1100" b="0" dirty="0">
              <a:solidFill>
                <a:srgbClr val="97A6BA"/>
              </a:solidFill>
              <a:latin typeface="Arial"/>
            </a:endParaRP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97A6BA"/>
                </a:solidFill>
                <a:latin typeface="Arial"/>
              </a:rPr>
              <a:t>qua audio worklet</a:t>
            </a:r>
          </a:p>
        </p:txBody>
      </p:sp>
      <p:pic>
        <p:nvPicPr>
          <p:cNvPr id="33" name="Picture 32" descr="fcj-logo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-3200400"/>
            <a:ext cx="10058400" cy="10058400"/>
          </a:xfrm>
          <a:prstGeom prst="ellipse">
            <a:avLst/>
          </a:prstGeom>
          <a:gradFill rotWithShape="1">
            <a:gsLst>
              <a:gs pos="0">
                <a:srgbClr val="42B4FF"/>
              </a:gs>
              <a:gs pos="33000">
                <a:srgbClr val="8C4FFF"/>
              </a:gs>
              <a:gs pos="66000">
                <a:srgbClr val="D43AC8"/>
              </a:gs>
              <a:gs pos="100000">
                <a:srgbClr val="FF8A3D"/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5720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0" b="1">
                <a:solidFill>
                  <a:srgbClr val="42B4FF"/>
                </a:solidFill>
                <a:latin typeface="Trebuchet M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160520"/>
            <a:ext cx="3200400" cy="9144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434840"/>
            <a:ext cx="10515600" cy="728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dirty="0">
                <a:solidFill>
                  <a:srgbClr val="FFFFFF"/>
                </a:solidFill>
                <a:latin typeface="Trebuchet MS"/>
              </a:rP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dirty="0" err="1">
                <a:solidFill>
                  <a:srgbClr val="E2E8F0"/>
                </a:solidFill>
                <a:latin typeface="Arial"/>
              </a:rPr>
              <a:t>Số</a:t>
            </a:r>
            <a:r>
              <a:rPr sz="1800" b="0" dirty="0">
                <a:solidFill>
                  <a:srgbClr val="E2E8F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E2E8F0"/>
                </a:solidFill>
                <a:latin typeface="Arial"/>
              </a:rPr>
              <a:t>liệu</a:t>
            </a:r>
            <a:r>
              <a:rPr sz="1800" b="0" dirty="0">
                <a:solidFill>
                  <a:srgbClr val="E2E8F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E2E8F0"/>
                </a:solidFill>
                <a:latin typeface="Arial"/>
              </a:rPr>
              <a:t>thực</a:t>
            </a:r>
            <a:r>
              <a:rPr sz="1800" b="0" dirty="0">
                <a:solidFill>
                  <a:srgbClr val="E2E8F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E2E8F0"/>
                </a:solidFill>
                <a:latin typeface="Arial"/>
              </a:rPr>
              <a:t>tế</a:t>
            </a:r>
            <a:r>
              <a:rPr sz="1800" b="0" dirty="0">
                <a:solidFill>
                  <a:srgbClr val="E2E8F0"/>
                </a:solidFill>
                <a:latin typeface="Arial"/>
              </a:rPr>
              <a:t> · surprises · v2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Trebuchet M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7A6BA"/>
                </a:solidFill>
                <a:latin typeface="Arial"/>
              </a:rPr>
              <a:t>Public URL  ·  click record  ·  nói và nghe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70408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95951"/>
            <a:ext cx="6858000" cy="40719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79" y="1783080"/>
            <a:ext cx="3749039" cy="429768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1920240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2B4FF"/>
                </a:solidFill>
                <a:latin typeface="Trebuchet MS"/>
              </a:rPr>
              <a:t>DEMO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286000"/>
            <a:ext cx="3291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FFFFFF"/>
                </a:solidFill>
                <a:latin typeface="Arial"/>
              </a:rPr>
              <a:t>dg0w939ktclw6.cloudfront.net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834640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2B4FF"/>
                </a:solidFill>
                <a:latin typeface="Trebuchet MS"/>
              </a:rPr>
              <a:t>THỬ VỚI CÂU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246120"/>
            <a:ext cx="329183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“Do you have MacBook Pro?”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“What about iPhone 13 stock?”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“Tell me about Apple Watch.”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5029200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8A3D"/>
                </a:solidFill>
                <a:latin typeface="Trebuchet MS"/>
              </a:rPr>
              <a:t>LƯU 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440680"/>
            <a:ext cx="32918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dirty="0">
                <a:solidFill>
                  <a:srgbClr val="97A6BA"/>
                </a:solidFill>
                <a:latin typeface="Arial"/>
              </a:rPr>
              <a:t>Cap $5/day  ·  concurrency = 2.</a:t>
            </a:r>
          </a:p>
          <a:p>
            <a:pPr algn="l">
              <a:lnSpc>
                <a:spcPct val="140000"/>
              </a:lnSpc>
            </a:pPr>
            <a:r>
              <a:rPr sz="1100" b="0" dirty="0" err="1">
                <a:solidFill>
                  <a:srgbClr val="97A6BA"/>
                </a:solidFill>
                <a:latin typeface="Arial"/>
              </a:rPr>
              <a:t>Nếu</a:t>
            </a:r>
            <a:r>
              <a:rPr sz="1100" b="0" dirty="0">
                <a:solidFill>
                  <a:srgbClr val="97A6BA"/>
                </a:solidFill>
                <a:latin typeface="Arial"/>
              </a:rPr>
              <a:t> busy </a:t>
            </a:r>
            <a:r>
              <a:rPr sz="1100" b="0" dirty="0" err="1">
                <a:solidFill>
                  <a:srgbClr val="97A6BA"/>
                </a:solidFill>
                <a:latin typeface="Arial"/>
              </a:rPr>
              <a:t>sẽ</a:t>
            </a:r>
            <a:r>
              <a:rPr sz="1100" b="0" dirty="0">
                <a:solidFill>
                  <a:srgbClr val="97A6BA"/>
                </a:solidFill>
                <a:latin typeface="Arial"/>
              </a:rPr>
              <a:t> queue </a:t>
            </a:r>
            <a:r>
              <a:rPr sz="1100" b="0" dirty="0" err="1">
                <a:solidFill>
                  <a:srgbClr val="97A6BA"/>
                </a:solidFill>
                <a:latin typeface="Arial"/>
              </a:rPr>
              <a:t>vài</a:t>
            </a:r>
            <a:r>
              <a:rPr sz="1100" b="0" dirty="0">
                <a:solidFill>
                  <a:srgbClr val="97A6B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7A6BA"/>
                </a:solidFill>
                <a:latin typeface="Arial"/>
              </a:rPr>
              <a:t>giây</a:t>
            </a:r>
            <a:r>
              <a:rPr sz="1100" b="0" dirty="0">
                <a:solidFill>
                  <a:srgbClr val="97A6BA"/>
                </a:solidFill>
                <a:latin typeface="Arial"/>
              </a:rPr>
              <a:t>.</a:t>
            </a:r>
          </a:p>
        </p:txBody>
      </p:sp>
      <p:pic>
        <p:nvPicPr>
          <p:cNvPr id="15" name="Picture 14" descr="fcj-logo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Trebuchet MS"/>
              </a:rPr>
              <a:t>Số liệu thực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7A6BA"/>
                </a:solidFill>
                <a:latin typeface="Arial"/>
              </a:rPr>
              <a:t>Cost  ·  latency  ·  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657600" cy="1993392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657600" cy="73152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42B4FF"/>
                </a:solidFill>
                <a:latin typeface="Trebuchet MS"/>
              </a:rPr>
              <a:t>&lt;$1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/h burst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Voice + KB +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3657600" cy="1993392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3657600" cy="73152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3DE8A1"/>
                </a:solidFill>
                <a:latin typeface="Trebuchet MS"/>
              </a:rPr>
              <a:t>~$0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803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idle qua đêm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91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AgentCore $0, S3V $0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83080"/>
            <a:ext cx="3657600" cy="1993392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783080"/>
            <a:ext cx="3657600" cy="73152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8C4FFF"/>
                </a:solidFill>
                <a:latin typeface="Trebuchet MS"/>
              </a:rPr>
              <a:t>0.86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8803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KB top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91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iPhone 13 stock 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41064"/>
            <a:ext cx="3657600" cy="1993392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941064"/>
            <a:ext cx="3657600" cy="73152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123944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42B4FF"/>
                </a:solidFill>
                <a:latin typeface="Trebuchet MS"/>
              </a:rPr>
              <a:t>&lt;3s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3834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p95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4982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dirty="0">
                <a:solidFill>
                  <a:srgbClr val="97A6BA"/>
                </a:solidFill>
                <a:latin typeface="Arial"/>
              </a:rPr>
              <a:t>end-of-</a:t>
            </a:r>
            <a:r>
              <a:rPr sz="1100" b="0" dirty="0" err="1">
                <a:solidFill>
                  <a:srgbClr val="97A6BA"/>
                </a:solidFill>
                <a:latin typeface="Arial"/>
              </a:rPr>
              <a:t>utt</a:t>
            </a:r>
            <a:r>
              <a:rPr sz="1100" b="0" dirty="0">
                <a:solidFill>
                  <a:srgbClr val="97A6BA"/>
                </a:solidFill>
                <a:latin typeface="Arial"/>
              </a:rPr>
              <a:t> → audio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941064"/>
            <a:ext cx="3657600" cy="1993392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3941064"/>
            <a:ext cx="3657600" cy="73152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4123944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3DE8A1"/>
                </a:solidFill>
                <a:latin typeface="Trebuchet MS"/>
              </a:rPr>
              <a:t>$0.017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03834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/phút conversation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44982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Nova 2 Sonic pricing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941064"/>
            <a:ext cx="3657600" cy="1993392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3941064"/>
            <a:ext cx="3657600" cy="73152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4123944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503834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544982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pic>
        <p:nvPicPr>
          <p:cNvPr id="36" name="Picture 35" descr="fcj-logo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66479"/>
            <a:ext cx="11247120" cy="5300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FFFFFF"/>
                </a:solidFill>
                <a:latin typeface="Trebuchet MS"/>
              </a:rPr>
              <a:t>Hướng</a:t>
            </a:r>
            <a:r>
              <a:rPr sz="3200" b="1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Trebuchet MS"/>
              </a:rPr>
              <a:t>mở</a:t>
            </a:r>
            <a:r>
              <a:rPr sz="3200" b="1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Trebuchet MS"/>
              </a:rPr>
              <a:t>rộng</a:t>
            </a:r>
            <a:endParaRPr sz="3200" b="1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97A6BA"/>
                </a:solidFill>
                <a:latin typeface="Arial"/>
              </a:rPr>
              <a:t>Tại</a:t>
            </a:r>
            <a:r>
              <a:rPr sz="1400" b="0" dirty="0">
                <a:solidFill>
                  <a:srgbClr val="97A6B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97A6BA"/>
                </a:solidFill>
                <a:latin typeface="Arial"/>
              </a:rPr>
              <a:t>sao</a:t>
            </a:r>
            <a:r>
              <a:rPr sz="1400" b="0" dirty="0">
                <a:solidFill>
                  <a:srgbClr val="97A6B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97A6BA"/>
                </a:solidFill>
                <a:latin typeface="Arial"/>
              </a:rPr>
              <a:t>giữ</a:t>
            </a:r>
            <a:r>
              <a:rPr sz="1400" b="0" dirty="0">
                <a:solidFill>
                  <a:srgbClr val="97A6BA"/>
                </a:solidFill>
                <a:latin typeface="Arial"/>
              </a:rPr>
              <a:t> v1 </a:t>
            </a:r>
            <a:r>
              <a:rPr sz="1400" b="0" dirty="0" err="1">
                <a:solidFill>
                  <a:srgbClr val="97A6BA"/>
                </a:solidFill>
                <a:latin typeface="Arial"/>
              </a:rPr>
              <a:t>và</a:t>
            </a:r>
            <a:r>
              <a:rPr sz="1400" b="0" dirty="0">
                <a:solidFill>
                  <a:srgbClr val="97A6B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97A6BA"/>
                </a:solidFill>
                <a:latin typeface="Arial"/>
              </a:rPr>
              <a:t>hướng</a:t>
            </a:r>
            <a:r>
              <a:rPr sz="1400" b="0" dirty="0">
                <a:solidFill>
                  <a:srgbClr val="97A6B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97A6BA"/>
                </a:solidFill>
                <a:latin typeface="Arial"/>
              </a:rPr>
              <a:t>mở</a:t>
            </a:r>
            <a:r>
              <a:rPr sz="1400" b="0" dirty="0">
                <a:solidFill>
                  <a:srgbClr val="97A6B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97A6BA"/>
                </a:solidFill>
                <a:latin typeface="Arial"/>
              </a:rPr>
              <a:t>rộng</a:t>
            </a:r>
            <a:r>
              <a:rPr sz="1400" b="0" dirty="0">
                <a:solidFill>
                  <a:srgbClr val="97A6BA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97A6BA"/>
                </a:solidFill>
                <a:latin typeface="Arial"/>
              </a:rPr>
              <a:t>tiếp</a:t>
            </a:r>
            <a:endParaRPr sz="1400" b="0" dirty="0">
              <a:solidFill>
                <a:srgbClr val="97A6BA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828800" cy="1033271"/>
          </a:xfrm>
          <a:prstGeom prst="roundRect">
            <a:avLst>
              <a:gd name="adj" fmla="val 5000"/>
            </a:avLst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828800" cy="10332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dirty="0">
                <a:solidFill>
                  <a:srgbClr val="FFFFFF"/>
                </a:solidFill>
                <a:latin typeface="Trebuchet MS"/>
              </a:rPr>
              <a:t>v2.0 Twilio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783080"/>
            <a:ext cx="9189720" cy="1033271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80" y="1892808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FFFFFF"/>
                </a:solidFill>
                <a:latin typeface="Trebuchet MS"/>
              </a:rPr>
              <a:t>App Runner edge </a:t>
            </a:r>
            <a:r>
              <a:rPr sz="1400" b="1" dirty="0" err="1">
                <a:solidFill>
                  <a:srgbClr val="FFFFFF"/>
                </a:solidFill>
                <a:latin typeface="Trebuchet MS"/>
              </a:rPr>
              <a:t>từ</a:t>
            </a:r>
            <a:r>
              <a:rPr sz="1400" b="1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Trebuchet MS"/>
              </a:rPr>
              <a:t>chối</a:t>
            </a:r>
            <a:r>
              <a:rPr sz="1400" b="1" dirty="0">
                <a:solidFill>
                  <a:srgbClr val="FFFFFF"/>
                </a:solidFill>
                <a:latin typeface="Trebuchet MS"/>
              </a:rPr>
              <a:t> inbound WS upgrade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31343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97A6BA"/>
                </a:solidFill>
                <a:latin typeface="Arial"/>
              </a:rPr>
              <a:t>Bridge code </a:t>
            </a:r>
            <a:r>
              <a:rPr sz="1100" b="0" dirty="0" err="1">
                <a:solidFill>
                  <a:srgbClr val="97A6BA"/>
                </a:solidFill>
                <a:latin typeface="Arial"/>
              </a:rPr>
              <a:t>đúng</a:t>
            </a:r>
            <a:r>
              <a:rPr sz="1100" b="0" dirty="0">
                <a:solidFill>
                  <a:srgbClr val="97A6BA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7A6BA"/>
                </a:solidFill>
                <a:latin typeface="Arial"/>
              </a:rPr>
              <a:t>nhưng</a:t>
            </a:r>
            <a:r>
              <a:rPr sz="1100" b="0" dirty="0">
                <a:solidFill>
                  <a:srgbClr val="97A6BA"/>
                </a:solidFill>
                <a:latin typeface="Arial"/>
              </a:rPr>
              <a:t> compute target defective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07791"/>
            <a:ext cx="1828800" cy="1033271"/>
          </a:xfrm>
          <a:prstGeom prst="roundRect">
            <a:avLst>
              <a:gd name="adj" fmla="val 5000"/>
            </a:avLst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907791"/>
            <a:ext cx="1828800" cy="10332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Trebuchet MS"/>
              </a:rPr>
              <a:t>Tương lai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2907791"/>
            <a:ext cx="9189720" cy="1033271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97480" y="3017519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Trebuchet MS"/>
              </a:rPr>
              <a:t>Multi-language, multi-agent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3438143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7A6BA"/>
                </a:solidFill>
                <a:latin typeface="Arial"/>
              </a:rPr>
              <a:t>Persistent conversation, AgentCore vs ECS</a:t>
            </a:r>
          </a:p>
        </p:txBody>
      </p:sp>
      <p:pic>
        <p:nvPicPr>
          <p:cNvPr id="26" name="Picture 25" descr="fcj-logo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FFFFFF"/>
                </a:solidFill>
                <a:latin typeface="Trebuchet MS"/>
              </a:rPr>
              <a:t>Recap</a:t>
            </a:r>
            <a:endParaRPr sz="3200" b="1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7A6BA"/>
                </a:solidFill>
                <a:latin typeface="Arial"/>
              </a:rPr>
              <a:t>Xây voice agent: 1 speech-to-speech model + tool calling + RAG, trên hạ tầng managed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440680" cy="502920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CÔNG THỨC VOICE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 dirty="0">
                <a:solidFill>
                  <a:srgbClr val="8C4FFF"/>
                </a:solidFill>
                <a:latin typeface="Arial"/>
              </a:rPr>
              <a:t>Speech-to-speech: Nova 2 Sonic — 1 model, &lt; 3s/turn, barge-in</a:t>
            </a:r>
          </a:p>
          <a:p>
            <a:pPr algn="l">
              <a:lnSpc>
                <a:spcPct val="155000"/>
              </a:lnSpc>
            </a:pPr>
            <a:r>
              <a:rPr sz="1400" b="1" dirty="0">
                <a:solidFill>
                  <a:srgbClr val="8C4FFF"/>
                </a:solidFill>
                <a:latin typeface="Arial"/>
              </a:rPr>
              <a:t>Tool calling + RAG: Sonic gọi lookup_product → KB → S3 Vectors</a:t>
            </a:r>
          </a:p>
          <a:p>
            <a:pPr algn="l">
              <a:lnSpc>
                <a:spcPct val="155000"/>
              </a:lnSpc>
            </a:pPr>
            <a:r>
              <a:rPr sz="1400" b="1" dirty="0">
                <a:solidFill>
                  <a:srgbClr val="8C4FFF"/>
                </a:solidFill>
                <a:latin typeface="Arial"/>
              </a:rPr>
              <a:t>Pipecat: lo audio frame, barge-in, rotate stream — 1 ngày là chạy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5440680" cy="502920"/>
          </a:xfrm>
          <a:prstGeom prst="rect">
            <a:avLst/>
          </a:prstGeom>
          <a:gradFill rotWithShape="1">
            <a:gsLst>
              <a:gs pos="0">
                <a:srgbClr val="42B4FF"/>
              </a:gs>
              <a:gs pos="100000">
                <a:srgbClr val="8C4F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RẺ · GỌN · QUAN SÁT ĐƯỢC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>
                <a:solidFill>
                  <a:srgbClr val="42B4FF"/>
                </a:solidFill>
                <a:latin typeface="Arial"/>
              </a:rPr>
              <a:t>Managed/serverless: AgentCore scale-to-zero, $0 khi idle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42B4FF"/>
                </a:solidFill>
                <a:latin typeface="Arial"/>
              </a:rPr>
              <a:t>Quan sát được: Langfuse trace mỗi cuộc hội thoại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42B4FF"/>
                </a:solidFill>
                <a:latin typeface="Arial"/>
              </a:rPr>
              <a:t>KHÔNG ECS/EC2/VPC tự quản — idle ~$0, demo &lt; $1/h</a:t>
            </a:r>
          </a:p>
        </p:txBody>
      </p:sp>
      <p:pic>
        <p:nvPicPr>
          <p:cNvPr id="14" name="Picture 13" descr="fcj-logo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55080"/>
            <a:ext cx="1417320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1680" y="6446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Arial"/>
              </a:rPr>
              <a:t>© 2026, Amazon Web Services, Inc. or its affiliates.  All rights reserved.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0" y="-1371600"/>
            <a:ext cx="9144000" cy="9144000"/>
          </a:xfrm>
          <a:prstGeom prst="ellipse">
            <a:avLst/>
          </a:prstGeom>
          <a:gradFill rotWithShape="1">
            <a:gsLst>
              <a:gs pos="0">
                <a:srgbClr val="42B4FF"/>
              </a:gs>
              <a:gs pos="33000">
                <a:srgbClr val="8C4FFF"/>
              </a:gs>
              <a:gs pos="66000">
                <a:srgbClr val="D43AC8"/>
              </a:gs>
              <a:gs pos="100000">
                <a:srgbClr val="FF8A3D"/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058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0" b="1">
                <a:solidFill>
                  <a:srgbClr val="FFFFFF"/>
                </a:solidFill>
                <a:latin typeface="Trebuchet MS"/>
              </a:rPr>
              <a:t>Cảm ơn!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43200"/>
            <a:ext cx="2743200" cy="91440"/>
          </a:xfrm>
          <a:prstGeom prst="rect">
            <a:avLst/>
          </a:prstGeom>
          <a:gradFill rotWithShape="1">
            <a:gsLst>
              <a:gs pos="0">
                <a:srgbClr val="FF8A3D"/>
              </a:gs>
              <a:gs pos="33000">
                <a:srgbClr val="E1381E"/>
              </a:gs>
              <a:gs pos="66000">
                <a:srgbClr val="8C4FFF"/>
              </a:gs>
              <a:gs pos="100000">
                <a:srgbClr val="42B4F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2E8F0"/>
                </a:solidFill>
                <a:latin typeface="Trebuchet MS"/>
              </a:rPr>
              <a:t>Câu hỏi và thảo luận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3360"/>
            <a:ext cx="5943600" cy="182880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Trebuchet MS"/>
              </a:rPr>
              <a:t>Kiet Tran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5486400" cy="194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97A6BA"/>
                </a:solidFill>
                <a:latin typeface="Arial"/>
              </a:rPr>
              <a:t>Builder · AWS </a:t>
            </a:r>
            <a:r>
              <a:rPr lang="en-US" sz="1200" dirty="0">
                <a:solidFill>
                  <a:srgbClr val="97A6BA"/>
                </a:solidFill>
                <a:latin typeface="Arial"/>
              </a:rPr>
              <a:t>Student Builder Group HUFLIT</a:t>
            </a:r>
            <a:endParaRPr sz="1200" b="0" dirty="0">
              <a:solidFill>
                <a:srgbClr val="97A6B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5486400" cy="194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200" dirty="0">
                <a:solidFill>
                  <a:srgbClr val="42B4FF"/>
                </a:solidFill>
                <a:latin typeface="Arial"/>
              </a:rPr>
              <a:t>trantankiet140401</a:t>
            </a:r>
            <a:r>
              <a:rPr sz="1200" b="0" dirty="0">
                <a:solidFill>
                  <a:srgbClr val="42B4FF"/>
                </a:solidFill>
                <a:latin typeface="Arial"/>
              </a:rPr>
              <a:t>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2B4FF"/>
                </a:solidFill>
                <a:latin typeface="Arial"/>
              </a:rPr>
              <a:t>github.com/KenzyTran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02336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41605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2B4FF"/>
                </a:solidFill>
                <a:latin typeface="Trebuchet MS"/>
              </a:rPr>
              <a:t>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5262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E2E8F0"/>
                </a:solidFill>
                <a:latin typeface="Arial"/>
              </a:rPr>
              <a:t>github.com/</a:t>
            </a:r>
            <a:r>
              <a:rPr sz="1200" b="0" dirty="0" err="1">
                <a:solidFill>
                  <a:srgbClr val="E2E8F0"/>
                </a:solidFill>
                <a:latin typeface="Arial"/>
              </a:rPr>
              <a:t>KenzyTran</a:t>
            </a:r>
            <a:r>
              <a:rPr sz="1200" b="0" dirty="0">
                <a:solidFill>
                  <a:srgbClr val="E2E8F0"/>
                </a:solidFill>
                <a:latin typeface="Arial"/>
              </a:rPr>
              <a:t>/</a:t>
            </a:r>
            <a:r>
              <a:rPr sz="1200" b="0" dirty="0" err="1">
                <a:solidFill>
                  <a:srgbClr val="E2E8F0"/>
                </a:solidFill>
                <a:latin typeface="Arial"/>
              </a:rPr>
              <a:t>hera</a:t>
            </a:r>
            <a:endParaRPr sz="1200" b="0" dirty="0">
              <a:solidFill>
                <a:srgbClr val="E2E8F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1390</Words>
  <Application>Microsoft Office PowerPoint</Application>
  <PresentationFormat>Widescreen</PresentationFormat>
  <Paragraphs>212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Tran Kiet</cp:lastModifiedBy>
  <cp:revision>33</cp:revision>
  <dcterms:created xsi:type="dcterms:W3CDTF">2013-01-27T09:14:16Z</dcterms:created>
  <dcterms:modified xsi:type="dcterms:W3CDTF">2026-05-30T11:23:36Z</dcterms:modified>
  <cp:category/>
</cp:coreProperties>
</file>