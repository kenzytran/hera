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2" r:id="rId6"/>
    <p:sldId id="261" r:id="rId7"/>
    <p:sldId id="258" r:id="rId8"/>
    <p:sldId id="265" r:id="rId9"/>
    <p:sldId id="266" r:id="rId10"/>
    <p:sldId id="267" r:id="rId11"/>
    <p:sldId id="268" r:id="rId12"/>
    <p:sldId id="269" r:id="rId13"/>
    <p:sldId id="270" r:id="rId14"/>
    <p:sldId id="263" r:id="rId15"/>
    <p:sldId id="271" r:id="rId16"/>
    <p:sldId id="272" r:id="rId17"/>
    <p:sldId id="273" r:id="rId18"/>
    <p:sldId id="275" r:id="rId19"/>
    <p:sldId id="274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943600" y="-22860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dirty="0">
                <a:solidFill>
                  <a:srgbClr val="E2E8F0"/>
                </a:solidFill>
                <a:latin typeface="Arial"/>
              </a:rPr>
              <a:t>AWS STUDENT BUILDER GROUP VIETNAM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058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b="1" dirty="0">
                <a:solidFill>
                  <a:srgbClr val="97A6BA"/>
                </a:solidFill>
                <a:latin typeface="Arial"/>
              </a:rPr>
              <a:t>30</a:t>
            </a:r>
            <a:r>
              <a:rPr sz="1200" b="1" dirty="0">
                <a:solidFill>
                  <a:srgbClr val="97A6BA"/>
                </a:solidFill>
                <a:latin typeface="Arial"/>
              </a:rPr>
              <a:t>-05-2026  ·  Ho Chi Minh 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dirty="0">
                <a:solidFill>
                  <a:srgbClr val="FFFFFF"/>
                </a:solidFill>
                <a:latin typeface="Trebuchet MS"/>
              </a:rPr>
              <a:t>Hera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 dirty="0">
                <a:solidFill>
                  <a:srgbClr val="FFFFFF"/>
                </a:solidFill>
                <a:latin typeface="Trebuchet MS"/>
              </a:rPr>
              <a:t>Voice agent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AWS</a:t>
            </a:r>
          </a:p>
          <a:p>
            <a:pPr algn="l">
              <a:lnSpc>
                <a:spcPct val="125000"/>
              </a:lnSpc>
            </a:pPr>
            <a:r>
              <a:rPr sz="2800" b="0" dirty="0" err="1">
                <a:solidFill>
                  <a:srgbClr val="FFFFFF"/>
                </a:solidFill>
                <a:latin typeface="Trebuchet MS"/>
              </a:rPr>
              <a:t>với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Amazon Bedrock Nova 2 Sonic +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AgentCore</a:t>
            </a:r>
            <a:endParaRPr sz="2800" b="0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45720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1965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Tổng quan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3055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Hera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là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gì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kiến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trúc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voice turn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96312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3288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43784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Cascade vs S2S, AWS services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09544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09544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46120"/>
            <a:ext cx="4114800" cy="298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57016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Voice loop live, cost,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22776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922776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959352"/>
            <a:ext cx="4114800" cy="298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b="1" dirty="0">
                <a:solidFill>
                  <a:srgbClr val="FFFFFF"/>
                </a:solidFill>
                <a:latin typeface="Trebuchet MS"/>
              </a:rPr>
              <a:t>Recap</a:t>
            </a:r>
            <a:endParaRPr sz="18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45920" y="42702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Surprises và hướng đi tiếp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67258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5920" y="49834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45920" y="538581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45920" y="569671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0" name="Picture 29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26" name="Picture 25" descr="The image depicts a glowing microphone with swirling, star-like lines radiating outward, set against a dark background with classical columns.&#10;&#10;AI-generated content may be incorrect.">
            <a:extLst>
              <a:ext uri="{FF2B5EF4-FFF2-40B4-BE49-F238E27FC236}">
                <a16:creationId xmlns:a16="http://schemas.microsoft.com/office/drawing/2014/main" id="{690454C6-9B04-F6B3-6A55-53B424181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450" y="0"/>
            <a:ext cx="601415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Hera là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Trợ lý voice-first cho Apple Store, chạy trên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6858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dirty="0" err="1">
                <a:solidFill>
                  <a:srgbClr val="FFFFFF"/>
                </a:solidFill>
                <a:latin typeface="Trebuchet MS"/>
              </a:rPr>
              <a:t>Người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dùng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qua microphone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của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trình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duyệt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agent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trả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bằng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giọng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tự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nhiên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có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RAG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lấy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spec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giá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tồn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kho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sản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phẩm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Apple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knowledge base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nhỏ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S3 Vectors.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68580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Speech-to-speech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với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Nova 2 Sonic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RAG voice tool calling (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lookup_product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Browser-only —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chỉ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cần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microphone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Use case — Apple Store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Demo voice agent + knowledge base 3 SKU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2B4FF"/>
                </a:solidFill>
                <a:latin typeface="Trebuchet MS"/>
              </a:rPr>
              <a:t>Mẫu hội thoại thực tế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317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Do you have MacBook Pro M4 in stock?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689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2461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Yes, we have the 14-inch M4 Pro in Silver and Space Black. The 14-inch starts at $1,999. Anything else?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605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605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What about iPhone 13 Pro Max?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0749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iPhone 13 Pro Max is currently out of stock. Would you like an alternative?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3749039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79" y="17830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KNOWLEDGE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5146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Apple Watch Series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0720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$399  ·  in stock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22783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iPhone 13 Pro 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520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$1,099  ·  out of 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94106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MacBook Pro M4 (14-inch)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42336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$1,999  ·  in stock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502920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Kiến trúc tổng thể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97A6BA"/>
                </a:solidFill>
                <a:latin typeface="Arial"/>
              </a:rPr>
              <a:t>Edge layer + Compute/AI layer  · 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hoàn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toàn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managed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691640"/>
            <a:ext cx="987552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12" name="Picture 11" descr="The diagram illustrates a complex network architecture involving various services like AWS Cloud, Hera, CloudWatch, CloudFront, Nova, Bedrock, Lambda, S3, and Twilio, detailing their roles in data processing, communication, and storage.&#10;&#10;AI-generated content may be incorrect.">
            <a:extLst>
              <a:ext uri="{FF2B5EF4-FFF2-40B4-BE49-F238E27FC236}">
                <a16:creationId xmlns:a16="http://schemas.microsoft.com/office/drawing/2014/main" id="{2D23E5D5-561B-0CB4-7A95-8D99E6AAE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142" y="1872585"/>
            <a:ext cx="7565738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2E8F0"/>
                </a:solidFill>
                <a:latin typeface="Arial"/>
              </a:rPr>
              <a:t>Vì sao chọn từng service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Bài toán: voice AI đổi từ cascade sang speech-to-speech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7A6BA"/>
                </a:solidFill>
                <a:latin typeface="Trebuchet MS"/>
              </a:rPr>
              <a:t>Cách làm cũ (~2023-2024)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9377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3 service nối tiếp: STT → LLM → TTS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Latency cộng dồn 4-6s mỗi turn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Không có barge-in (ngắt lời)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Code phức tạp để ghép 3 vendor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6B7A90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44068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737360"/>
            <a:ext cx="5440680" cy="73152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2B4FF"/>
                </a:solidFill>
                <a:latin typeface="Trebuchet MS"/>
              </a:rPr>
              <a:t>Cách làm mới (2025-2026)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1 foundation model thay cho cả 3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Bidirectional stream, latency &lt;2s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Barge-in tự nhiên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Tool calling trực tiếp từ model → RAG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AWS services dùng trong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9 service  ·  ZERO ECS/EC2/EKS  ·  ZERO VPC tự quản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3454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34540"/>
            <a:ext cx="82296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3212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+ S3 Vectors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gent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034540"/>
            <a:ext cx="822960" cy="822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AgentCore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0148"/>
            <a:ext cx="822960" cy="822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Widget + KB src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loudfro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470148"/>
            <a:ext cx="822960" cy="8229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53212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HTTPS edge + OAC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lamb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470148"/>
            <a:ext cx="822960" cy="8229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3544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Lambda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 presigner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ec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905756"/>
            <a:ext cx="822960" cy="8229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828800" y="491032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ECR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367528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Container image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905756"/>
            <a:ext cx="822960" cy="8229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532120" y="491032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IAM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5367528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Least-priv roles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4905756"/>
            <a:ext cx="822960" cy="8229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0" y="491032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CloudWatch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5367528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Logs+dash+alarm</a:t>
            </a:r>
          </a:p>
        </p:txBody>
      </p:sp>
      <p:pic>
        <p:nvPicPr>
          <p:cNvPr id="42" name="Picture 41" descr="fcj-logo-locku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+ Nova 2 Sonic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Speech-to-speech foundation model — ASR + LLM + TTS trong 1 stream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3291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Bidirectional WebSocket — audio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2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chiều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cùng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lúc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Built-in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gọi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lookup_product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Barge-in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nhiên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,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ngắt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giọng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người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được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Async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trong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khi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tool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nền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11064240" cy="64008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34924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Latency &lt;2s, barge-in tự nhiên, không phải glue 3 vendor</a:t>
            </a: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Bedrock Knowledge Base + S3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RAG layer cho voice agent  ·  serverless storage + retrieve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catalog/*.md  →  S3 source  →  Bedrock ingestion job  →  Titan v2 embed  →  S3 Vectors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RETRIEVE (1 tool call)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lookup_product(query)  →  Retrieve API  →  S3 Vectors search  →  top-3 chunks  →  Sonic reply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S3 Vectors vs OpenSearch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Serverless thật sự — pay per use, không OCU floor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Native integration với Bedrock KB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Hợp workload spiky, read-light, scale dần theo data</a:t>
            </a:r>
          </a:p>
        </p:txBody>
      </p:sp>
      <p:pic>
        <p:nvPicPr>
          <p:cNvPr id="16" name="Picture 15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gen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AgentCore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Managed serverless agent runtime — first-party voice + Pipecat pattern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26974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Managed serverless — không cần VPC, ECS, NAT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Mỗi session = 1 microVM riêng (isolation)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$0 khi idle — service tự wake khi có session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Session tối đa 8 giờ (vs Lambda 15 phút)</a:t>
            </a:r>
          </a:p>
          <a:p>
            <a:pPr algn="l">
              <a:lnSpc>
                <a:spcPct val="155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AgentCore vs ECS Fargate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AgentCore: first-party agent runtime, scale-to-zero thật sự, managed networking, mỗi session một microVM. Fargate phù hợp khi cần always-on hoặc fine-tune VPC/NLB.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Edge + auth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CloudFront → S3 widget  ·  Lambda Function URL = SigV4 presigner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011680"/>
            <a:ext cx="82296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HTTPS + OAC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26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S3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Static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12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lamb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011680"/>
            <a:ext cx="822960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Lambda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SigV4 presigner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98079" y="1783080"/>
            <a:ext cx="420624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79" y="1783080"/>
            <a:ext cx="420624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59" y="17830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TẠI SAO CẦN PRESIGNER?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2468880"/>
            <a:ext cx="374904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Browser không tự ký SigV4 cho WS upgrade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Không muốn dùng Cognito/OIDC cho demo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Lambda tạo URL có thời hạn 5 phút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Gọi 1 lần mỗi khi user record</a:t>
            </a:r>
          </a:p>
          <a:p>
            <a:pPr algn="l">
              <a:lnSpc>
                <a:spcPct val="155000"/>
              </a:lnSpc>
            </a:pPr>
            <a:endParaRPr sz="1400" b="1">
              <a:solidFill>
                <a:srgbClr val="42B4FF"/>
              </a:solidFill>
              <a:latin typeface="Arial"/>
            </a:endParaRP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Observability, security, container supply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Logging · IAM least-privilege · container supply 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37360" y="205740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CloudWatch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32461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dirty="0">
                <a:solidFill>
                  <a:srgbClr val="8C4FFF"/>
                </a:solidFill>
                <a:latin typeface="Arial"/>
              </a:rPr>
              <a:t>•  Dashboard </a:t>
            </a:r>
            <a:r>
              <a:rPr sz="1300" b="1" dirty="0" err="1">
                <a:solidFill>
                  <a:srgbClr val="8C4FFF"/>
                </a:solidFill>
                <a:latin typeface="Arial"/>
              </a:rPr>
              <a:t>với</a:t>
            </a:r>
            <a:r>
              <a:rPr sz="1300" b="1" dirty="0">
                <a:solidFill>
                  <a:srgbClr val="8C4FFF"/>
                </a:solidFill>
                <a:latin typeface="Arial"/>
              </a:rPr>
              <a:t> 5 panel</a:t>
            </a:r>
          </a:p>
          <a:p>
            <a:pPr algn="l">
              <a:lnSpc>
                <a:spcPct val="150000"/>
              </a:lnSpc>
            </a:pPr>
            <a:r>
              <a:rPr sz="1300" b="1" dirty="0">
                <a:solidFill>
                  <a:srgbClr val="8C4FFF"/>
                </a:solidFill>
                <a:latin typeface="Arial"/>
              </a:rPr>
              <a:t>•  Alarm error rate + latency p95</a:t>
            </a:r>
          </a:p>
          <a:p>
            <a:pPr algn="l">
              <a:lnSpc>
                <a:spcPct val="150000"/>
              </a:lnSpc>
            </a:pPr>
            <a:r>
              <a:rPr sz="1300" b="1" dirty="0">
                <a:solidFill>
                  <a:srgbClr val="8C4FFF"/>
                </a:solidFill>
                <a:latin typeface="Arial"/>
              </a:rPr>
              <a:t>•  Billing alarm $5/day</a:t>
            </a:r>
          </a:p>
          <a:p>
            <a:pPr algn="l">
              <a:lnSpc>
                <a:spcPct val="150000"/>
              </a:lnSpc>
            </a:pPr>
            <a:endParaRPr sz="13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0000"/>
              </a:lnSpc>
            </a:pPr>
            <a:endParaRPr sz="13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96596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9280" y="205740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IAM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2461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Least-privilege everywhere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ZERO Resource:* wildcard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Confused-deputy mitigation</a:t>
            </a:r>
          </a:p>
          <a:p>
            <a:pPr algn="l">
              <a:lnSpc>
                <a:spcPct val="150000"/>
              </a:lnSpc>
            </a:pPr>
            <a:endParaRPr sz="1300" b="1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0000"/>
              </a:lnSpc>
            </a:pPr>
            <a:endParaRPr sz="1300" b="1">
              <a:solidFill>
                <a:srgbClr val="8C4FFF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503920" y="178308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ec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1965960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0" y="205740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ECR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926080"/>
            <a:ext cx="32461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Repo IMMUTABLE tags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Scan-on-push enabled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Multi-arch ARM64 + AMD64</a:t>
            </a:r>
          </a:p>
          <a:p>
            <a:pPr algn="l">
              <a:lnSpc>
                <a:spcPct val="150000"/>
              </a:lnSpc>
            </a:pPr>
            <a:endParaRPr sz="1300" b="1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0000"/>
              </a:lnSpc>
            </a:pPr>
            <a:endParaRPr sz="1300" b="1">
              <a:solidFill>
                <a:srgbClr val="8C4FFF"/>
              </a:solidFill>
              <a:latin typeface="Arial"/>
            </a:endParaRPr>
          </a:p>
        </p:txBody>
      </p:sp>
      <p:pic>
        <p:nvPicPr>
          <p:cNvPr id="19" name="Picture 18" descr="fcj-logo-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Một voice turn đi qua những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5 bước / 1 turn  ·  end-to-end &lt; 3s p95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xin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presigned WSS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Lambda presigner ký URL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SigV4, TTL 5 phút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71216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71216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mở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WebSocket → AgentCore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Không cần SDK,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vanilla 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48072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48072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FFFFFF"/>
                </a:solidFill>
                <a:latin typeface="Trebuchet MS"/>
              </a:rPr>
              <a:t>Pipecat</a:t>
            </a:r>
            <a:r>
              <a:rPr sz="15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Trebuchet MS"/>
              </a:rPr>
              <a:t>nhận</a:t>
            </a:r>
            <a:endParaRPr sz="1500" b="1" dirty="0">
              <a:solidFill>
                <a:srgbClr val="FFFFFF"/>
              </a:solidFill>
              <a:latin typeface="Trebuchet MS"/>
            </a:endParaRPr>
          </a:p>
          <a:p>
            <a:pPr algn="l">
              <a:lnSpc>
                <a:spcPct val="125000"/>
              </a:lnSpc>
            </a:pPr>
            <a:r>
              <a:rPr sz="1500" b="1" dirty="0">
                <a:solidFill>
                  <a:srgbClr val="FFFFFF"/>
                </a:solidFill>
                <a:latin typeface="Trebuchet MS"/>
              </a:rPr>
              <a:t>mic PCM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16 kHz mono Int16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qua WebSocket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4928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4928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24928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gọi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lookup_product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Bedrock KB Retrieve →</a:t>
            </a: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S3 Vectors → top-3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01784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701784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4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phát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audio 24 kHz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Browser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phát</a:t>
            </a:r>
            <a:endParaRPr sz="1100" b="0" dirty="0">
              <a:solidFill>
                <a:srgbClr val="97A6BA"/>
              </a:solidFill>
              <a:latin typeface="Arial"/>
            </a:endParaRP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qua audio worklet</a:t>
            </a:r>
          </a:p>
        </p:txBody>
      </p:sp>
      <p:pic>
        <p:nvPicPr>
          <p:cNvPr id="33" name="Picture 32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72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dirty="0">
                <a:solidFill>
                  <a:srgbClr val="FFFFFF"/>
                </a:solidFill>
                <a:latin typeface="Trebuchet MS"/>
              </a:rP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dirty="0" err="1">
                <a:solidFill>
                  <a:srgbClr val="E2E8F0"/>
                </a:solidFill>
                <a:latin typeface="Arial"/>
              </a:rPr>
              <a:t>Số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liệu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thực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tế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· surprises · v2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Public URL  ·  click record  ·  nói và nghe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95951"/>
            <a:ext cx="6858000" cy="407193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79" y="19202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DEMO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86000"/>
            <a:ext cx="3291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dirty="0">
                <a:solidFill>
                  <a:srgbClr val="FFFFFF"/>
                </a:solidFill>
                <a:latin typeface="Arial"/>
              </a:rPr>
              <a:t>dg0w939ktclw6.cloudfront.net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8346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THỬ VỚI CÂU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246120"/>
            <a:ext cx="3291839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“Do you have MacBook Pro?”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“What about iPhone 13 stock?”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“Tell me about Apple Watch.”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502920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8A3D"/>
                </a:solidFill>
                <a:latin typeface="Trebuchet MS"/>
              </a:rPr>
              <a:t>LƯU 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5440680"/>
            <a:ext cx="329183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Cap $5/day  ·  concurrency = 2.</a:t>
            </a:r>
          </a:p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97A6BA"/>
                </a:solidFill>
                <a:latin typeface="Arial"/>
              </a:rPr>
              <a:t>Nếu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busy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sẽ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queue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vài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giây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.</a:t>
            </a:r>
          </a:p>
        </p:txBody>
      </p:sp>
      <p:pic>
        <p:nvPicPr>
          <p:cNvPr id="15" name="Picture 14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Số liệu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Cost  ·  latency  · 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/h burst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Voice + KB +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~$0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idle qua đêm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AgentCore $0, S3V $0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8C4FFF"/>
                </a:solidFill>
                <a:latin typeface="Trebuchet MS"/>
              </a:rPr>
              <a:t>0.86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KB top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iPhone 13 stock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&lt;3s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p95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end-of-utt → audio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8912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$0.017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/phút conversation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 pricing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3816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2104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2104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6" name="Picture 3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66479"/>
            <a:ext cx="11247120" cy="5300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Hướng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mở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rộng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97A6BA"/>
                </a:solidFill>
                <a:latin typeface="Arial"/>
              </a:rPr>
              <a:t>Tại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sao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giữ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v1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và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hướng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mở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rộng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tiếp</a:t>
            </a:r>
            <a:endParaRPr sz="1400" b="0" dirty="0">
              <a:solidFill>
                <a:srgbClr val="97A6BA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v2.0 Twilio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1783080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892808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App Runner edge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chối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inbound WS upgrade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3134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Bridge code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đúng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nhưng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compute target defective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07791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07791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→ Connect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907791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3017519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Pivot sang Amazon Connect + Lex V2 + Polly Neural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438143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Phát hiện: IVR-style, gap 3-5s vs Sonic &lt;2s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32502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D43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032502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DROP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4032502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97480" y="414223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Giữ nguyên v1 Nova Sonic web — newest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562854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Speech-to-speech là hướng đi đúng của ngành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57213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8C4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157213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Tương lai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5157213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97480" y="5266941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Multi-language, multi-agent routing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5687565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Persistent conversation, AgentCore vs ECS</a:t>
            </a: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Recap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Surprises và pitfalls đáng nhớ nhất từ dự 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TECHNICAL SURPRISES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•  Browser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không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ký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được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SigV4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cho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WS →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cần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Lambda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presigner</a:t>
            </a:r>
            <a:endParaRPr sz="14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•  Sonic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có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8-min stream cap →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cần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rotate connection transparent</a:t>
            </a: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•  S3 Vectors metadata cap =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chỉ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2 fields/document</a:t>
            </a:r>
          </a:p>
          <a:p>
            <a:pPr algn="l">
              <a:lnSpc>
                <a:spcPct val="155000"/>
              </a:lnSpc>
            </a:pPr>
            <a:endParaRPr sz="14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OPERATIONAL PITFALLS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ECR phải IMMUTABLE + scan-on-push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Billing alarm BẮT BUỘC ở us-east-1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CloudFront disable chờ 15-30 min trước khi delete</a:t>
            </a:r>
          </a:p>
          <a:p>
            <a:pPr algn="l">
              <a:lnSpc>
                <a:spcPct val="155000"/>
              </a:lnSpc>
            </a:pPr>
            <a:endParaRPr sz="1400" b="1">
              <a:solidFill>
                <a:srgbClr val="42B4FF"/>
              </a:solidFill>
              <a:latin typeface="Arial"/>
            </a:endParaRPr>
          </a:p>
        </p:txBody>
      </p:sp>
      <p:pic>
        <p:nvPicPr>
          <p:cNvPr id="14" name="Picture 13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0" y="-1371600"/>
            <a:ext cx="9144000" cy="91440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058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1">
                <a:solidFill>
                  <a:srgbClr val="FFFFFF"/>
                </a:solidFill>
                <a:latin typeface="Trebuchet MS"/>
              </a:rPr>
              <a:t>Cảm ơn!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27432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2E8F0"/>
                </a:solidFill>
                <a:latin typeface="Trebuchet MS"/>
              </a:rPr>
              <a:t>Câu hỏi và thảo luận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594360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1772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dirty="0">
                <a:solidFill>
                  <a:srgbClr val="42B4FF"/>
                </a:solidFill>
                <a:latin typeface="Arial"/>
              </a:rPr>
              <a:t>trantankiet140401</a:t>
            </a:r>
            <a:r>
              <a:rPr sz="1200" b="0" dirty="0">
                <a:solidFill>
                  <a:srgbClr val="42B4FF"/>
                </a:solidFill>
                <a:latin typeface="Arial"/>
              </a:rPr>
              <a:t>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2B4FF"/>
                </a:solidFill>
                <a:latin typeface="Arial"/>
              </a:rPr>
              <a:t>github.com/KenzyTran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02336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86600" y="41605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Trebuchet MS"/>
              </a:rPr>
              <a:t>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5262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E2E8F0"/>
                </a:solidFill>
                <a:latin typeface="Arial"/>
              </a:rPr>
              <a:t>github.com/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KenzyTran</a:t>
            </a:r>
            <a:r>
              <a:rPr sz="1200" b="0" dirty="0">
                <a:solidFill>
                  <a:srgbClr val="E2E8F0"/>
                </a:solidFill>
                <a:latin typeface="Arial"/>
              </a:rPr>
              <a:t>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hera</a:t>
            </a:r>
            <a:endParaRPr sz="1200" b="0" dirty="0">
              <a:solidFill>
                <a:srgbClr val="E2E8F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1480</Words>
  <Application>Microsoft Office PowerPoint</Application>
  <PresentationFormat>Widescreen</PresentationFormat>
  <Paragraphs>238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Tran Kiet</cp:lastModifiedBy>
  <cp:revision>29</cp:revision>
  <dcterms:created xsi:type="dcterms:W3CDTF">2013-01-27T09:14:16Z</dcterms:created>
  <dcterms:modified xsi:type="dcterms:W3CDTF">2026-05-30T10:04:53Z</dcterms:modified>
  <cp:category/>
</cp:coreProperties>
</file>