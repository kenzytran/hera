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2E8F0"/>
                </a:solidFill>
                <a:latin typeface="Arial"/>
              </a:rPr>
              <a:t>AWS CLOUD CLUBS VIETNAM  ·  SHARING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7A6BA"/>
                </a:solidFill>
                <a:latin typeface="Arial"/>
              </a:rPr>
              <a:t>22-05-2026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Trebuchet MS"/>
              </a:rPr>
              <a:t>Voice agent trên AWS</a:t>
            </a:r>
          </a:p>
          <a:p>
            <a:pPr algn="l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Trebuchet MS"/>
              </a:rPr>
              <a:t>với Amazon Bedrock Nova 2 Sonic + AgentCore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Builder · AWS Cloud Clubs Vietnam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~25 phút · 6 chặng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Bài toán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AI đổi từ cascade STT-LLM-TTS sang speech-to-speech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Hera — sản phẩm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Trợ lý Apple Store voice-first + demo URL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Kiến trúc + voice 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5 bước / 1 turn end-to-end &lt; 3s p95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Walkthrough AWS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Bedrock, AgentCore, KB + S3 Vectors, edge, observability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636008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636008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Demo + số liệu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 + cost, latency, cleanup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34924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Bài học + v2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Twilio thất bại, Connect drop, hướng đi tiếp</a:t>
            </a:r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ElevenLabs · OpenAI Whisper · Google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Latency cộng dồn 4-6s, gập nối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Glue logic + state thủ công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1 foundation model: ASR + LLM +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Amazon Nova 2 Sonic (Bedrock-native)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Barge-in tự nhiên, ngắt giọng người nói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Tool calling trực tiếp từ model → RAG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Trebuchet MS"/>
              </a:rPr>
              <a:t>Người dùng nói qua microphone của trình duyệt, agent trả lời bằng giọng nói tự nhiên, có RAG lấy spec / giá / tồn kho sản phẩm Apple từ knowledge base nhỏ trên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42B4FF"/>
                </a:solidFill>
                <a:latin typeface="Arial"/>
              </a:rPr>
              <a:t>•  </a:t>
            </a:r>
            <a:r>
              <a:rPr sz="1500" b="0">
                <a:solidFill>
                  <a:srgbClr val="E2E8F0"/>
                </a:solidFill>
                <a:latin typeface="Arial"/>
              </a:rPr>
              <a:t>Speech-to-speech native (Nova 2 Sonic)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42B4FF"/>
                </a:solidFill>
                <a:latin typeface="Arial"/>
              </a:rPr>
              <a:t>•  </a:t>
            </a:r>
            <a:r>
              <a:rPr sz="1500" b="0">
                <a:solidFill>
                  <a:srgbClr val="E2E8F0"/>
                </a:solidFill>
                <a:latin typeface="Arial"/>
              </a:rPr>
              <a:t>RAG voice tool calling (lookup_product)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42B4FF"/>
                </a:solidFill>
                <a:latin typeface="Arial"/>
              </a:rPr>
              <a:t>•  </a:t>
            </a:r>
            <a:r>
              <a:rPr sz="1500" b="0">
                <a:solidFill>
                  <a:srgbClr val="E2E8F0"/>
                </a:solidFill>
                <a:latin typeface="Arial"/>
              </a:rPr>
              <a:t>Browser-only client — chỉ cần microphone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ĐÃ 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468880"/>
            <a:ext cx="32918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Demo URL public 24/7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Latency p95 &lt; 3s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Cost cap $5/day, idle ~$0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Cleanup script 20 checks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Optional Langfuse tracing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3 SKU × markdown → Titan v2 (1024-dim) → S3 Vectors index hera-kb-index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Kiến trúc + voice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5 bước / 1 turn end-to-end &lt; 3s p95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v1 web channel  ·  ap-northeast-1 (Tokyo)  ·  Pipecat 1.1 + Nova 2 Sonic + KB S3 Vectors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-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096" y="1783080"/>
            <a:ext cx="8518767" cy="4297680"/>
          </a:xfrm>
          <a:prstGeom prst="rect">
            <a:avLst/>
          </a:prstGeom>
        </p:spPr>
      </p:pic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Pipecat nhận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binary frames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AudioWorklet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playback queue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852160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Idle = $0  ·  AgentCore managed microVM tự wake / sleep theo session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Walkthrough AWS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9 service · ZERO ECS/EC2/EKS · ZERO VPC tự quản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9 service  ·  ZERO ECS/EC2/EKS  ·  ZERO VPC tự quản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28800" y="491032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367528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Container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532120" y="491032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5367528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Least-priv roles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0" y="491032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367528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Logs+dash+alarm</a:t>
            </a:r>
          </a:p>
        </p:txBody>
      </p:sp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Model id: amazon.nova-2-sonic-v1:0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Bidirectional stream: input 16 kHz Int16 mono, output 24 kHz PCM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Built-in tool calling — Sonic tự quyết định gọi lookup_product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Region: ap-northeast-1 (cùng region với AgentCore + KB)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8-min stream cap — Pipecat SessionContinuationParams rotate trong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Cost: ~$0.30 / 10 phút conversation (input + output token)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Vì sao chọn Sonic — 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— rẻ, không infra, hợp với catalog nhỏ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bucket  →  Bedrock ingestion job  →  Titan v2 (1024-dim cosine)  →  S3 Vectors index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bedrock-agent-runtime:Retrieve  →  S3 Vectors semantic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Vì sao không dùng OpenSearch Serverless?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OSS minimum ~$200-400/tháng (2 OCU 24/7) — quá đắt cho 3 SKU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S3 Vectors tính theo storage thực + query count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Live KB cost ~$0/tháng khi idle, ~$0.001/query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Deploy bằng container image (ECR) — Pipecat 1.1 + FastAPI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Protocol contract: GET /ping + POST /invocations + WS /ws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$0 khi idle — service tự wake microVM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Region overlap với Sonic: us-east-1, us-west-2, ap-northeast-1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</a:t>
            </a:r>
            <a:r>
              <a:rPr sz="1400" b="0">
                <a:solidFill>
                  <a:srgbClr val="E2E8F0"/>
                </a:solidFill>
                <a:latin typeface="Arial"/>
              </a:rPr>
              <a:t>IAM execution role: bedrock:InvokeModelWithBidi + bedrock:Retrieve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Vì sao bỏ ECS Fargate / ALB / VPC?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ECS Fargate idle ~$30+/tháng chỉ riêng task + NAT GW. AgentCore managed: không VPC, không NLB, không NAT — đếm $ về 0 khi không dùng. Trade-off: kém option để fine-tune networking, nhưng phù hợp scope demo.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Cert ACM us-east-1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OAC-only access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WSS URL TTL 5 phút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Không muốn dùng Cognito / 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Rule-4 architectural deviation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Gọi 1 lần mỗi khi user click record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Observability, security, container supply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CloudWatch + IAM + ECR — ZERO IAM wildcard, ZERO env-baked secret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20574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CloudWatch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Dashboard hera-prod  ·  5 panel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Alarm error &gt;5% / 5 min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Alarm latency p95 &gt;5s / 5 min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Billing alarm $5/day (us-east-1)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Optional Langfuse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96596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0" y="20574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IAM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Least-privilege everywhere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ZERO Resource:* wildcard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Confused-deputy mitigation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Per-service role tách biệt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boto3 default chain (no env)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78308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c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965960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0" y="205740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ECR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926080"/>
            <a:ext cx="32461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Repo hera-agent IMMUTABLE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Scan-on-push enabled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Multi-arch arm64 + amd64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uv lock → reproducible image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8C4FFF"/>
                </a:solidFill>
                <a:latin typeface="Arial"/>
              </a:rPr>
              <a:t>•  </a:t>
            </a:r>
            <a:r>
              <a:rPr sz="1100" b="0">
                <a:solidFill>
                  <a:srgbClr val="E2E8F0"/>
                </a:solidFill>
                <a:latin typeface="Arial"/>
              </a:rPr>
              <a:t>Tag = git short SHA</a:t>
            </a:r>
          </a:p>
        </p:txBody>
      </p:sp>
      <p:pic>
        <p:nvPicPr>
          <p:cNvPr id="19" name="Picture 18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Demo + kết quả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Voice loop live · cost · latency · cleanup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Nếu busy sẽ queue vài giây.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scale  ·  cleanup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20/20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cleanup checks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ZERO orphan sau destroy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8A3D"/>
                </a:solidFill>
                <a:latin typeface="Trebuchet MS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AWS services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ZERO ECS / VPC tự quản</a:t>
            </a:r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học rút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Surprise + pitfall ghi lại cho người sau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TECHNICAL SURPRISES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8C4F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AgentCore gọi POST /invocations nhưng Pipecat chỉ expose /ws — phải thêm stub envelope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8C4F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Browser không ký SigV4 cho WS upgrade → Lambda presigner bridge (Rule-4 deviation)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8C4F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Sonic 8-min stream cap → Pipecat SessionContinuationParams rotate transparent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8C4F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S3 Vectors metadata cap = 2 fields → tự chọn field nào filterable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OPERATIONAL PITFALLS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ECR phải IMMUTABLE + scan-on-push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Billing alarm BẮT BUỘC ở us-east-1 — AWS chỉ emit metric ở đó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HTTPS = bắt buộc cho navigator.mediaDevices.getUserMedia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</a:t>
            </a:r>
            <a:r>
              <a:rPr sz="1200" b="0">
                <a:solidFill>
                  <a:srgbClr val="E2E8F0"/>
                </a:solidFill>
                <a:latin typeface="Arial"/>
              </a:rPr>
              <a:t>CloudFront disable phải chờ 15-30 min trước khi delete</a:t>
            </a: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Hướng mở rộng (v2 + sau)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Twilio thất bại, Connect drop, và con đường đi tiếp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App Runner edge từ chối inbound WS upgrade (D-56)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Phase 6 PARTIAL · bridge code đúng, runtime defective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→ Connect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Pivot sang Amazon Connect + Lex V2 + Polly Neural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User feedback: cũ IVR-style, gap 3-5s vs Sonic &lt;2s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32502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D4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2"/>
            <a:ext cx="1828800" cy="1033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DROP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032502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414223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Giữ nguyên v1 Nova Sonic web widget — newest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56285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Phase 6.1 destroy live, archive Twilio bridge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57213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57213"/>
            <a:ext cx="1828800" cy="1033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5157213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5266941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 (I18N), multi-agent routing (ADV-01)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687565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 (DynamoDB), ECS alt (ADV-04)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465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E2E8F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Builder · AWS Cloud Clubs Vietnam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nguyenthanhcllhp@gmail.com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github.com/KenzyTran/hera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4983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53492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dg0w939ktclw6.cloudfront.net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