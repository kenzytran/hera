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62" r:id="rId6"/>
    <p:sldId id="261" r:id="rId7"/>
    <p:sldId id="258" r:id="rId8"/>
    <p:sldId id="265" r:id="rId9"/>
    <p:sldId id="266" r:id="rId10"/>
    <p:sldId id="267" r:id="rId11"/>
    <p:sldId id="268" r:id="rId12"/>
    <p:sldId id="269" r:id="rId13"/>
    <p:sldId id="270" r:id="rId14"/>
    <p:sldId id="263" r:id="rId15"/>
    <p:sldId id="271" r:id="rId16"/>
    <p:sldId id="272" r:id="rId17"/>
    <p:sldId id="273" r:id="rId18"/>
    <p:sldId id="275" r:id="rId19"/>
    <p:sldId id="274" r:id="rId20"/>
    <p:sldId id="276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943600" y="-2286000"/>
            <a:ext cx="10058400" cy="10058400"/>
          </a:xfrm>
          <a:prstGeom prst="ellipse">
            <a:avLst/>
          </a:prstGeom>
          <a:gradFill rotWithShape="1">
            <a:gsLst>
              <a:gs pos="0">
                <a:srgbClr val="42B4FF"/>
              </a:gs>
              <a:gs pos="33000">
                <a:srgbClr val="8C4FFF"/>
              </a:gs>
              <a:gs pos="66000">
                <a:srgbClr val="D43AC8"/>
              </a:gs>
              <a:gs pos="100000">
                <a:srgbClr val="FF8A3D"/>
              </a:gs>
            </a:gsLst>
            <a:path path="circle">
              <a:fillToRect l="100000" b="10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dirty="0">
                <a:solidFill>
                  <a:srgbClr val="E2E8F0"/>
                </a:solidFill>
                <a:latin typeface="Arial"/>
              </a:rPr>
              <a:t>AWS STUDENT BUILDER GROUP VIETNAM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058400" cy="194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1200" b="1" dirty="0">
                <a:solidFill>
                  <a:srgbClr val="97A6BA"/>
                </a:solidFill>
                <a:latin typeface="Arial"/>
              </a:rPr>
              <a:t>30</a:t>
            </a:r>
            <a:r>
              <a:rPr sz="1200" b="1" dirty="0">
                <a:solidFill>
                  <a:srgbClr val="97A6BA"/>
                </a:solidFill>
                <a:latin typeface="Arial"/>
              </a:rPr>
              <a:t>-05-2026  ·  Ho Chi Minh 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9728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dirty="0">
                <a:solidFill>
                  <a:srgbClr val="FFFFFF"/>
                </a:solidFill>
                <a:latin typeface="Trebuchet MS"/>
              </a:rPr>
              <a:t>Hera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 dirty="0">
                <a:solidFill>
                  <a:srgbClr val="FFFFFF"/>
                </a:solidFill>
                <a:latin typeface="Trebuchet MS"/>
              </a:rPr>
              <a:t>Voice agent </a:t>
            </a:r>
            <a:r>
              <a:rPr sz="2800" b="0" dirty="0" err="1">
                <a:solidFill>
                  <a:srgbClr val="FFFFFF"/>
                </a:solidFill>
                <a:latin typeface="Trebuchet MS"/>
              </a:rPr>
              <a:t>trên</a:t>
            </a:r>
            <a:r>
              <a:rPr sz="2800" b="0" dirty="0">
                <a:solidFill>
                  <a:srgbClr val="FFFFFF"/>
                </a:solidFill>
                <a:latin typeface="Trebuchet MS"/>
              </a:rPr>
              <a:t> AWS</a:t>
            </a:r>
          </a:p>
          <a:p>
            <a:pPr algn="l">
              <a:lnSpc>
                <a:spcPct val="125000"/>
              </a:lnSpc>
            </a:pPr>
            <a:r>
              <a:rPr sz="2800" b="0" dirty="0" err="1">
                <a:solidFill>
                  <a:srgbClr val="FFFFFF"/>
                </a:solidFill>
                <a:latin typeface="Trebuchet MS"/>
              </a:rPr>
              <a:t>với</a:t>
            </a:r>
            <a:r>
              <a:rPr sz="2800" b="0" dirty="0">
                <a:solidFill>
                  <a:srgbClr val="FFFFFF"/>
                </a:solidFill>
                <a:latin typeface="Trebuchet MS"/>
              </a:rPr>
              <a:t> Amazon Bedrock Nova 2 Sonic + </a:t>
            </a:r>
            <a:r>
              <a:rPr sz="2800" b="0" dirty="0" err="1">
                <a:solidFill>
                  <a:srgbClr val="FFFFFF"/>
                </a:solidFill>
                <a:latin typeface="Trebuchet MS"/>
              </a:rPr>
              <a:t>AgentCore</a:t>
            </a:r>
            <a:endParaRPr sz="2800" b="0" dirty="0">
              <a:solidFill>
                <a:srgbClr val="FFFFFF"/>
              </a:solidFill>
              <a:latin typeface="Trebuchet M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0080" y="52120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Trebuchet MS"/>
              </a:rPr>
              <a:t>Kiet Tran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77840"/>
            <a:ext cx="4572000" cy="194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dirty="0">
                <a:solidFill>
                  <a:srgbClr val="97A6BA"/>
                </a:solidFill>
                <a:latin typeface="Arial"/>
              </a:rPr>
              <a:t>Builder · AWS </a:t>
            </a:r>
            <a:r>
              <a:rPr lang="en-US" sz="1200" dirty="0">
                <a:solidFill>
                  <a:srgbClr val="97A6BA"/>
                </a:solidFill>
                <a:latin typeface="Arial"/>
              </a:rPr>
              <a:t>Student Builder Group HUFLIT</a:t>
            </a:r>
            <a:endParaRPr sz="1200" b="0" dirty="0">
              <a:solidFill>
                <a:srgbClr val="97A6BA"/>
              </a:solidFill>
              <a:latin typeface="Arial"/>
            </a:endParaRPr>
          </a:p>
        </p:txBody>
      </p:sp>
      <p:pic>
        <p:nvPicPr>
          <p:cNvPr id="11" name="Picture 10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Agenda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83080"/>
            <a:ext cx="640080" cy="594360"/>
          </a:xfrm>
          <a:prstGeom prst="roundRect">
            <a:avLst>
              <a:gd name="adj" fmla="val 5000"/>
            </a:avLst>
          </a:prstGeom>
          <a:solidFill>
            <a:srgbClr val="1C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64008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42B4FF"/>
                </a:solidFill>
                <a:latin typeface="Trebuchet M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819656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Trebuchet MS"/>
              </a:rPr>
              <a:t>Tổng quan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30552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dirty="0">
                <a:solidFill>
                  <a:srgbClr val="97A6BA"/>
                </a:solidFill>
                <a:latin typeface="Arial"/>
              </a:rPr>
              <a:t>Hera </a:t>
            </a:r>
            <a:r>
              <a:rPr sz="1200" b="0" dirty="0" err="1">
                <a:solidFill>
                  <a:srgbClr val="97A6BA"/>
                </a:solidFill>
                <a:latin typeface="Arial"/>
              </a:rPr>
              <a:t>là</a:t>
            </a:r>
            <a:r>
              <a:rPr sz="12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97A6BA"/>
                </a:solidFill>
                <a:latin typeface="Arial"/>
              </a:rPr>
              <a:t>gì</a:t>
            </a:r>
            <a:r>
              <a:rPr sz="1200" b="0" dirty="0">
                <a:solidFill>
                  <a:srgbClr val="97A6BA"/>
                </a:solidFill>
                <a:latin typeface="Arial"/>
              </a:rPr>
              <a:t>, </a:t>
            </a:r>
            <a:r>
              <a:rPr sz="1200" b="0" dirty="0" err="1">
                <a:solidFill>
                  <a:srgbClr val="97A6BA"/>
                </a:solidFill>
                <a:latin typeface="Arial"/>
              </a:rPr>
              <a:t>kiến</a:t>
            </a:r>
            <a:r>
              <a:rPr sz="12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97A6BA"/>
                </a:solidFill>
                <a:latin typeface="Arial"/>
              </a:rPr>
              <a:t>trúc</a:t>
            </a:r>
            <a:r>
              <a:rPr sz="1200" b="0" dirty="0">
                <a:solidFill>
                  <a:srgbClr val="97A6BA"/>
                </a:solidFill>
                <a:latin typeface="Arial"/>
              </a:rPr>
              <a:t>, voice turn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496312"/>
            <a:ext cx="640080" cy="594360"/>
          </a:xfrm>
          <a:prstGeom prst="roundRect">
            <a:avLst>
              <a:gd name="adj" fmla="val 5000"/>
            </a:avLst>
          </a:prstGeom>
          <a:solidFill>
            <a:srgbClr val="1C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2496312"/>
            <a:ext cx="64008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42B4FF"/>
                </a:solidFill>
                <a:latin typeface="Trebuchet M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532888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Trebuchet MS"/>
              </a:rPr>
              <a:t>Lý thuyết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843784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7A6BA"/>
                </a:solidFill>
                <a:latin typeface="Arial"/>
              </a:rPr>
              <a:t>Cascade vs S2S, AWS services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209544"/>
            <a:ext cx="640080" cy="594360"/>
          </a:xfrm>
          <a:prstGeom prst="roundRect">
            <a:avLst>
              <a:gd name="adj" fmla="val 5000"/>
            </a:avLst>
          </a:prstGeom>
          <a:solidFill>
            <a:srgbClr val="1C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3209544"/>
            <a:ext cx="64008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42B4FF"/>
                </a:solidFill>
                <a:latin typeface="Trebuchet M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246120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dirty="0">
                <a:solidFill>
                  <a:srgbClr val="FFFFFF"/>
                </a:solidFill>
                <a:latin typeface="Trebuchet MS"/>
              </a:rPr>
              <a:t>Demo + </a:t>
            </a:r>
            <a:r>
              <a:rPr sz="1800" b="1" dirty="0" err="1">
                <a:solidFill>
                  <a:srgbClr val="FFFFFF"/>
                </a:solidFill>
                <a:latin typeface="Trebuchet MS"/>
              </a:rPr>
              <a:t>số</a:t>
            </a:r>
            <a:r>
              <a:rPr sz="1800" b="1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Trebuchet MS"/>
              </a:rPr>
              <a:t>liệu</a:t>
            </a:r>
            <a:endParaRPr sz="1800" b="1" dirty="0">
              <a:solidFill>
                <a:srgbClr val="FFFFFF"/>
              </a:solidFill>
              <a:latin typeface="Trebuchet M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45920" y="3557016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7A6BA"/>
                </a:solidFill>
                <a:latin typeface="Arial"/>
              </a:rPr>
              <a:t>Voice loop live, cost, latency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922776"/>
            <a:ext cx="640080" cy="594360"/>
          </a:xfrm>
          <a:prstGeom prst="roundRect">
            <a:avLst>
              <a:gd name="adj" fmla="val 5000"/>
            </a:avLst>
          </a:prstGeom>
          <a:solidFill>
            <a:srgbClr val="1C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3922776"/>
            <a:ext cx="64008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42B4FF"/>
                </a:solidFill>
                <a:latin typeface="Trebuchet M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959352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dirty="0" err="1">
                <a:solidFill>
                  <a:srgbClr val="FFFFFF"/>
                </a:solidFill>
                <a:latin typeface="Trebuchet MS"/>
              </a:rPr>
              <a:t>Bài</a:t>
            </a:r>
            <a:r>
              <a:rPr sz="1800" b="1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Trebuchet MS"/>
              </a:rPr>
              <a:t>học</a:t>
            </a:r>
            <a:r>
              <a:rPr sz="1800" b="1" dirty="0">
                <a:solidFill>
                  <a:srgbClr val="FFFFFF"/>
                </a:solidFill>
                <a:latin typeface="Trebuchet MS"/>
              </a:rPr>
              <a:t> + v2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270248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7A6BA"/>
                </a:solidFill>
                <a:latin typeface="Arial"/>
              </a:rPr>
              <a:t>Surprises và hướng đi tiếp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672584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645920" y="4983480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645920" y="5385816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645920" y="5696712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pic>
        <p:nvPicPr>
          <p:cNvPr id="30" name="Picture 29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  <p:pic>
        <p:nvPicPr>
          <p:cNvPr id="26" name="Picture 25" descr="The image depicts a glowing microphone with swirling, star-like lines radiating outward, set against a dark background with classical columns.&#10;&#10;AI-generated content may be incorrect.">
            <a:extLst>
              <a:ext uri="{FF2B5EF4-FFF2-40B4-BE49-F238E27FC236}">
                <a16:creationId xmlns:a16="http://schemas.microsoft.com/office/drawing/2014/main" id="{690454C6-9B04-F6B3-6A55-53B4241812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1450" y="0"/>
            <a:ext cx="601415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Hera là gì?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Trợ lý voice-first cho Apple Store, chạy trên AWS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68580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 dirty="0" err="1">
                <a:solidFill>
                  <a:srgbClr val="FFFFFF"/>
                </a:solidFill>
                <a:latin typeface="Trebuchet MS"/>
              </a:rPr>
              <a:t>Người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dùng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nói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qua microphone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của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trình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duyệt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, agent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trả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lời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bằng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giọng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nói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tự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nhiên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,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có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RAG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lấy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spec /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giá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/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tồn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kho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sản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phẩm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Apple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từ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knowledge base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nhỏ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trên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S3 Vectors.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434840"/>
            <a:ext cx="68580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1" dirty="0">
                <a:solidFill>
                  <a:srgbClr val="42B4FF"/>
                </a:solidFill>
                <a:latin typeface="Arial"/>
              </a:rPr>
              <a:t>•  Speech-to-speech </a:t>
            </a:r>
            <a:r>
              <a:rPr sz="1700" b="1" dirty="0" err="1">
                <a:solidFill>
                  <a:srgbClr val="42B4FF"/>
                </a:solidFill>
                <a:latin typeface="Arial"/>
              </a:rPr>
              <a:t>với</a:t>
            </a:r>
            <a:r>
              <a:rPr sz="1700" b="1" dirty="0">
                <a:solidFill>
                  <a:srgbClr val="42B4FF"/>
                </a:solidFill>
                <a:latin typeface="Arial"/>
              </a:rPr>
              <a:t> Nova 2 Sonic</a:t>
            </a:r>
          </a:p>
          <a:p>
            <a:pPr algn="l">
              <a:lnSpc>
                <a:spcPct val="150000"/>
              </a:lnSpc>
            </a:pPr>
            <a:r>
              <a:rPr sz="1700" b="1" dirty="0">
                <a:solidFill>
                  <a:srgbClr val="42B4FF"/>
                </a:solidFill>
                <a:latin typeface="Arial"/>
              </a:rPr>
              <a:t>•  RAG voice tool calling (</a:t>
            </a:r>
            <a:r>
              <a:rPr sz="1700" b="1" dirty="0" err="1">
                <a:solidFill>
                  <a:srgbClr val="42B4FF"/>
                </a:solidFill>
                <a:latin typeface="Arial"/>
              </a:rPr>
              <a:t>lookup_product</a:t>
            </a:r>
            <a:r>
              <a:rPr sz="1700" b="1" dirty="0">
                <a:solidFill>
                  <a:srgbClr val="42B4FF"/>
                </a:solidFill>
                <a:latin typeface="Arial"/>
              </a:rPr>
              <a:t>)</a:t>
            </a:r>
          </a:p>
          <a:p>
            <a:pPr algn="l">
              <a:lnSpc>
                <a:spcPct val="150000"/>
              </a:lnSpc>
            </a:pPr>
            <a:r>
              <a:rPr sz="1700" b="1" dirty="0">
                <a:solidFill>
                  <a:srgbClr val="42B4FF"/>
                </a:solidFill>
                <a:latin typeface="Arial"/>
              </a:rPr>
              <a:t>•  Browser-only — </a:t>
            </a:r>
            <a:r>
              <a:rPr sz="1700" b="1" dirty="0" err="1">
                <a:solidFill>
                  <a:srgbClr val="42B4FF"/>
                </a:solidFill>
                <a:latin typeface="Arial"/>
              </a:rPr>
              <a:t>chỉ</a:t>
            </a:r>
            <a:r>
              <a:rPr sz="1700" b="1" dirty="0">
                <a:solidFill>
                  <a:srgbClr val="42B4FF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42B4FF"/>
                </a:solidFill>
                <a:latin typeface="Arial"/>
              </a:rPr>
              <a:t>cần</a:t>
            </a:r>
            <a:r>
              <a:rPr sz="1700" b="1" dirty="0">
                <a:solidFill>
                  <a:srgbClr val="42B4FF"/>
                </a:solidFill>
                <a:latin typeface="Arial"/>
              </a:rPr>
              <a:t> microphone</a:t>
            </a:r>
          </a:p>
        </p:txBody>
      </p:sp>
      <p:pic>
        <p:nvPicPr>
          <p:cNvPr id="12" name="Picture 11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Use case — Apple Store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Demo voice agent + knowledge base 3 SKU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7040880" cy="42976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2B4FF"/>
                </a:solidFill>
                <a:latin typeface="Trebuchet MS"/>
              </a:rPr>
              <a:t>Mẫu hội thoại thực tế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2B4FF"/>
                </a:solidFill>
                <a:latin typeface="Arial"/>
              </a:rPr>
              <a:t>User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331720"/>
            <a:ext cx="5760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Do you have MacBook Pro M4 in stock?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6898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dirty="0">
                <a:solidFill>
                  <a:srgbClr val="FFFFFF"/>
                </a:solidFill>
                <a:latin typeface="Arial"/>
              </a:rPr>
              <a:t>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246120"/>
            <a:ext cx="5760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Yes, we have the 14-inch M4 Pro in Silver and Space Black. The 14-inch starts at $1,999. Anything else?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16052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2B4FF"/>
                </a:solidFill>
                <a:latin typeface="Arial"/>
              </a:rPr>
              <a:t>User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4160520"/>
            <a:ext cx="5760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What about iPhone 13 Pro Max?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7492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5074920"/>
            <a:ext cx="5760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iPhone 13 Pro Max is currently out of stock. Would you like an alternative?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79" y="1783080"/>
            <a:ext cx="3749039" cy="42976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955279" y="1783080"/>
            <a:ext cx="3749039" cy="50292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83879" y="1783080"/>
            <a:ext cx="32918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Trebuchet MS"/>
              </a:rPr>
              <a:t>KNOWLEDGE BASE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251460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Apple Watch Series 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2807208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7A6BA"/>
                </a:solidFill>
                <a:latin typeface="Arial"/>
              </a:rPr>
              <a:t>$399  ·  in stock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3227832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iPhone 13 Pro Max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352044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7A6BA"/>
                </a:solidFill>
                <a:latin typeface="Arial"/>
              </a:rPr>
              <a:t>$1,099  ·  out of stock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3941064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MacBook Pro M4 (14-inch)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4233672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7A6BA"/>
                </a:solidFill>
                <a:latin typeface="Arial"/>
              </a:rPr>
              <a:t>$1,999  ·  in stock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79" y="5029200"/>
            <a:ext cx="32918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endParaRPr/>
          </a:p>
        </p:txBody>
      </p:sp>
      <p:pic>
        <p:nvPicPr>
          <p:cNvPr id="26" name="Picture 25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Kiến trúc tổng thể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226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>
                <a:solidFill>
                  <a:srgbClr val="97A6BA"/>
                </a:solidFill>
                <a:latin typeface="Arial"/>
              </a:rPr>
              <a:t>Edge layer + Compute/AI layer  ·  </a:t>
            </a:r>
            <a:r>
              <a:rPr sz="1400" b="0" dirty="0" err="1">
                <a:solidFill>
                  <a:srgbClr val="97A6BA"/>
                </a:solidFill>
                <a:latin typeface="Arial"/>
              </a:rPr>
              <a:t>hoàn</a:t>
            </a:r>
            <a:r>
              <a:rPr sz="14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97A6BA"/>
                </a:solidFill>
                <a:latin typeface="Arial"/>
              </a:rPr>
              <a:t>toàn</a:t>
            </a:r>
            <a:r>
              <a:rPr sz="1400" b="0" dirty="0">
                <a:solidFill>
                  <a:srgbClr val="97A6BA"/>
                </a:solidFill>
                <a:latin typeface="Arial"/>
              </a:rPr>
              <a:t> managed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1691640"/>
            <a:ext cx="9875520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  <p:pic>
        <p:nvPicPr>
          <p:cNvPr id="12" name="Picture 11" descr="The diagram illustrates a complex network architecture involving various services like AWS Cloud, Hera, CloudWatch, CloudFront, Nova, Bedrock, Lambda, S3, and Twilio, detailing their roles in data processing, communication, and storage.&#10;&#10;AI-generated content may be incorrect.">
            <a:extLst>
              <a:ext uri="{FF2B5EF4-FFF2-40B4-BE49-F238E27FC236}">
                <a16:creationId xmlns:a16="http://schemas.microsoft.com/office/drawing/2014/main" id="{2D23E5D5-561B-0CB4-7A95-8D99E6AAEE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2142" y="1872585"/>
            <a:ext cx="7565738" cy="4069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6858000" y="-3200400"/>
            <a:ext cx="10058400" cy="10058400"/>
          </a:xfrm>
          <a:prstGeom prst="ellipse">
            <a:avLst/>
          </a:prstGeom>
          <a:gradFill rotWithShape="1">
            <a:gsLst>
              <a:gs pos="0">
                <a:srgbClr val="42B4FF"/>
              </a:gs>
              <a:gs pos="33000">
                <a:srgbClr val="8C4FFF"/>
              </a:gs>
              <a:gs pos="66000">
                <a:srgbClr val="D43AC8"/>
              </a:gs>
              <a:gs pos="100000">
                <a:srgbClr val="FF8A3D"/>
              </a:gs>
            </a:gsLst>
            <a:path path="circle">
              <a:fillToRect l="100000" b="10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457200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0" b="1">
                <a:solidFill>
                  <a:srgbClr val="42B4FF"/>
                </a:solidFill>
                <a:latin typeface="Trebuchet MS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160520"/>
            <a:ext cx="3200400" cy="9144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44348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Trebuchet MS"/>
              </a:rPr>
              <a:t>Lý thuyết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44068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E2E8F0"/>
                </a:solidFill>
                <a:latin typeface="Arial"/>
              </a:rPr>
              <a:t>Vì sao chọn từng service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Bài toán: voice AI đổi từ cascade sang speech-to-speech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394960" cy="438912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874519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97A6BA"/>
                </a:solidFill>
                <a:latin typeface="Trebuchet MS"/>
              </a:rPr>
              <a:t>Cách làm cũ (~2023-2024)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493776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>
                <a:solidFill>
                  <a:srgbClr val="6B7A90"/>
                </a:solidFill>
                <a:latin typeface="Arial"/>
              </a:rPr>
              <a:t>•  3 service nối tiếp: STT → LLM → TTS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6B7A90"/>
                </a:solidFill>
                <a:latin typeface="Arial"/>
              </a:rPr>
              <a:t>•  Latency cộng dồn 4-6s mỗi turn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6B7A90"/>
                </a:solidFill>
                <a:latin typeface="Arial"/>
              </a:rPr>
              <a:t>•  Không có barge-in (ngắt lời)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6B7A90"/>
                </a:solidFill>
                <a:latin typeface="Arial"/>
              </a:rPr>
              <a:t>•  Code phức tạp để ghép 3 vendor</a:t>
            </a:r>
          </a:p>
          <a:p>
            <a:pPr algn="l">
              <a:lnSpc>
                <a:spcPct val="150000"/>
              </a:lnSpc>
            </a:pPr>
            <a:endParaRPr sz="1600" b="1">
              <a:solidFill>
                <a:srgbClr val="6B7A90"/>
              </a:solidFill>
              <a:latin typeface="Arial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263640" y="1737360"/>
            <a:ext cx="5440680" cy="438912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1737360"/>
            <a:ext cx="5440680" cy="73152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1874519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42B4FF"/>
                </a:solidFill>
                <a:latin typeface="Trebuchet MS"/>
              </a:rPr>
              <a:t>Cách làm mới (2025-2026)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423160"/>
            <a:ext cx="5029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1 foundation model thay cho cả 3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Bidirectional stream, latency &lt;2s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Barge-in tự nhiên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Tool calling trực tiếp từ model → RAG</a:t>
            </a:r>
          </a:p>
          <a:p>
            <a:pPr algn="l">
              <a:lnSpc>
                <a:spcPct val="150000"/>
              </a:lnSpc>
            </a:pPr>
            <a:endParaRPr sz="1600" b="1">
              <a:solidFill>
                <a:srgbClr val="8C4FFF"/>
              </a:solidFill>
              <a:latin typeface="Arial"/>
            </a:endParaRPr>
          </a:p>
        </p:txBody>
      </p:sp>
      <p:pic>
        <p:nvPicPr>
          <p:cNvPr id="12" name="Picture 11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AWS services dùng trong v1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9 service  ·  ZERO ECS/EC2/EKS  ·  ZERO VPC tự quản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bedr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034540"/>
            <a:ext cx="822960" cy="822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2039112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Bedrock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496312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Nova 2 Sonic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83080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bedr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34540"/>
            <a:ext cx="822960" cy="822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32120" y="2039112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Bedrock KB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32120" y="2496312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+ S3 Vectors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783080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gent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0" y="2034540"/>
            <a:ext cx="822960" cy="8229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235440" y="2039112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AgentCore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2496312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Runtime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218688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s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470148"/>
            <a:ext cx="822960" cy="8229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828800" y="3474720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S3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393192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Widget + KB src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3218688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cloudfro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470148"/>
            <a:ext cx="822960" cy="8229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532120" y="3474720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CloudFront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2120" y="393192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HTTPS edge + OAC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3218688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lambd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320" y="3470148"/>
            <a:ext cx="822960" cy="8229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235440" y="3474720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Lambda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93192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SigV4 presigner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654296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ec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4905756"/>
            <a:ext cx="822960" cy="82296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828800" y="4910328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ECR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5367528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Container image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4654296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ia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0" y="4905756"/>
            <a:ext cx="822960" cy="82296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532120" y="4910328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IAM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32120" y="5367528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Least-priv roles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46720" y="4654296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75320" y="4905756"/>
            <a:ext cx="822960" cy="82296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235440" y="4910328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CloudWatch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35440" y="5367528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Logs+dash+alarm</a:t>
            </a:r>
          </a:p>
        </p:txBody>
      </p:sp>
      <p:pic>
        <p:nvPicPr>
          <p:cNvPr id="42" name="Picture 41" descr="fcj-logo-locku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bedr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11480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17320" y="36576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Amazon Bedrock + Nova 2 Sonic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0058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Speech-to-speech foundation model — ASR + LLM + TTS trong 1 stream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11064240" cy="32918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1051560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600" b="1" dirty="0">
                <a:solidFill>
                  <a:srgbClr val="8C4FFF"/>
                </a:solidFill>
                <a:latin typeface="Arial"/>
              </a:rPr>
              <a:t>•  Bidirectional WebSocket — audio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chạy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2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chiều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cùng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lúc</a:t>
            </a:r>
            <a:endParaRPr sz="1600" b="1" dirty="0">
              <a:solidFill>
                <a:srgbClr val="8C4FFF"/>
              </a:solidFill>
              <a:latin typeface="Arial"/>
            </a:endParaRPr>
          </a:p>
          <a:p>
            <a:pPr algn="l">
              <a:lnSpc>
                <a:spcPct val="155000"/>
              </a:lnSpc>
            </a:pPr>
            <a:r>
              <a:rPr sz="1600" b="1" dirty="0">
                <a:solidFill>
                  <a:srgbClr val="8C4FFF"/>
                </a:solidFill>
                <a:latin typeface="Arial"/>
              </a:rPr>
              <a:t>•  Built-in tool calling — model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tự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gọi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lookup_product</a:t>
            </a:r>
            <a:endParaRPr sz="1600" b="1" dirty="0">
              <a:solidFill>
                <a:srgbClr val="8C4FFF"/>
              </a:solidFill>
              <a:latin typeface="Arial"/>
            </a:endParaRPr>
          </a:p>
          <a:p>
            <a:pPr algn="l">
              <a:lnSpc>
                <a:spcPct val="155000"/>
              </a:lnSpc>
            </a:pPr>
            <a:r>
              <a:rPr sz="1600" b="1" dirty="0">
                <a:solidFill>
                  <a:srgbClr val="8C4FFF"/>
                </a:solidFill>
                <a:latin typeface="Arial"/>
              </a:rPr>
              <a:t>•  Barge-in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tự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nhiên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,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ngắt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giọng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người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nói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được</a:t>
            </a:r>
            <a:endParaRPr sz="1600" b="1" dirty="0">
              <a:solidFill>
                <a:srgbClr val="8C4FFF"/>
              </a:solidFill>
              <a:latin typeface="Arial"/>
            </a:endParaRPr>
          </a:p>
          <a:p>
            <a:pPr algn="l">
              <a:lnSpc>
                <a:spcPct val="155000"/>
              </a:lnSpc>
            </a:pPr>
            <a:r>
              <a:rPr sz="1600" b="1" dirty="0">
                <a:solidFill>
                  <a:srgbClr val="8C4FFF"/>
                </a:solidFill>
                <a:latin typeface="Arial"/>
              </a:rPr>
              <a:t>•  Async tool calling — model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nói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trong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khi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tool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chạy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nền</a:t>
            </a:r>
            <a:endParaRPr sz="1600" b="1" dirty="0">
              <a:solidFill>
                <a:srgbClr val="8C4FFF"/>
              </a:solidFill>
              <a:latin typeface="Arial"/>
            </a:endParaRPr>
          </a:p>
          <a:p>
            <a:pPr algn="l">
              <a:lnSpc>
                <a:spcPct val="155000"/>
              </a:lnSpc>
            </a:pPr>
            <a:endParaRPr sz="1600" b="1" dirty="0">
              <a:solidFill>
                <a:srgbClr val="8C4FFF"/>
              </a:solidFill>
              <a:latin typeface="Arial"/>
            </a:endParaRPr>
          </a:p>
          <a:p>
            <a:pPr algn="l">
              <a:lnSpc>
                <a:spcPct val="155000"/>
              </a:lnSpc>
            </a:pPr>
            <a:endParaRPr sz="1600" b="1" dirty="0">
              <a:solidFill>
                <a:srgbClr val="8C4FFF"/>
              </a:solidFill>
              <a:latin typeface="Arial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40080" y="5349240"/>
            <a:ext cx="11064240" cy="64008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5349240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Latency &lt;2s, barge-in tự nhiên, không phải glue 3 vendor</a:t>
            </a:r>
          </a:p>
        </p:txBody>
      </p:sp>
      <p:pic>
        <p:nvPicPr>
          <p:cNvPr id="11" name="Picture 10" descr="fcj-logo-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bedr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11480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17320" y="36576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Bedrock Knowledge Base + S3 Vectors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0058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RAG layer cho voice agent  ·  serverless storage + retrieve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11064240" cy="12344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42B4FF"/>
                </a:solidFill>
                <a:latin typeface="Trebuchet MS"/>
              </a:rPr>
              <a:t>Pipeline INGESTION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3317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E2E8F0"/>
                </a:solidFill>
                <a:latin typeface="Arial"/>
              </a:rPr>
              <a:t>catalog/*.md  →  S3 source  →  Bedrock ingestion job  →  Titan v2 embed  →  S3 Vectors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154680"/>
            <a:ext cx="11064240" cy="12344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3246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42B4FF"/>
                </a:solidFill>
                <a:latin typeface="Trebuchet MS"/>
              </a:rPr>
              <a:t>Pipeline RETRIEVE (1 tool call)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033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E2E8F0"/>
                </a:solidFill>
                <a:latin typeface="Arial"/>
              </a:rPr>
              <a:t>lookup_product(query)  →  Retrieve API  →  S3 Vectors search  →  top-3 chunks  →  Sonic reply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26280"/>
            <a:ext cx="11064240" cy="1691640"/>
          </a:xfrm>
          <a:prstGeom prst="roundRect">
            <a:avLst>
              <a:gd name="adj" fmla="val 5000"/>
            </a:avLst>
          </a:prstGeom>
          <a:solidFill>
            <a:srgbClr val="1C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46177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8A3D"/>
                </a:solidFill>
                <a:latin typeface="Trebuchet MS"/>
              </a:rPr>
              <a:t>S3 Vectors vs OpenSearch Serverless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0292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Serverless thật sự — pay per use, không OCU floor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Native integration với Bedrock KB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Hợp workload spiky, read-light, scale dần theo data</a:t>
            </a:r>
          </a:p>
        </p:txBody>
      </p:sp>
      <p:pic>
        <p:nvPicPr>
          <p:cNvPr id="16" name="Picture 15" descr="fcj-logo-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agent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11480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17320" y="36576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Amazon Bedrock AgentCore Runtime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0058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Managed serverless agent runtime — first-party voice + Pipecat pattern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11064240" cy="26974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10515600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Managed serverless — không cần VPC, ECS, NAT</a:t>
            </a:r>
          </a:p>
          <a:p>
            <a:pPr algn="l">
              <a:lnSpc>
                <a:spcPct val="155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Mỗi session = 1 microVM riêng (isolation)</a:t>
            </a:r>
          </a:p>
          <a:p>
            <a:pPr algn="l">
              <a:lnSpc>
                <a:spcPct val="155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$0 khi idle — service tự wake khi có session</a:t>
            </a:r>
          </a:p>
          <a:p>
            <a:pPr algn="l">
              <a:lnSpc>
                <a:spcPct val="155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Session tối đa 8 giờ (vs Lambda 15 phút)</a:t>
            </a:r>
          </a:p>
          <a:p>
            <a:pPr algn="l">
              <a:lnSpc>
                <a:spcPct val="155000"/>
              </a:lnSpc>
            </a:pPr>
            <a:endParaRPr sz="1600" b="1">
              <a:solidFill>
                <a:srgbClr val="8C4FFF"/>
              </a:solidFill>
              <a:latin typeface="Arial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40080" y="4663440"/>
            <a:ext cx="11064240" cy="1600200"/>
          </a:xfrm>
          <a:prstGeom prst="roundRect">
            <a:avLst>
              <a:gd name="adj" fmla="val 5000"/>
            </a:avLst>
          </a:prstGeom>
          <a:solidFill>
            <a:srgbClr val="1C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7548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8A3D"/>
                </a:solidFill>
                <a:latin typeface="Trebuchet MS"/>
              </a:rPr>
              <a:t>AgentCore vs ECS Fargate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16636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AgentCore: first-party agent runtime, scale-to-zero thật sự, managed networking, mỗi session một microVM. Fargate phù hợp khi cần always-on hoặc fine-tune VPC/NLB.</a:t>
            </a:r>
          </a:p>
        </p:txBody>
      </p:sp>
      <p:pic>
        <p:nvPicPr>
          <p:cNvPr id="12" name="Picture 11" descr="fcj-logo-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loudfro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11480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17320" y="36576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Edge + auth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0058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CloudFront → S3 widget  ·  Lambda Function URL = SigV4 presigner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2194560" cy="256032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loudfro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2011680"/>
            <a:ext cx="822960" cy="822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288036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CloudFront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E2E8F0"/>
                </a:solidFill>
                <a:latin typeface="Arial"/>
              </a:rPr>
              <a:t>HTTPS + OAC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599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926080" y="1783080"/>
            <a:ext cx="2194560" cy="256032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s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11680"/>
            <a:ext cx="822960" cy="822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926080" y="288036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S3 widget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29184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E2E8F0"/>
                </a:solidFill>
                <a:latin typeface="Arial"/>
              </a:rPr>
              <a:t>Static frontend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3657599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212080" y="1783080"/>
            <a:ext cx="2194560" cy="256032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lamb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7880" y="2011680"/>
            <a:ext cx="822960" cy="8229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12080" y="288036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Lambda URL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29184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E2E8F0"/>
                </a:solidFill>
                <a:latin typeface="Arial"/>
              </a:rPr>
              <a:t>SigV4 presigner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657599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498079" y="1783080"/>
            <a:ext cx="4206240" cy="44348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498079" y="1783080"/>
            <a:ext cx="4206240" cy="50292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680959" y="178308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Trebuchet MS"/>
              </a:rPr>
              <a:t>TẠI SAO CẦN PRESIGNER?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26679" y="2468880"/>
            <a:ext cx="3749040" cy="37490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Browser không tự ký SigV4 cho WS upgrade</a:t>
            </a:r>
          </a:p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Không muốn dùng Cognito/OIDC cho demo</a:t>
            </a:r>
          </a:p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Lambda tạo URL có thời hạn 5 phút</a:t>
            </a:r>
          </a:p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Gọi 1 lần mỗi khi user record</a:t>
            </a:r>
          </a:p>
          <a:p>
            <a:pPr algn="l">
              <a:lnSpc>
                <a:spcPct val="155000"/>
              </a:lnSpc>
            </a:pPr>
            <a:endParaRPr sz="1400" b="1">
              <a:solidFill>
                <a:srgbClr val="42B4FF"/>
              </a:solidFill>
              <a:latin typeface="Arial"/>
            </a:endParaRPr>
          </a:p>
        </p:txBody>
      </p:sp>
      <p:pic>
        <p:nvPicPr>
          <p:cNvPr id="26" name="Picture 25" descr="fcj-logo-locku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loudw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11480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17320" y="36576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Observability, security, container supply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0058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Logging · IAM least-privilege · container supply chain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loudw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65960"/>
            <a:ext cx="777240" cy="777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737360" y="2057400"/>
            <a:ext cx="24231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Trebuchet MS"/>
              </a:rPr>
              <a:t>CloudWatch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926080"/>
            <a:ext cx="324612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dirty="0">
                <a:solidFill>
                  <a:srgbClr val="8C4FFF"/>
                </a:solidFill>
                <a:latin typeface="Arial"/>
              </a:rPr>
              <a:t>•  Dashboard </a:t>
            </a:r>
            <a:r>
              <a:rPr sz="1300" b="1" dirty="0" err="1">
                <a:solidFill>
                  <a:srgbClr val="8C4FFF"/>
                </a:solidFill>
                <a:latin typeface="Arial"/>
              </a:rPr>
              <a:t>với</a:t>
            </a:r>
            <a:r>
              <a:rPr sz="1300" b="1" dirty="0">
                <a:solidFill>
                  <a:srgbClr val="8C4FFF"/>
                </a:solidFill>
                <a:latin typeface="Arial"/>
              </a:rPr>
              <a:t> 5 panel</a:t>
            </a:r>
          </a:p>
          <a:p>
            <a:pPr algn="l">
              <a:lnSpc>
                <a:spcPct val="150000"/>
              </a:lnSpc>
            </a:pPr>
            <a:r>
              <a:rPr sz="1300" b="1" dirty="0">
                <a:solidFill>
                  <a:srgbClr val="8C4FFF"/>
                </a:solidFill>
                <a:latin typeface="Arial"/>
              </a:rPr>
              <a:t>•  Alarm error rate + latency p95</a:t>
            </a:r>
          </a:p>
          <a:p>
            <a:pPr algn="l">
              <a:lnSpc>
                <a:spcPct val="150000"/>
              </a:lnSpc>
            </a:pPr>
            <a:r>
              <a:rPr sz="1300" b="1" dirty="0">
                <a:solidFill>
                  <a:srgbClr val="8C4FFF"/>
                </a:solidFill>
                <a:latin typeface="Arial"/>
              </a:rPr>
              <a:t>•  Billing alarm $5/day</a:t>
            </a:r>
          </a:p>
          <a:p>
            <a:pPr algn="l">
              <a:lnSpc>
                <a:spcPct val="150000"/>
              </a:lnSpc>
            </a:pPr>
            <a:endParaRPr sz="1300" b="1" dirty="0">
              <a:solidFill>
                <a:srgbClr val="8C4FFF"/>
              </a:solidFill>
              <a:latin typeface="Arial"/>
            </a:endParaRPr>
          </a:p>
          <a:p>
            <a:pPr algn="l">
              <a:lnSpc>
                <a:spcPct val="150000"/>
              </a:lnSpc>
            </a:pPr>
            <a:endParaRPr sz="1300" b="1" dirty="0">
              <a:solidFill>
                <a:srgbClr val="8C4FFF"/>
              </a:solidFill>
              <a:latin typeface="Arial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572000" y="178308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965960"/>
            <a:ext cx="777240" cy="7772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69280" y="2057400"/>
            <a:ext cx="24231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Trebuchet MS"/>
              </a:rPr>
              <a:t>IAM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926080"/>
            <a:ext cx="324612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>
                <a:solidFill>
                  <a:srgbClr val="8C4FFF"/>
                </a:solidFill>
                <a:latin typeface="Arial"/>
              </a:rPr>
              <a:t>•  Least-privilege everywhere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8C4FFF"/>
                </a:solidFill>
                <a:latin typeface="Arial"/>
              </a:rPr>
              <a:t>•  ZERO Resource:* wildcard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8C4FFF"/>
                </a:solidFill>
                <a:latin typeface="Arial"/>
              </a:rPr>
              <a:t>•  Confused-deputy mitigation</a:t>
            </a:r>
          </a:p>
          <a:p>
            <a:pPr algn="l">
              <a:lnSpc>
                <a:spcPct val="150000"/>
              </a:lnSpc>
            </a:pPr>
            <a:endParaRPr sz="1300" b="1">
              <a:solidFill>
                <a:srgbClr val="8C4FFF"/>
              </a:solidFill>
              <a:latin typeface="Arial"/>
            </a:endParaRPr>
          </a:p>
          <a:p>
            <a:pPr algn="l">
              <a:lnSpc>
                <a:spcPct val="150000"/>
              </a:lnSpc>
            </a:pPr>
            <a:endParaRPr sz="1300" b="1">
              <a:solidFill>
                <a:srgbClr val="8C4FFF"/>
              </a:solidFill>
              <a:latin typeface="Arial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503920" y="178308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ec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0" y="1965960"/>
            <a:ext cx="777240" cy="7772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0" y="2057400"/>
            <a:ext cx="24231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Trebuchet MS"/>
              </a:rPr>
              <a:t>ECR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2520" y="2926080"/>
            <a:ext cx="324612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>
                <a:solidFill>
                  <a:srgbClr val="8C4FFF"/>
                </a:solidFill>
                <a:latin typeface="Arial"/>
              </a:rPr>
              <a:t>•  Repo IMMUTABLE tags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8C4FFF"/>
                </a:solidFill>
                <a:latin typeface="Arial"/>
              </a:rPr>
              <a:t>•  Scan-on-push enabled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8C4FFF"/>
                </a:solidFill>
                <a:latin typeface="Arial"/>
              </a:rPr>
              <a:t>•  Multi-arch ARM64 + AMD64</a:t>
            </a:r>
          </a:p>
          <a:p>
            <a:pPr algn="l">
              <a:lnSpc>
                <a:spcPct val="150000"/>
              </a:lnSpc>
            </a:pPr>
            <a:endParaRPr sz="1300" b="1">
              <a:solidFill>
                <a:srgbClr val="8C4FFF"/>
              </a:solidFill>
              <a:latin typeface="Arial"/>
            </a:endParaRPr>
          </a:p>
          <a:p>
            <a:pPr algn="l">
              <a:lnSpc>
                <a:spcPct val="150000"/>
              </a:lnSpc>
            </a:pPr>
            <a:endParaRPr sz="1300" b="1">
              <a:solidFill>
                <a:srgbClr val="8C4FFF"/>
              </a:solidFill>
              <a:latin typeface="Arial"/>
            </a:endParaRPr>
          </a:p>
        </p:txBody>
      </p:sp>
      <p:pic>
        <p:nvPicPr>
          <p:cNvPr id="19" name="Picture 18" descr="fcj-logo-locku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Một voice turn đi qua những đâu?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5 bước / 1 turn  ·  end-to-end &lt; 3s p95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783080"/>
            <a:ext cx="2249424" cy="3977639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2249424" cy="45720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801368"/>
            <a:ext cx="22494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Trebuchet MS"/>
              </a:rPr>
              <a:t>BƯỚC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Browser xin</a:t>
            </a:r>
          </a:p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presigned WSS URL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Lambda presigner ký URL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SigV4, TTL 5 phút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1216" y="1783080"/>
            <a:ext cx="2249424" cy="3977639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871216" y="1783080"/>
            <a:ext cx="2249424" cy="45720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871216" y="1801368"/>
            <a:ext cx="22494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Trebuchet MS"/>
              </a:rPr>
              <a:t>BƯỚC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8376" y="246888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Browser mở</a:t>
            </a:r>
          </a:p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WebSocket → AgentCore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8376" y="402336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Không cần SDK,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vanilla JS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48072" y="1783080"/>
            <a:ext cx="2249424" cy="3977639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148072" y="1783080"/>
            <a:ext cx="2249424" cy="45720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48072" y="1801368"/>
            <a:ext cx="22494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Trebuchet MS"/>
              </a:rPr>
              <a:t>BƯỚC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5232" y="246888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dirty="0" err="1">
                <a:solidFill>
                  <a:srgbClr val="FFFFFF"/>
                </a:solidFill>
                <a:latin typeface="Trebuchet MS"/>
              </a:rPr>
              <a:t>Pipecat</a:t>
            </a:r>
            <a:r>
              <a:rPr sz="1500" b="1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1500" b="1" dirty="0" err="1">
                <a:solidFill>
                  <a:srgbClr val="FFFFFF"/>
                </a:solidFill>
                <a:latin typeface="Trebuchet MS"/>
              </a:rPr>
              <a:t>nhận</a:t>
            </a:r>
            <a:endParaRPr sz="1500" b="1" dirty="0">
              <a:solidFill>
                <a:srgbClr val="FFFFFF"/>
              </a:solidFill>
              <a:latin typeface="Trebuchet MS"/>
            </a:endParaRPr>
          </a:p>
          <a:p>
            <a:pPr algn="l">
              <a:lnSpc>
                <a:spcPct val="125000"/>
              </a:lnSpc>
            </a:pPr>
            <a:r>
              <a:rPr sz="1500" b="1" dirty="0">
                <a:solidFill>
                  <a:srgbClr val="FFFFFF"/>
                </a:solidFill>
                <a:latin typeface="Trebuchet MS"/>
              </a:rPr>
              <a:t>mic PCM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85232" y="402336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16 kHz mono Int16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qua WebSocket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24928" y="1783080"/>
            <a:ext cx="2249424" cy="3977639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424928" y="1783080"/>
            <a:ext cx="2249424" cy="45720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424928" y="1801368"/>
            <a:ext cx="22494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Trebuchet MS"/>
              </a:rPr>
              <a:t>BƯỚC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62088" y="246888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Sonic gọi</a:t>
            </a:r>
          </a:p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lookup_product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62088" y="402336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dirty="0">
                <a:solidFill>
                  <a:srgbClr val="97A6BA"/>
                </a:solidFill>
                <a:latin typeface="Arial"/>
              </a:rPr>
              <a:t>Bedrock KB Retrieve →</a:t>
            </a:r>
          </a:p>
          <a:p>
            <a:pPr algn="l">
              <a:lnSpc>
                <a:spcPct val="135000"/>
              </a:lnSpc>
            </a:pPr>
            <a:r>
              <a:rPr sz="1100" b="0" dirty="0">
                <a:solidFill>
                  <a:srgbClr val="97A6BA"/>
                </a:solidFill>
                <a:latin typeface="Arial"/>
              </a:rPr>
              <a:t>S3 Vectors → top-3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01784" y="1783080"/>
            <a:ext cx="2249424" cy="3977639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701784" y="1783080"/>
            <a:ext cx="2249424" cy="45720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701784" y="1801368"/>
            <a:ext cx="22494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Trebuchet MS"/>
              </a:rPr>
              <a:t>BƯỚC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38944" y="246888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Sonic phát</a:t>
            </a:r>
          </a:p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audio 24 kHz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38944" y="402336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dirty="0">
                <a:solidFill>
                  <a:srgbClr val="97A6BA"/>
                </a:solidFill>
                <a:latin typeface="Arial"/>
              </a:rPr>
              <a:t>Browser </a:t>
            </a:r>
            <a:r>
              <a:rPr sz="1100" b="0" dirty="0" err="1">
                <a:solidFill>
                  <a:srgbClr val="97A6BA"/>
                </a:solidFill>
                <a:latin typeface="Arial"/>
              </a:rPr>
              <a:t>phát</a:t>
            </a:r>
            <a:endParaRPr sz="1100" b="0" dirty="0">
              <a:solidFill>
                <a:srgbClr val="97A6BA"/>
              </a:solidFill>
              <a:latin typeface="Arial"/>
            </a:endParaRPr>
          </a:p>
          <a:p>
            <a:pPr algn="l">
              <a:lnSpc>
                <a:spcPct val="135000"/>
              </a:lnSpc>
            </a:pPr>
            <a:r>
              <a:rPr sz="1100" b="0" dirty="0">
                <a:solidFill>
                  <a:srgbClr val="97A6BA"/>
                </a:solidFill>
                <a:latin typeface="Arial"/>
              </a:rPr>
              <a:t>qua audio worklet</a:t>
            </a:r>
          </a:p>
        </p:txBody>
      </p:sp>
      <p:pic>
        <p:nvPicPr>
          <p:cNvPr id="33" name="Picture 32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6858000" y="-3200400"/>
            <a:ext cx="10058400" cy="10058400"/>
          </a:xfrm>
          <a:prstGeom prst="ellipse">
            <a:avLst/>
          </a:prstGeom>
          <a:gradFill rotWithShape="1">
            <a:gsLst>
              <a:gs pos="0">
                <a:srgbClr val="42B4FF"/>
              </a:gs>
              <a:gs pos="33000">
                <a:srgbClr val="8C4FFF"/>
              </a:gs>
              <a:gs pos="66000">
                <a:srgbClr val="D43AC8"/>
              </a:gs>
              <a:gs pos="100000">
                <a:srgbClr val="FF8A3D"/>
              </a:gs>
            </a:gsLst>
            <a:path path="circle">
              <a:fillToRect l="100000" b="10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457200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0" b="1">
                <a:solidFill>
                  <a:srgbClr val="42B4FF"/>
                </a:solidFill>
                <a:latin typeface="Trebuchet MS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160520"/>
            <a:ext cx="3200400" cy="9144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4434840"/>
            <a:ext cx="10515600" cy="7287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dirty="0">
                <a:solidFill>
                  <a:srgbClr val="FFFFFF"/>
                </a:solidFill>
                <a:latin typeface="Trebuchet MS"/>
              </a:rPr>
              <a:t>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44068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dirty="0" err="1">
                <a:solidFill>
                  <a:srgbClr val="E2E8F0"/>
                </a:solidFill>
                <a:latin typeface="Arial"/>
              </a:rPr>
              <a:t>Số</a:t>
            </a:r>
            <a:r>
              <a:rPr sz="1800" b="0" dirty="0">
                <a:solidFill>
                  <a:srgbClr val="E2E8F0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E2E8F0"/>
                </a:solidFill>
                <a:latin typeface="Arial"/>
              </a:rPr>
              <a:t>liệu</a:t>
            </a:r>
            <a:r>
              <a:rPr sz="1800" b="0" dirty="0">
                <a:solidFill>
                  <a:srgbClr val="E2E8F0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E2E8F0"/>
                </a:solidFill>
                <a:latin typeface="Arial"/>
              </a:rPr>
              <a:t>thực</a:t>
            </a:r>
            <a:r>
              <a:rPr sz="1800" b="0" dirty="0">
                <a:solidFill>
                  <a:srgbClr val="E2E8F0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E2E8F0"/>
                </a:solidFill>
                <a:latin typeface="Arial"/>
              </a:rPr>
              <a:t>tế</a:t>
            </a:r>
            <a:r>
              <a:rPr sz="1800" b="0" dirty="0">
                <a:solidFill>
                  <a:srgbClr val="E2E8F0"/>
                </a:solidFill>
                <a:latin typeface="Arial"/>
              </a:rPr>
              <a:t> · surprises · v2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Public URL  ·  click record  ·  nói và nghe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7040880" cy="4297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dem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95951"/>
            <a:ext cx="6858000" cy="407193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955279" y="1783080"/>
            <a:ext cx="3749039" cy="42976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183879" y="1920240"/>
            <a:ext cx="32918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42B4FF"/>
                </a:solidFill>
                <a:latin typeface="Trebuchet MS"/>
              </a:rPr>
              <a:t>DEMO URL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2286000"/>
            <a:ext cx="329183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dirty="0">
                <a:solidFill>
                  <a:srgbClr val="FFFFFF"/>
                </a:solidFill>
                <a:latin typeface="Arial"/>
              </a:rPr>
              <a:t>dg0w939ktclw6.cloudfront.net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2834640"/>
            <a:ext cx="32918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42B4FF"/>
                </a:solidFill>
                <a:latin typeface="Trebuchet MS"/>
              </a:rPr>
              <a:t>THỬ VỚI CÂU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3246120"/>
            <a:ext cx="3291839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“Do you have MacBook Pro?”</a:t>
            </a:r>
          </a:p>
          <a:p>
            <a:pPr algn="l">
              <a:lnSpc>
                <a:spcPct val="16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“What about iPhone 13 stock?”</a:t>
            </a:r>
          </a:p>
          <a:p>
            <a:pPr algn="l">
              <a:lnSpc>
                <a:spcPct val="16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“Tell me about Apple Watch.”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5029200"/>
            <a:ext cx="32918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8A3D"/>
                </a:solidFill>
                <a:latin typeface="Trebuchet MS"/>
              </a:rPr>
              <a:t>LƯU 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5440680"/>
            <a:ext cx="3291839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dirty="0">
                <a:solidFill>
                  <a:srgbClr val="97A6BA"/>
                </a:solidFill>
                <a:latin typeface="Arial"/>
              </a:rPr>
              <a:t>Cap $5/day  ·  concurrency = 2.</a:t>
            </a:r>
          </a:p>
          <a:p>
            <a:pPr algn="l">
              <a:lnSpc>
                <a:spcPct val="140000"/>
              </a:lnSpc>
            </a:pPr>
            <a:r>
              <a:rPr sz="1100" b="0" dirty="0" err="1">
                <a:solidFill>
                  <a:srgbClr val="97A6BA"/>
                </a:solidFill>
                <a:latin typeface="Arial"/>
              </a:rPr>
              <a:t>Nếu</a:t>
            </a:r>
            <a:r>
              <a:rPr sz="1100" b="0" dirty="0">
                <a:solidFill>
                  <a:srgbClr val="97A6BA"/>
                </a:solidFill>
                <a:latin typeface="Arial"/>
              </a:rPr>
              <a:t> busy </a:t>
            </a:r>
            <a:r>
              <a:rPr sz="1100" b="0" dirty="0" err="1">
                <a:solidFill>
                  <a:srgbClr val="97A6BA"/>
                </a:solidFill>
                <a:latin typeface="Arial"/>
              </a:rPr>
              <a:t>sẽ</a:t>
            </a:r>
            <a:r>
              <a:rPr sz="1100" b="0" dirty="0">
                <a:solidFill>
                  <a:srgbClr val="97A6BA"/>
                </a:solidFill>
                <a:latin typeface="Arial"/>
              </a:rPr>
              <a:t> queue </a:t>
            </a:r>
            <a:r>
              <a:rPr sz="1100" b="0" dirty="0" err="1">
                <a:solidFill>
                  <a:srgbClr val="97A6BA"/>
                </a:solidFill>
                <a:latin typeface="Arial"/>
              </a:rPr>
              <a:t>vài</a:t>
            </a:r>
            <a:r>
              <a:rPr sz="11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97A6BA"/>
                </a:solidFill>
                <a:latin typeface="Arial"/>
              </a:rPr>
              <a:t>giây</a:t>
            </a:r>
            <a:r>
              <a:rPr sz="1100" b="0" dirty="0">
                <a:solidFill>
                  <a:srgbClr val="97A6BA"/>
                </a:solidFill>
                <a:latin typeface="Arial"/>
              </a:rPr>
              <a:t>.</a:t>
            </a:r>
          </a:p>
        </p:txBody>
      </p:sp>
      <p:pic>
        <p:nvPicPr>
          <p:cNvPr id="15" name="Picture 14" descr="fcj-logo-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Số liệu thực tế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Cost  ·  latency  ·  pricing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3657600" cy="1993392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3657600" cy="73152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42B4FF"/>
                </a:solidFill>
                <a:latin typeface="Trebuchet MS"/>
              </a:rPr>
              <a:t>&lt;$1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8036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/h burst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9184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Voice + KB + dashboard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783080"/>
            <a:ext cx="3657600" cy="1993392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89120" y="1783080"/>
            <a:ext cx="3657600" cy="73152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0" y="1965960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3DE8A1"/>
                </a:solidFill>
                <a:latin typeface="Trebuchet MS"/>
              </a:rPr>
              <a:t>~$0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88036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idle qua đêm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29184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AgentCore $0, S3V $0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783080"/>
            <a:ext cx="3657600" cy="1993392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38160" y="1783080"/>
            <a:ext cx="3657600" cy="73152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21040" y="1965960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8C4FFF"/>
                </a:solidFill>
                <a:latin typeface="Trebuchet MS"/>
              </a:rPr>
              <a:t>0.86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88036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KB top 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29184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iPhone 13 stock query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941064"/>
            <a:ext cx="3657600" cy="1993392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40080" y="3941064"/>
            <a:ext cx="3657600" cy="73152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" y="4123944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42B4FF"/>
                </a:solidFill>
                <a:latin typeface="Trebuchet MS"/>
              </a:rPr>
              <a:t>&lt;3s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038344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p95 latency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449824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end-of-utt → audio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9120" y="3941064"/>
            <a:ext cx="3657600" cy="1993392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389120" y="3941064"/>
            <a:ext cx="3657600" cy="73152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0" y="4123944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3DE8A1"/>
                </a:solidFill>
                <a:latin typeface="Trebuchet MS"/>
              </a:rPr>
              <a:t>$0.017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5038344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/phút conversation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5449824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Nova 2 Sonic pricing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3941064"/>
            <a:ext cx="3657600" cy="1993392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138160" y="3941064"/>
            <a:ext cx="3657600" cy="73152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21040" y="4123944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321040" y="5038344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321040" y="5449824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pic>
        <p:nvPicPr>
          <p:cNvPr id="36" name="Picture 35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dirty="0" err="1">
                <a:solidFill>
                  <a:srgbClr val="FFFFFF"/>
                </a:solidFill>
                <a:latin typeface="Trebuchet MS"/>
              </a:rPr>
              <a:t>Hướng</a:t>
            </a:r>
            <a:r>
              <a:rPr sz="3200" b="1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3200" b="1" dirty="0" err="1">
                <a:solidFill>
                  <a:srgbClr val="FFFFFF"/>
                </a:solidFill>
                <a:latin typeface="Trebuchet MS"/>
              </a:rPr>
              <a:t>mở</a:t>
            </a:r>
            <a:r>
              <a:rPr sz="3200" b="1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3200" b="1" dirty="0" err="1">
                <a:solidFill>
                  <a:srgbClr val="FFFFFF"/>
                </a:solidFill>
                <a:latin typeface="Trebuchet MS"/>
              </a:rPr>
              <a:t>rộng</a:t>
            </a:r>
            <a:r>
              <a:rPr sz="3200" b="1" dirty="0">
                <a:solidFill>
                  <a:srgbClr val="FFFFFF"/>
                </a:solidFill>
                <a:latin typeface="Trebuchet MS"/>
              </a:rPr>
              <a:t> (v2 + </a:t>
            </a:r>
            <a:r>
              <a:rPr sz="3200" b="1" dirty="0" err="1">
                <a:solidFill>
                  <a:srgbClr val="FFFFFF"/>
                </a:solidFill>
                <a:latin typeface="Trebuchet MS"/>
              </a:rPr>
              <a:t>sau</a:t>
            </a:r>
            <a:r>
              <a:rPr sz="3200" b="1" dirty="0">
                <a:solidFill>
                  <a:srgbClr val="FFFFFF"/>
                </a:solidFill>
                <a:latin typeface="Trebuchet MS"/>
              </a:rP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Tại sao giữ v1 và hướng mở rộng tiếp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828800" cy="1033271"/>
          </a:xfrm>
          <a:prstGeom prst="roundRect">
            <a:avLst>
              <a:gd name="adj" fmla="val 5000"/>
            </a:avLst>
          </a:prstGeom>
          <a:solidFill>
            <a:srgbClr val="FF5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828800" cy="10332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dirty="0">
                <a:solidFill>
                  <a:srgbClr val="FFFFFF"/>
                </a:solidFill>
                <a:latin typeface="Trebuchet MS"/>
              </a:rPr>
              <a:t>v2.0 Twilio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14600" y="1783080"/>
            <a:ext cx="9189720" cy="1033271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697480" y="1892808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dirty="0">
                <a:solidFill>
                  <a:srgbClr val="FFFFFF"/>
                </a:solidFill>
                <a:latin typeface="Trebuchet MS"/>
              </a:rPr>
              <a:t>App Runner edge </a:t>
            </a:r>
            <a:r>
              <a:rPr sz="1400" b="1" dirty="0" err="1">
                <a:solidFill>
                  <a:srgbClr val="FFFFFF"/>
                </a:solidFill>
                <a:latin typeface="Trebuchet MS"/>
              </a:rPr>
              <a:t>từ</a:t>
            </a:r>
            <a:r>
              <a:rPr sz="1400" b="1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Trebuchet MS"/>
              </a:rPr>
              <a:t>chối</a:t>
            </a:r>
            <a:r>
              <a:rPr sz="1400" b="1" dirty="0">
                <a:solidFill>
                  <a:srgbClr val="FFFFFF"/>
                </a:solidFill>
                <a:latin typeface="Trebuchet MS"/>
              </a:rPr>
              <a:t> inbound WS upgrade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2313432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dirty="0">
                <a:solidFill>
                  <a:srgbClr val="97A6BA"/>
                </a:solidFill>
                <a:latin typeface="Arial"/>
              </a:rPr>
              <a:t>Bridge code </a:t>
            </a:r>
            <a:r>
              <a:rPr sz="1100" b="0" dirty="0" err="1">
                <a:solidFill>
                  <a:srgbClr val="97A6BA"/>
                </a:solidFill>
                <a:latin typeface="Arial"/>
              </a:rPr>
              <a:t>đúng</a:t>
            </a:r>
            <a:r>
              <a:rPr sz="11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97A6BA"/>
                </a:solidFill>
                <a:latin typeface="Arial"/>
              </a:rPr>
              <a:t>nhưng</a:t>
            </a:r>
            <a:r>
              <a:rPr sz="1100" b="0" dirty="0">
                <a:solidFill>
                  <a:srgbClr val="97A6BA"/>
                </a:solidFill>
                <a:latin typeface="Arial"/>
              </a:rPr>
              <a:t> compute target defective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907791"/>
            <a:ext cx="1828800" cy="1033271"/>
          </a:xfrm>
          <a:prstGeom prst="roundRect">
            <a:avLst>
              <a:gd name="adj" fmla="val 5000"/>
            </a:avLst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907791"/>
            <a:ext cx="1828800" cy="10332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Trebuchet MS"/>
              </a:rPr>
              <a:t>v2.0 → Connect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2907791"/>
            <a:ext cx="9189720" cy="1033271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697480" y="3017519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Trebuchet MS"/>
              </a:rPr>
              <a:t>Pivot sang Amazon Connect + Lex V2 + Polly Neural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3438143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Phát hiện: IVR-style, gap 3-5s vs Sonic &lt;2s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032502"/>
            <a:ext cx="1828800" cy="1033271"/>
          </a:xfrm>
          <a:prstGeom prst="roundRect">
            <a:avLst>
              <a:gd name="adj" fmla="val 5000"/>
            </a:avLst>
          </a:prstGeom>
          <a:solidFill>
            <a:srgbClr val="D43A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4032502"/>
            <a:ext cx="1828800" cy="10332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Trebuchet MS"/>
              </a:rPr>
              <a:t>v2.0 DROP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14600" y="4032502"/>
            <a:ext cx="9189720" cy="1033271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697480" y="4142230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Trebuchet MS"/>
              </a:rPr>
              <a:t>Giữ nguyên v1 Nova Sonic web — newest tech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4562854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Speech-to-speech là hướng đi đúng của ngành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57213"/>
            <a:ext cx="1828800" cy="1033271"/>
          </a:xfrm>
          <a:prstGeom prst="roundRect">
            <a:avLst>
              <a:gd name="adj" fmla="val 5000"/>
            </a:avLst>
          </a:prstGeom>
          <a:solidFill>
            <a:srgbClr val="8C4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5157213"/>
            <a:ext cx="1828800" cy="10332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Trebuchet MS"/>
              </a:rPr>
              <a:t>Tương lai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14600" y="5157213"/>
            <a:ext cx="9189720" cy="1033271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697480" y="5266941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Trebuchet MS"/>
              </a:rPr>
              <a:t>Multi-language, multi-agent routing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80" y="5687565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Persistent conversation, AgentCore vs ECS</a:t>
            </a:r>
          </a:p>
        </p:txBody>
      </p:sp>
      <p:pic>
        <p:nvPicPr>
          <p:cNvPr id="26" name="Picture 25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dirty="0" err="1">
                <a:solidFill>
                  <a:srgbClr val="FFFFFF"/>
                </a:solidFill>
                <a:latin typeface="Trebuchet MS"/>
              </a:rPr>
              <a:t>Recap</a:t>
            </a:r>
            <a:endParaRPr sz="3200" b="1" dirty="0">
              <a:solidFill>
                <a:srgbClr val="FFFFFF"/>
              </a:solidFill>
              <a:latin typeface="Trebuchet M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Surprises và pitfalls đáng nhớ nhất từ dự án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5440680" cy="44348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440680" cy="50292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Trebuchet MS"/>
              </a:rPr>
              <a:t>TECHNICAL SURPRISES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68880"/>
            <a:ext cx="5029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1" dirty="0">
                <a:solidFill>
                  <a:srgbClr val="8C4FFF"/>
                </a:solidFill>
                <a:latin typeface="Arial"/>
              </a:rPr>
              <a:t>•  Browser </a:t>
            </a:r>
            <a:r>
              <a:rPr sz="1400" b="1" dirty="0" err="1">
                <a:solidFill>
                  <a:srgbClr val="8C4FFF"/>
                </a:solidFill>
                <a:latin typeface="Arial"/>
              </a:rPr>
              <a:t>không</a:t>
            </a:r>
            <a:r>
              <a:rPr sz="14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400" b="1" dirty="0" err="1">
                <a:solidFill>
                  <a:srgbClr val="8C4FFF"/>
                </a:solidFill>
                <a:latin typeface="Arial"/>
              </a:rPr>
              <a:t>ký</a:t>
            </a:r>
            <a:r>
              <a:rPr sz="14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400" b="1" dirty="0" err="1">
                <a:solidFill>
                  <a:srgbClr val="8C4FFF"/>
                </a:solidFill>
                <a:latin typeface="Arial"/>
              </a:rPr>
              <a:t>được</a:t>
            </a:r>
            <a:r>
              <a:rPr sz="1400" b="1" dirty="0">
                <a:solidFill>
                  <a:srgbClr val="8C4FFF"/>
                </a:solidFill>
                <a:latin typeface="Arial"/>
              </a:rPr>
              <a:t> SigV4 </a:t>
            </a:r>
            <a:r>
              <a:rPr sz="1400" b="1" dirty="0" err="1">
                <a:solidFill>
                  <a:srgbClr val="8C4FFF"/>
                </a:solidFill>
                <a:latin typeface="Arial"/>
              </a:rPr>
              <a:t>cho</a:t>
            </a:r>
            <a:r>
              <a:rPr sz="1400" b="1" dirty="0">
                <a:solidFill>
                  <a:srgbClr val="8C4FFF"/>
                </a:solidFill>
                <a:latin typeface="Arial"/>
              </a:rPr>
              <a:t> WS → </a:t>
            </a:r>
            <a:r>
              <a:rPr sz="1400" b="1" dirty="0" err="1">
                <a:solidFill>
                  <a:srgbClr val="8C4FFF"/>
                </a:solidFill>
                <a:latin typeface="Arial"/>
              </a:rPr>
              <a:t>cần</a:t>
            </a:r>
            <a:r>
              <a:rPr sz="1400" b="1" dirty="0">
                <a:solidFill>
                  <a:srgbClr val="8C4FFF"/>
                </a:solidFill>
                <a:latin typeface="Arial"/>
              </a:rPr>
              <a:t> Lambda </a:t>
            </a:r>
            <a:r>
              <a:rPr sz="1400" b="1" dirty="0" err="1">
                <a:solidFill>
                  <a:srgbClr val="8C4FFF"/>
                </a:solidFill>
                <a:latin typeface="Arial"/>
              </a:rPr>
              <a:t>presigner</a:t>
            </a:r>
            <a:endParaRPr sz="1400" b="1" dirty="0">
              <a:solidFill>
                <a:srgbClr val="8C4FFF"/>
              </a:solidFill>
              <a:latin typeface="Arial"/>
            </a:endParaRPr>
          </a:p>
          <a:p>
            <a:pPr algn="l">
              <a:lnSpc>
                <a:spcPct val="155000"/>
              </a:lnSpc>
            </a:pPr>
            <a:r>
              <a:rPr sz="1400" b="1" dirty="0">
                <a:solidFill>
                  <a:srgbClr val="8C4FFF"/>
                </a:solidFill>
                <a:latin typeface="Arial"/>
              </a:rPr>
              <a:t>•  Sonic </a:t>
            </a:r>
            <a:r>
              <a:rPr sz="1400" b="1" dirty="0" err="1">
                <a:solidFill>
                  <a:srgbClr val="8C4FFF"/>
                </a:solidFill>
                <a:latin typeface="Arial"/>
              </a:rPr>
              <a:t>có</a:t>
            </a:r>
            <a:r>
              <a:rPr sz="1400" b="1" dirty="0">
                <a:solidFill>
                  <a:srgbClr val="8C4FFF"/>
                </a:solidFill>
                <a:latin typeface="Arial"/>
              </a:rPr>
              <a:t> 8-min stream cap → </a:t>
            </a:r>
            <a:r>
              <a:rPr sz="1400" b="1" dirty="0" err="1">
                <a:solidFill>
                  <a:srgbClr val="8C4FFF"/>
                </a:solidFill>
                <a:latin typeface="Arial"/>
              </a:rPr>
              <a:t>cần</a:t>
            </a:r>
            <a:r>
              <a:rPr sz="1400" b="1" dirty="0">
                <a:solidFill>
                  <a:srgbClr val="8C4FFF"/>
                </a:solidFill>
                <a:latin typeface="Arial"/>
              </a:rPr>
              <a:t> rotate connection transparent</a:t>
            </a:r>
          </a:p>
          <a:p>
            <a:pPr algn="l">
              <a:lnSpc>
                <a:spcPct val="155000"/>
              </a:lnSpc>
            </a:pPr>
            <a:r>
              <a:rPr sz="1400" b="1" dirty="0">
                <a:solidFill>
                  <a:srgbClr val="8C4FFF"/>
                </a:solidFill>
                <a:latin typeface="Arial"/>
              </a:rPr>
              <a:t>•  S3 Vectors metadata cap = </a:t>
            </a:r>
            <a:r>
              <a:rPr sz="1400" b="1" dirty="0" err="1">
                <a:solidFill>
                  <a:srgbClr val="8C4FFF"/>
                </a:solidFill>
                <a:latin typeface="Arial"/>
              </a:rPr>
              <a:t>chỉ</a:t>
            </a:r>
            <a:r>
              <a:rPr sz="1400" b="1" dirty="0">
                <a:solidFill>
                  <a:srgbClr val="8C4FFF"/>
                </a:solidFill>
                <a:latin typeface="Arial"/>
              </a:rPr>
              <a:t> 2 fields/document</a:t>
            </a:r>
          </a:p>
          <a:p>
            <a:pPr algn="l">
              <a:lnSpc>
                <a:spcPct val="155000"/>
              </a:lnSpc>
            </a:pPr>
            <a:endParaRPr sz="1400" b="1" dirty="0">
              <a:solidFill>
                <a:srgbClr val="8C4FFF"/>
              </a:solidFill>
              <a:latin typeface="Arial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263640" y="1783080"/>
            <a:ext cx="5440680" cy="44348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783080"/>
            <a:ext cx="5440680" cy="50292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0" y="178308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Trebuchet MS"/>
              </a:rPr>
              <a:t>OPERATIONAL PITFALLS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468880"/>
            <a:ext cx="5029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ECR phải IMMUTABLE + scan-on-push</a:t>
            </a:r>
          </a:p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Billing alarm BẮT BUỘC ở us-east-1</a:t>
            </a:r>
          </a:p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CloudFront disable chờ 15-30 min trước khi delete</a:t>
            </a:r>
          </a:p>
          <a:p>
            <a:pPr algn="l">
              <a:lnSpc>
                <a:spcPct val="155000"/>
              </a:lnSpc>
            </a:pPr>
            <a:endParaRPr sz="1400" b="1">
              <a:solidFill>
                <a:srgbClr val="42B4FF"/>
              </a:solidFill>
              <a:latin typeface="Arial"/>
            </a:endParaRPr>
          </a:p>
        </p:txBody>
      </p:sp>
      <p:pic>
        <p:nvPicPr>
          <p:cNvPr id="14" name="Picture 13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400800" y="-1371600"/>
            <a:ext cx="9144000" cy="9144000"/>
          </a:xfrm>
          <a:prstGeom prst="ellipse">
            <a:avLst/>
          </a:prstGeom>
          <a:gradFill rotWithShape="1">
            <a:gsLst>
              <a:gs pos="0">
                <a:srgbClr val="42B4FF"/>
              </a:gs>
              <a:gs pos="33000">
                <a:srgbClr val="8C4FFF"/>
              </a:gs>
              <a:gs pos="66000">
                <a:srgbClr val="D43AC8"/>
              </a:gs>
              <a:gs pos="100000">
                <a:srgbClr val="FF8A3D"/>
              </a:gs>
            </a:gsLst>
            <a:path path="circle">
              <a:fillToRect l="100000" b="10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05840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0" b="1">
                <a:solidFill>
                  <a:srgbClr val="FFFFFF"/>
                </a:solidFill>
                <a:latin typeface="Trebuchet MS"/>
              </a:rPr>
              <a:t>Cảm ơn!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743200"/>
            <a:ext cx="2743200" cy="9144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E2E8F0"/>
                </a:solidFill>
                <a:latin typeface="Trebuchet MS"/>
              </a:rPr>
              <a:t>Câu hỏi và thảo luận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023360"/>
            <a:ext cx="5943600" cy="182880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416052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Trebuchet MS"/>
              </a:rPr>
              <a:t>Kiet Tran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617720"/>
            <a:ext cx="5486400" cy="194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dirty="0">
                <a:solidFill>
                  <a:srgbClr val="97A6BA"/>
                </a:solidFill>
                <a:latin typeface="Arial"/>
              </a:rPr>
              <a:t>Builder · AWS </a:t>
            </a:r>
            <a:r>
              <a:rPr lang="en-US" sz="1200" dirty="0">
                <a:solidFill>
                  <a:srgbClr val="97A6BA"/>
                </a:solidFill>
                <a:latin typeface="Arial"/>
              </a:rPr>
              <a:t>Student Builder Group HUFLIT</a:t>
            </a:r>
            <a:endParaRPr sz="1200" b="0" dirty="0">
              <a:solidFill>
                <a:srgbClr val="97A6BA"/>
              </a:solidFill>
              <a:latin typeface="Arial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68680" y="5029200"/>
            <a:ext cx="5486400" cy="194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1200" dirty="0">
                <a:solidFill>
                  <a:srgbClr val="42B4FF"/>
                </a:solidFill>
                <a:latin typeface="Arial"/>
              </a:rPr>
              <a:t>trantankiet140401</a:t>
            </a:r>
            <a:r>
              <a:rPr sz="1200" b="0" dirty="0">
                <a:solidFill>
                  <a:srgbClr val="42B4FF"/>
                </a:solidFill>
                <a:latin typeface="Arial"/>
              </a:rPr>
              <a:t>@gmail.com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39496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2B4FF"/>
                </a:solidFill>
                <a:latin typeface="Arial"/>
              </a:rPr>
              <a:t>github.com/KenzyTran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4023360"/>
            <a:ext cx="4846320" cy="182880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086600" y="416052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2B4FF"/>
                </a:solidFill>
                <a:latin typeface="Trebuchet MS"/>
              </a:rPr>
              <a:t>REPO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45262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dirty="0">
                <a:solidFill>
                  <a:srgbClr val="E2E8F0"/>
                </a:solidFill>
                <a:latin typeface="Arial"/>
              </a:rPr>
              <a:t>github.com/</a:t>
            </a:r>
            <a:r>
              <a:rPr sz="1200" b="0" dirty="0" err="1">
                <a:solidFill>
                  <a:srgbClr val="E2E8F0"/>
                </a:solidFill>
                <a:latin typeface="Arial"/>
              </a:rPr>
              <a:t>KenzyTran</a:t>
            </a:r>
            <a:r>
              <a:rPr sz="1200" b="0" dirty="0">
                <a:solidFill>
                  <a:srgbClr val="E2E8F0"/>
                </a:solidFill>
                <a:latin typeface="Arial"/>
              </a:rPr>
              <a:t>/</a:t>
            </a:r>
            <a:r>
              <a:rPr sz="1200" b="0" dirty="0" err="1">
                <a:solidFill>
                  <a:srgbClr val="E2E8F0"/>
                </a:solidFill>
                <a:latin typeface="Arial"/>
              </a:rPr>
              <a:t>hera</a:t>
            </a:r>
            <a:endParaRPr sz="1200" b="0" dirty="0">
              <a:solidFill>
                <a:srgbClr val="E2E8F0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1491</Words>
  <Application>Microsoft Office PowerPoint</Application>
  <PresentationFormat>Widescreen</PresentationFormat>
  <Paragraphs>238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Tran Kiet</cp:lastModifiedBy>
  <cp:revision>23</cp:revision>
  <dcterms:created xsi:type="dcterms:W3CDTF">2013-01-27T09:14:16Z</dcterms:created>
  <dcterms:modified xsi:type="dcterms:W3CDTF">2026-05-28T14:34:09Z</dcterms:modified>
  <cp:category/>
</cp:coreProperties>
</file>