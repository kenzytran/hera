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4"/>
  </p:notesMasterIdLst>
  <p:sldIdLst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</p:sldIdLst>
  <p:sldSz cx="12192000" cy="6858000"/>
  <p:notesSz cx="6858000" cy="9144000"/>
  <p:embeddedFontLst>
    <p:embeddedFont>
      <p:font typeface="Amazon Ember Display" panose="020B0604020202020204" charset="0"/>
      <p:regular r:id="rId25"/>
      <p:bold r:id="rId26"/>
      <p:italic r:id="rId27"/>
      <p:boldItalic r:id="rId28"/>
    </p:embeddedFont>
    <p:embeddedFont>
      <p:font typeface="Amazon Ember Duospace" panose="020B0604020202020204" charset="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871"/>
    <a:srgbClr val="DEDEE3"/>
    <a:srgbClr val="D14600"/>
    <a:srgbClr val="006CE0"/>
    <a:srgbClr val="008559"/>
    <a:srgbClr val="7300E5"/>
    <a:srgbClr val="D600BA"/>
    <a:srgbClr val="8C8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2CF68-D4E0-E601-83E8-1D1410234B78}" v="14" dt="2026-05-10T21:56:03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6"/>
    <p:restoredTop sz="94772"/>
  </p:normalViewPr>
  <p:slideViewPr>
    <p:cSldViewPr snapToGrid="0">
      <p:cViewPr varScale="1">
        <p:scale>
          <a:sx n="90" d="100"/>
          <a:sy n="90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65C6B-A0EB-B345-85AD-CC639E278AD5}" type="datetimeFigureOut">
              <a:rPr lang="da-DK" smtClean="0"/>
              <a:t>30-05-2026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9CB3D-9B9B-C540-B170-4844630B8FB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12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png"/><Relationship Id="rId4" Type="http://schemas.openxmlformats.org/officeDocument/2006/relationships/image" Target="../media/image2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png"/><Relationship Id="rId4" Type="http://schemas.openxmlformats.org/officeDocument/2006/relationships/image" Target="../media/image54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7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4.png"/><Relationship Id="rId4" Type="http://schemas.openxmlformats.org/officeDocument/2006/relationships/image" Target="../media/image35.sv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svg"/><Relationship Id="rId5" Type="http://schemas.openxmlformats.org/officeDocument/2006/relationships/image" Target="../media/image78.svg"/><Relationship Id="rId4" Type="http://schemas.openxmlformats.org/officeDocument/2006/relationships/image" Target="../media/image7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3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8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47D8DF4-5955-37F7-84A5-0450FA9A1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AE210-12E3-DF68-ED52-9B488FA1B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7607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4E8538-7414-88D9-D26D-AD80E73F6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71C3375-D779-B6CD-317B-72F8CCE944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01118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2938272-3CA1-48F3-2CDF-D57361B6A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6FD1CE67-DC10-2B60-601C-B128610CD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44672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B70CC5-60B9-18C5-97BE-AC0EB3148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56203FAF-5F7A-E2AB-1F4F-6139AC3F2E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86296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E49BE1E-F05F-B8E6-071D-4AC8675835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66F3E15-89FB-FAE4-843C-5C8EFB79F1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15920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DD13DE1-6FF5-5020-3264-1CBE007D42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5AA5DEF-5007-BC49-AF5B-2A8A9172DE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4913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8EF7E4D-1290-52B4-D6CF-612DD7C0AF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ED192A-5D56-85AB-4269-1209C1AEF3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18750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6F3F9B0-C0CD-3049-753C-05BCA962C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4D91F10-9BB7-F1FA-BD1C-AAE09D5E2B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0828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96A94E-CBE1-4628-770E-C4C55D834D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6007E27-7342-404E-5041-ECF7DCD58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65228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30C169-F839-D8D6-E363-E3F9E0F9BF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BCDB725-E0E1-2214-91DB-15A3452E3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47269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A5260C-3747-1A48-FF69-9DC4DB5C2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0D826A-62A5-8B29-F0F2-D32025599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DB2AFB-BDB9-DC7E-47A2-5CBCD33AB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88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7568F4-4F79-0520-00A7-D5657BFF29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79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8458AA3-5F16-7BE6-75AA-809018FC8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0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CBD583-E8BC-1684-9A4D-D61DA8E2B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3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D8D8B9-3FC0-1D35-2201-FF21996F1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41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CC4C38-DB1B-4F2E-1D56-2EB5F09FA8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8791" y="6092792"/>
            <a:ext cx="765208" cy="765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FA01BA8-29C5-1CA4-DA9F-B655031C11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E3B195-718B-4FE4-4ACC-18445D6FCA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51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E88701-8616-46D6-355A-F93A7E4C1C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44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A0D0A1-65EA-D307-0653-736966C6A7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71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37AC05-69BD-5ECB-E910-329BB4BECC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6D83AD-EB3A-947A-DD57-E1F504755B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57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A 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FDE4A3-2B5D-2979-84ED-4A9F58316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524272-691E-6748-D983-B7C5477431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26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BE262D-425E-A627-59E8-C64552392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30CC7C-4F06-FADC-1A66-828E915D08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1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CBD5DD-DBA2-063D-0F27-1F6566E92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453E9A9-822C-14DB-520A-7AC5B63C0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88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ABD480-0343-F735-3C49-E3358EA6A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2C5E13-4D18-F97F-4BD7-CE102825B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89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E63A1-DC69-F078-A35E-216777573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02D6063-53E7-27C3-F781-5ABB7E4D7F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5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A17399-9BD0-523C-1FEE-D664AC466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BCD445-0957-A256-EECC-A3316F8B3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87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2D939D-63F7-865B-C976-416405CC0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262F06-461B-7CE9-54A8-10D872DC35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679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9BA9F0-9D69-C5FC-89C4-F394B63337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92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014E5C8-09EE-2E74-3AC3-FB68FF97A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92A89F2-ABFB-D6F6-C9E1-103749B4667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2E1A46-8BBA-4D2B-7AFC-C9E58000FF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488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5D34725-67E9-2352-B0E7-B41E8E95B7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7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B9F4DD3-6674-0039-A599-0CE7F22F50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993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8DAAF9-5E39-98E7-F14D-747F0BBD1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35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0639059-1F52-C7BB-7EAC-E0FDC8F72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145462-C34A-BED5-9AEE-1232875B3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54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9267F0-523B-45CB-FC68-E9A35865F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69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3A1608-C6FD-DA86-633E-9226590BC0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539C3A8-ED20-DDD4-8A01-63C9CB05C3D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B95A5F-FF9F-E938-57C4-44CC7F06F26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75231D-5825-AE5F-F6E9-6F8E218275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49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181034-E3E1-75D0-C431-AA4133ABA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30BEC4E-5BCE-7935-6F1B-D8768BAA6F0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1C935B-F6A1-EFE5-8326-553BC443EA4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F92A121-3817-6CDB-8639-23F65CFE1C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32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5D5D8A-DD8D-2E4F-8D01-4E0A7F803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BF6E51F-4141-82B6-B041-320633DF23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862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A312D6-893F-BC34-F08C-CC9CE97619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9E743B2-3D49-7881-AB8A-D5203F599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080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Whit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AAF7DFD-008C-0D6F-0FFD-C4A218C297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AA4738-13C1-E9B0-5107-B536BC6697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21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78443A-73D1-0D2C-1C51-643CD2352E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6CD182C-6915-C7DA-4FF3-44DA8D39B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133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3DFFFF-F7E0-36FE-28A5-ADCBE03A2C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98F575-F6C3-4A3B-49B4-0C7330DAB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069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7419FD-09A1-A531-34D0-CAC1509EDC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E1B426F-DD88-00CD-E103-3FABF8D60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729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41F3B4-D3BE-3B57-52E0-52E28CDE9E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194A138-D15A-F939-5D1A-8F8FEBB4DC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56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46B35FF-1398-8DC8-469B-3AFAF28144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25505BC-4923-1951-45F5-364788D815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85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453B466-B63B-B2D6-4A24-D9A356FB1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E53A806-40E7-FE6A-B358-5E0E8E91A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012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557407-0374-0028-45C8-B37D4D3DA3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0BA264-2513-C9DE-734C-34DFA09134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609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09C8EC9-2F57-520C-B591-A38C05A350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12696B-EA57-4144-3932-ABFCB46787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56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AE8BA21-5D16-8432-E8A6-0028AE0B24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D97242-D74A-C9B0-3AC3-8997D6232B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26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C0C72E2-CA94-2C02-E576-B4D4DD266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D17669-5088-0A5A-6FF9-1549FF7798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854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33749D-F1CA-2D64-4675-6A42F479C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971A98-1436-848F-7FD5-6DAD06194B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86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D545055-BF98-A504-5F81-C3A9B099A1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9F33D7F-9938-70A4-58D1-50718DE9B6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40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B107AFC-AF52-BF34-98DC-509926A42C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5524868-8A0A-3732-4DB1-151E6E3027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081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D4638C-4099-7E91-8A9F-2B188B831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4CF0C6-15A2-CBB7-245C-4310BAD28D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21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BE28E1A-01BF-6719-3F25-FF7ABB48F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1667DF-7E1E-2301-FB33-922A8FB34C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042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40A802-5D9F-1519-2C0B-11928977F6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F4D4787-336D-A563-49B9-CB7CCCE7E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50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3FF3C0C-2A81-C3E0-D31F-91BA368DD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3316DCF-2620-8B94-4F00-EED9AFD27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308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31653F-E472-6512-321F-4F68D0CC82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81B1B4-38CC-908D-9528-DA147FD9A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630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22B38-9A64-41B2-79D5-F4CEC98881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1D2F77-6734-54AB-A783-0E2FD44A39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577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68DBCD-5D3C-28D6-0448-CC9969425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089FF38-D3D0-0BCD-2BC7-3B564A3326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56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C60BC7-0C50-10FB-7151-EA11F40EF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5F5C516-8FF0-EF01-997B-C5520A81F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825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4A2351E-7C3E-B385-7FE6-B397F31ABD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4C7F4FC-A2F2-7EC3-3DB4-16CCBBEEF8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400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E0BE9-9E69-F008-442C-DC7C55E13B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7169C8-D397-5C40-8586-7E55F3462E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93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1715CB-C1BE-A469-26C3-2B34ECCD2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2719-D113-906F-557A-AB07F529674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D71B1E-50D4-E0C7-E22E-4757F4CEE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AE92D56-60D0-B4E4-B0BF-E1CAF0C62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4705-ACEB-0B82-894F-D6448045AE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869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4AEC06-17CE-587F-3EEA-B146F34E63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E541615-0BCE-7718-694F-1F60475D6F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1C7BC6-053F-C22C-41D0-7484276C7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40CC72-8E17-D6BD-AE8E-F123B7E89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C26B89-C9D2-0390-6C72-C0DCFECD32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028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CB3C19-D281-35C5-CFD4-92091B9DF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80F6F-B874-9956-A39D-B09B7463E4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36E2B1E-49B7-C6D5-A990-D802C44B16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34E015-13B4-70B3-C7CB-3AC79D632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C4B44-61F1-C579-6A50-C0B2E7592F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45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EE1858-6798-7E28-BEE5-466468BC38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9C90D3-135E-F448-A122-BA9C3BDB7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81F9-9990-F54B-612C-58FAC23431C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C1FF32-B384-59B9-5A4F-F418B697F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6D606-802A-37E5-4599-45C76CC22C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731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07F580-E3F9-3306-8AED-131FACA8ED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417" y="6099863"/>
            <a:ext cx="765208" cy="7652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5C755B-2397-4960-DCD7-B14B849136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B583AC2-54F2-EF5E-2E91-E262AE615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1C2AE4-5A69-065F-6BFC-FD9B86124C4F}"/>
              </a:ext>
            </a:extLst>
          </p:cNvPr>
          <p:cNvSpPr txBox="1"/>
          <p:nvPr userDrawn="1"/>
        </p:nvSpPr>
        <p:spPr>
          <a:xfrm>
            <a:off x="9153625" y="6367225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A5263-1D63-3D5A-A7C4-C4F4C28C0A6D}"/>
              </a:ext>
            </a:extLst>
          </p:cNvPr>
          <p:cNvSpPr txBox="1"/>
          <p:nvPr userDrawn="1"/>
        </p:nvSpPr>
        <p:spPr>
          <a:xfrm>
            <a:off x="0" y="6367225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93DC6-09A5-3E63-B78C-447C2630A93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15F13-335C-7AE7-6247-A4B72151C009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31ECE-D9AB-E01A-D432-C3532BBF95DA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6EF314-A183-D9CE-2D5E-B0D23CFA0116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D6D1E-03F8-3190-4871-764F4BFE73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77ECD4-23FF-E32B-F1E7-50CB2CB2BAEB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714C19D-D92A-BC23-911C-03ACE8388D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DF2322F-A173-5A5F-C9E2-EFD74D260A3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9AF63F0-9906-02BC-70D6-989C291780E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61EAD2C-1394-05C8-49B2-639EB96F92E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6B30064-3635-332E-F7CE-FAAB7642E613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A49DF716-6AF4-1B07-92A2-AE3CB6B209C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A914B4-22D6-BB71-A29E-73ADB51AE8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7D85E-7BB9-2701-372D-3CDF84A46136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12686-29EC-E621-F1DD-D6BF796B572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8C2B-1877-156E-0E33-E568F106E0D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2CA2C-A62B-8A3A-8910-D87BBDC8E69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7F72F-70FF-86A9-D421-9769D7F264D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CD98C-F648-0874-2697-83556BE0E795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3106B6-F2C6-687E-A996-A8D0844ED0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915FB18-6E56-B4E0-BCCC-81A7547959D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12E3D23-FB30-A2D8-26D7-D77DC203A8C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683FDC0-CD99-D86B-2028-4486E3DE8A6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554B0A2-71E3-F90A-C47D-A4FC6F07DBB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1A6B975-F791-EC2F-837B-EC3C84FD88A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CC082E-5EBD-76DE-8D1A-853CA894B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4A0D71-DA2A-EA3D-5057-E05C88D7B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898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DE4F0-794A-FC7F-0C7F-DACEDE6B3C12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E6176-58B7-BFFD-899E-5520DA1B6C9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B128A-61E1-17CF-CC43-AE37DB9CB20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2DAA5-3D43-72A3-D107-D20F32DA9A9B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FF82A-AAC5-1673-1B85-B36C8EEEA7DC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55AC3-9D6D-BCE3-BD5E-D26824C49596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EF2F901-536B-D057-9778-1172B2E642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6770CBE-9881-7355-582D-061D97FAB28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3ADC0F1-2968-8FD1-F030-77A0B664F63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CE9A461-EBC0-2D00-7A10-5DA246DAF408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E183A25-3663-CA9D-4936-3F307CFC241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7DCF528-D324-2F8A-33DB-8F83741431D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52948D1-7D8C-52F8-911E-3F63C2481E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A14D1C0-169D-B943-DA6F-016DA7B411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58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1F0E2-2DE2-BEB4-5FFE-50CD57D0C3CC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84236-65F1-C1D0-E328-FEA2706B5FC4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0E856-95B1-4B21-016D-8AFADA0AE24C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C22D2-0CC4-F729-CC94-DF7EC63AD935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03718-5CD1-D2E2-5484-0BCE71111F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C8EF1-EA1E-13F8-567A-B1A4ED9C9569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3C41345-4A3C-ED32-334C-2DB16827BE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BE6A78-E226-379F-BA4C-9CA76381978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FDE8A50-DE1D-FCEA-A344-D38AC583173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354D20-09E2-7938-F3D5-823E1A4C73A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A53CDEB-2EEB-EAEB-AE99-91ADE34B7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DDA8FB-1D43-18E9-16BC-8DE4D85E5A3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FCAD366-1D38-DC91-D0A7-8E55B3DE6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F68136E-97E5-5E56-E46A-5B832F33B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235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2B21E-234B-5D3C-4EB4-810B52F3322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34355-90DC-0BC4-1536-5BE708AC3433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5D8D4-9CEB-B19A-270C-9265E0F17CFF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54B30-D7A3-0A57-53E2-4ADE0822CE2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B5664-05B3-5C1D-06C1-35F8E6D227AF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508C2-EE2D-6FD3-58DB-5E35E624FFDD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6899079-C282-89F8-6EB5-E67BA020D46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8977ED-7E8F-39AA-C27A-61AD5F51760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230DECA-C5FC-12A5-E54D-B39D3DED740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521103-C7FB-1077-0F09-6ABA2E3C91B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7C69813-CAF5-294C-2729-3AFC400096E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F7A4379-1E65-7456-C2B8-6B377288B52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B53AF7D-3E9B-6167-EE15-5015A5515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7CE139E-4CE7-47AE-0FAC-7B7D4E292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143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870B6-9B5A-70F4-076A-80BDA87C00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BA6D8-A9F3-11A2-8A80-DDB689B8BBE7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FAD15-38F3-3412-6864-F2B15FDF0B5F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182D385-45AD-B207-BE22-C0281D054EB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FF3CFB2-0E67-5F09-A6DC-7126ED764E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36987-AE76-23C9-8662-D3995743236E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A7BC3D-8C18-95A9-F966-EB82040A487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D6056-708D-756B-6B17-CC8EBC7678AB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724EAF2-7703-B86C-2540-3F947061C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1D20F3A-A794-9FCA-5EC9-37808CDB0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552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D204A8-53CE-A5E9-9180-13071D565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6C9AE78-A61D-F298-BE8A-5EAC2FBAEDA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7B899-17D1-20DC-D0AE-5BC0B8C2C07C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CC5E0-3F53-27A9-5C37-DB2039A45F13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1C2D5D-6C86-9623-085A-21E4E3784EA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FB9D2E-CBD1-CB2E-A2EB-CBBAFF90FF9B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092DC-33EF-8813-2114-597759F5E72B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328E437-A037-E26C-0A14-0E476F8196D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577BB-7B7B-49D9-E0EB-6F144C96E350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272665-3B05-095B-8D21-EAC88CCBEC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4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9CAB4-50F5-15E4-182E-1BDBF66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21" y="365125"/>
            <a:ext cx="113278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4F8F-C09E-2F52-3A6E-E313891A1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821" y="1825625"/>
            <a:ext cx="11327803" cy="4035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D0EBD-44FC-DD4E-D37B-0E32B535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9158" y="6110057"/>
            <a:ext cx="235592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r>
              <a:rPr lang="da-DK"/>
              <a:t>This is a footer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F31D-A076-52FB-9AB9-7FC4D327D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06927" y="6165813"/>
            <a:ext cx="1204857" cy="3159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fld id="{7B5FACC5-58C6-DE4A-AF16-603A520A00DE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5462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85" r:id="rId2"/>
    <p:sldLayoutId id="2147483786" r:id="rId3"/>
    <p:sldLayoutId id="2147483787" r:id="rId4"/>
    <p:sldLayoutId id="2147483788" r:id="rId5"/>
    <p:sldLayoutId id="2147483784" r:id="rId6"/>
    <p:sldLayoutId id="2147483789" r:id="rId7"/>
    <p:sldLayoutId id="2147483790" r:id="rId8"/>
    <p:sldLayoutId id="2147483791" r:id="rId9"/>
    <p:sldLayoutId id="2147483792" r:id="rId10"/>
    <p:sldLayoutId id="2147483754" r:id="rId11"/>
    <p:sldLayoutId id="2147483780" r:id="rId12"/>
    <p:sldLayoutId id="2147483781" r:id="rId13"/>
    <p:sldLayoutId id="2147483782" r:id="rId14"/>
    <p:sldLayoutId id="2147483783" r:id="rId15"/>
    <p:sldLayoutId id="2147483760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762" r:id="rId30"/>
    <p:sldLayoutId id="2147483761" r:id="rId31"/>
    <p:sldLayoutId id="2147483807" r:id="rId32"/>
    <p:sldLayoutId id="2147483808" r:id="rId33"/>
    <p:sldLayoutId id="2147483809" r:id="rId34"/>
    <p:sldLayoutId id="2147483810" r:id="rId35"/>
    <p:sldLayoutId id="2147483811" r:id="rId36"/>
    <p:sldLayoutId id="2147483812" r:id="rId37"/>
    <p:sldLayoutId id="2147483813" r:id="rId38"/>
    <p:sldLayoutId id="2147483836" r:id="rId39"/>
    <p:sldLayoutId id="2147483837" r:id="rId40"/>
    <p:sldLayoutId id="2147483814" r:id="rId41"/>
    <p:sldLayoutId id="2147483816" r:id="rId42"/>
    <p:sldLayoutId id="2147483817" r:id="rId43"/>
    <p:sldLayoutId id="2147483818" r:id="rId44"/>
    <p:sldLayoutId id="2147483819" r:id="rId45"/>
    <p:sldLayoutId id="2147483820" r:id="rId46"/>
    <p:sldLayoutId id="2147483821" r:id="rId47"/>
    <p:sldLayoutId id="2147483822" r:id="rId48"/>
    <p:sldLayoutId id="2147483823" r:id="rId49"/>
    <p:sldLayoutId id="2147483824" r:id="rId50"/>
    <p:sldLayoutId id="2147483825" r:id="rId51"/>
    <p:sldLayoutId id="2147483815" r:id="rId52"/>
    <p:sldLayoutId id="2147483826" r:id="rId53"/>
    <p:sldLayoutId id="2147483827" r:id="rId54"/>
    <p:sldLayoutId id="2147483828" r:id="rId55"/>
    <p:sldLayoutId id="2147483829" r:id="rId56"/>
    <p:sldLayoutId id="2147483830" r:id="rId57"/>
    <p:sldLayoutId id="2147483831" r:id="rId58"/>
    <p:sldLayoutId id="2147483832" r:id="rId59"/>
    <p:sldLayoutId id="2147483833" r:id="rId60"/>
    <p:sldLayoutId id="2147483834" r:id="rId61"/>
    <p:sldLayoutId id="2147483835" r:id="rId62"/>
    <p:sldLayoutId id="2147483777" r:id="rId63"/>
    <p:sldLayoutId id="2147483778" r:id="rId64"/>
    <p:sldLayoutId id="2147483838" r:id="rId65"/>
    <p:sldLayoutId id="2147483839" r:id="rId66"/>
    <p:sldLayoutId id="2147483775" r:id="rId67"/>
    <p:sldLayoutId id="2147483776" r:id="rId68"/>
    <p:sldLayoutId id="2147483767" r:id="rId69"/>
    <p:sldLayoutId id="2147483768" r:id="rId70"/>
    <p:sldLayoutId id="2147483759" r:id="rId71"/>
    <p:sldLayoutId id="2147483844" r:id="rId72"/>
    <p:sldLayoutId id="2147483846" r:id="rId73"/>
    <p:sldLayoutId id="2147483847" r:id="rId74"/>
    <p:sldLayoutId id="2147483848" r:id="rId75"/>
    <p:sldLayoutId id="2147483845" r:id="rId76"/>
    <p:sldLayoutId id="2147483849" r:id="rId7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4">
          <p15:clr>
            <a:srgbClr val="F26B43"/>
          </p15:clr>
        </p15:guide>
        <p15:guide id="2" pos="739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gif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Hera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800" dirty="0"/>
              <a:t>Voice agent </a:t>
            </a:r>
            <a:r>
              <a:rPr sz="1800" dirty="0" err="1"/>
              <a:t>trên</a:t>
            </a:r>
            <a:r>
              <a:rPr sz="1800" dirty="0"/>
              <a:t> AWS — Amazon Bedrock Nova 2 Sonic + </a:t>
            </a:r>
            <a:r>
              <a:rPr sz="1800" dirty="0" err="1"/>
              <a:t>AgentCore</a:t>
            </a:r>
            <a:endParaRPr sz="1800" dirty="0"/>
          </a:p>
          <a:p>
            <a:r>
              <a:rPr sz="1800" dirty="0"/>
              <a:t>Kiet Tran</a:t>
            </a:r>
            <a:r>
              <a:rPr lang="en-US" sz="1800" dirty="0"/>
              <a:t> </a:t>
            </a:r>
            <a:r>
              <a:rPr sz="1800" dirty="0"/>
              <a:t>·</a:t>
            </a:r>
            <a:r>
              <a:rPr lang="en-US" sz="1800" dirty="0"/>
              <a:t> </a:t>
            </a:r>
            <a:r>
              <a:rPr sz="1800" dirty="0"/>
              <a:t>Builder, </a:t>
            </a:r>
            <a:endParaRPr lang="en-US" sz="1800" dirty="0"/>
          </a:p>
          <a:p>
            <a:r>
              <a:rPr sz="1800" dirty="0"/>
              <a:t>AWS Student Builder Group HUFLIT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10067" y="5737827"/>
            <a:ext cx="2294466" cy="510573"/>
          </a:xfrm>
        </p:spPr>
        <p:txBody>
          <a:bodyPr>
            <a:noAutofit/>
          </a:bodyPr>
          <a:lstStyle/>
          <a:p>
            <a:r>
              <a:rPr sz="1400" dirty="0"/>
              <a:t>30-05-2026  ·  </a:t>
            </a:r>
            <a:endParaRPr lang="en-US" sz="1400" dirty="0"/>
          </a:p>
          <a:p>
            <a:r>
              <a:rPr sz="1400" dirty="0"/>
              <a:t>Ho Chi Minh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2000" b="1"/>
              <a:t>01   Tổng quan</a:t>
            </a:r>
          </a:p>
          <a:p>
            <a:r>
              <a:rPr sz="2000"/>
              <a:t>Hera là gì, kiến trúc, voice turn</a:t>
            </a:r>
          </a:p>
          <a:p>
            <a:r>
              <a:rPr sz="2000" b="1"/>
              <a:t>02   Lý thuyết</a:t>
            </a:r>
          </a:p>
          <a:p>
            <a:r>
              <a:rPr sz="2000"/>
              <a:t>Cascade vs S2S, AWS services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2000" b="1"/>
              <a:t>03   Demo</a:t>
            </a:r>
          </a:p>
          <a:p>
            <a:r>
              <a:rPr sz="2000"/>
              <a:t>Voice loop live, cost, latency</a:t>
            </a:r>
          </a:p>
          <a:p>
            <a:r>
              <a:rPr sz="2000" b="1"/>
              <a:t>04   Recap</a:t>
            </a:r>
          </a:p>
          <a:p>
            <a:r>
              <a:rPr sz="2000"/>
              <a:t>Surprises và hướng đi tiếp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Hera là gì?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Trợ lý voice-first cho Apple Store, chạy trên AWS</a:t>
            </a:r>
          </a:p>
          <a:p>
            <a:r>
              <a:rPr sz="1800"/>
              <a:t>Người dùng nói qua microphone của trình duyệt, agent trả lời bằng giọng nói tự nhiên, có RAG lấy spec / giá / tồn kho sản phẩm Apple từ knowledge base nhỏ trên S3 Vectors.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Điểm chính</a:t>
            </a:r>
          </a:p>
          <a:p>
            <a:r>
              <a:rPr sz="1800"/>
              <a:t>•  Speech-to-speech với Nova 2 Sonic</a:t>
            </a:r>
          </a:p>
          <a:p>
            <a:r>
              <a:rPr sz="1800"/>
              <a:t>•  RAG voice tool calling (lookup_product)</a:t>
            </a:r>
          </a:p>
          <a:p>
            <a:r>
              <a:rPr sz="1800"/>
              <a:t>•  Browser-only — chỉ cần microphone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005840"/>
            <a:ext cx="4976190" cy="895985"/>
          </a:xfrm>
        </p:spPr>
        <p:txBody>
          <a:bodyPr/>
          <a:lstStyle/>
          <a:p>
            <a:r>
              <a:rPr dirty="0">
                <a:latin typeface="Aptos Display"/>
              </a:rPr>
              <a:t>Use case — Apple Store assistant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337932" y="2083284"/>
            <a:ext cx="5538815" cy="3314000"/>
          </a:xfrm>
        </p:spPr>
        <p:txBody>
          <a:bodyPr wrap="square">
            <a:noAutofit/>
          </a:bodyPr>
          <a:lstStyle/>
          <a:p>
            <a:r>
              <a:rPr sz="1700" b="1" dirty="0"/>
              <a:t>Demo voice agent + knowledge base 3 SKU</a:t>
            </a:r>
          </a:p>
          <a:p>
            <a:r>
              <a:rPr sz="1700" b="1" dirty="0" err="1"/>
              <a:t>Mẫu</a:t>
            </a:r>
            <a:r>
              <a:rPr sz="1700" b="1" dirty="0"/>
              <a:t> </a:t>
            </a:r>
            <a:r>
              <a:rPr sz="1700" b="1" dirty="0" err="1"/>
              <a:t>hội</a:t>
            </a:r>
            <a:r>
              <a:rPr sz="1700" b="1" dirty="0"/>
              <a:t> </a:t>
            </a:r>
            <a:r>
              <a:rPr sz="1700" b="1" dirty="0" err="1"/>
              <a:t>thoại</a:t>
            </a:r>
            <a:r>
              <a:rPr sz="1700" b="1" dirty="0"/>
              <a:t> </a:t>
            </a:r>
            <a:r>
              <a:rPr sz="1700" b="1" dirty="0" err="1"/>
              <a:t>thực</a:t>
            </a:r>
            <a:r>
              <a:rPr sz="1700" b="1" dirty="0"/>
              <a:t> </a:t>
            </a:r>
            <a:r>
              <a:rPr sz="1700" b="1" dirty="0" err="1"/>
              <a:t>tế</a:t>
            </a:r>
            <a:endParaRPr sz="1700" b="1" dirty="0"/>
          </a:p>
          <a:p>
            <a:r>
              <a:rPr sz="1700" dirty="0"/>
              <a:t>User — Do you have MacBook Pro M4 in stock?</a:t>
            </a:r>
          </a:p>
          <a:p>
            <a:r>
              <a:rPr sz="1700" dirty="0"/>
              <a:t>Agent — Yes, we have the 14-inch M4 Pro in Silver and Space Black. The 14-inch starts at $1,999. Anything </a:t>
            </a:r>
            <a:r>
              <a:rPr sz="1700" dirty="0" err="1"/>
              <a:t>else?</a:t>
            </a:r>
            <a:r>
              <a:rPr lang="en-US" sz="1700" dirty="0" err="1"/>
              <a:t>Á</a:t>
            </a:r>
            <a:endParaRPr sz="1700" dirty="0"/>
          </a:p>
          <a:p>
            <a:r>
              <a:rPr sz="1700" dirty="0"/>
              <a:t>User — What about iPhone 13 Pro Max?</a:t>
            </a:r>
          </a:p>
          <a:p>
            <a:r>
              <a:rPr sz="1700" dirty="0"/>
              <a:t>Agent — iPhone 13 Pro Max is currently out of stock. Would you like an alternative?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>
          <a:xfrm>
            <a:off x="6096000" y="2167951"/>
            <a:ext cx="5538815" cy="3314000"/>
          </a:xfrm>
        </p:spPr>
        <p:txBody>
          <a:bodyPr wrap="square">
            <a:normAutofit/>
          </a:bodyPr>
          <a:lstStyle/>
          <a:p>
            <a:r>
              <a:rPr sz="1700" b="1" dirty="0"/>
              <a:t>KNOWLEDGE BASE</a:t>
            </a:r>
          </a:p>
          <a:p>
            <a:r>
              <a:rPr sz="1700" dirty="0"/>
              <a:t>Apple Watch Series 11 — $399  ·  in stock</a:t>
            </a:r>
          </a:p>
          <a:p>
            <a:r>
              <a:rPr sz="1700" dirty="0"/>
              <a:t>iPhone 13 Pro Max — $1,099  ·  out of stock</a:t>
            </a:r>
          </a:p>
          <a:p>
            <a:r>
              <a:rPr sz="1700" dirty="0"/>
              <a:t>MacBook Pro M4 (14-inch) — $1,999  ·  in 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Kiến trúc tổng thể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14750"/>
                </a:solidFill>
                <a:latin typeface="Aptos"/>
              </a:rPr>
              <a:t>Edge layer + Compute/AI layer  ·  hoàn toàn managed</a:t>
            </a:r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286000"/>
            <a:ext cx="7315200" cy="3934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EC7211"/>
                </a:solidFill>
                <a:latin typeface="Aptos Display"/>
              </a:rPr>
              <a:t>01</a:t>
            </a:r>
          </a:p>
          <a:p>
            <a:r>
              <a:rPr>
                <a:latin typeface="Aptos Display"/>
              </a:rPr>
              <a:t>Lý thuyết</a:t>
            </a:r>
          </a:p>
          <a:p>
            <a:r>
              <a:rPr sz="1800" b="0">
                <a:latin typeface="Aptos Display"/>
              </a:rPr>
              <a:t>Vì sao chọn từng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Bài toán: voice AI đổi từ cascade sang speech-to-speech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Cách làm cũ (~2023-2024)</a:t>
            </a:r>
          </a:p>
          <a:p>
            <a:r>
              <a:rPr sz="1800"/>
              <a:t>•  3 service nối tiếp: STT → LLM → TTS</a:t>
            </a:r>
          </a:p>
          <a:p>
            <a:r>
              <a:rPr sz="1800"/>
              <a:t>•  Latency cộng dồn 4-6s mỗi turn</a:t>
            </a:r>
          </a:p>
          <a:p>
            <a:r>
              <a:rPr sz="1800"/>
              <a:t>•  Không có barge-in (ngắt lời)</a:t>
            </a:r>
          </a:p>
          <a:p>
            <a:r>
              <a:rPr sz="1800"/>
              <a:t>•  Code phức tạp để ghép 3 vendor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Cách làm mới (2025-2026)</a:t>
            </a:r>
          </a:p>
          <a:p>
            <a:r>
              <a:rPr sz="1800"/>
              <a:t>•  1 foundation model thay cho cả 3</a:t>
            </a:r>
          </a:p>
          <a:p>
            <a:r>
              <a:rPr sz="1800"/>
              <a:t>•  Bidirectional stream, latency &lt;2s</a:t>
            </a:r>
          </a:p>
          <a:p>
            <a:r>
              <a:rPr sz="1800"/>
              <a:t>•  Barge-in tự nhiên</a:t>
            </a:r>
          </a:p>
          <a:p>
            <a:r>
              <a:rPr sz="1800"/>
              <a:t>•  Tool calling trực tiếp từ model →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AWS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14750"/>
                </a:solidFill>
                <a:latin typeface="Aptos"/>
              </a:rPr>
              <a:t>Core: Bedrock · AgentCore · KB + S3 Vectors · serverless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251460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19" y="35661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Bedrock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Nova 2 Sonic</a:t>
            </a:r>
          </a:p>
        </p:txBody>
      </p:sp>
      <p:pic>
        <p:nvPicPr>
          <p:cNvPr id="7" name="Picture 6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6" y="251460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2876" y="35661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Bedrock KB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+ S3 Vectors</a:t>
            </a:r>
          </a:p>
        </p:txBody>
      </p:sp>
      <p:pic>
        <p:nvPicPr>
          <p:cNvPr id="9" name="Picture 8" descr="ic_agent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1" y="2514600"/>
            <a:ext cx="100584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5632" y="35661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AgentCore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Runtime</a:t>
            </a:r>
          </a:p>
        </p:txBody>
      </p:sp>
      <p:pic>
        <p:nvPicPr>
          <p:cNvPr id="11" name="Picture 10" descr="ic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799" y="452628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19" y="5577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S3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Widget + KB src</a:t>
            </a:r>
          </a:p>
        </p:txBody>
      </p:sp>
      <p:pic>
        <p:nvPicPr>
          <p:cNvPr id="13" name="Picture 12" descr="ic_cloud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4526280"/>
            <a:ext cx="100584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22876" y="5577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CloudFront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HTTPS edge + OAC</a:t>
            </a:r>
          </a:p>
        </p:txBody>
      </p:sp>
      <p:pic>
        <p:nvPicPr>
          <p:cNvPr id="15" name="Picture 14" descr="ic_lamb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1" y="4526280"/>
            <a:ext cx="1005840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85632" y="5577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Lambda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SigV4 presigner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Amazon Bedrock + Nova 2 Sonic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Speech-to-speech foundation model</a:t>
            </a:r>
          </a:p>
          <a:p>
            <a:r>
              <a:rPr sz="1800"/>
              <a:t>ASR + LLM + TTS trong 1 stream</a:t>
            </a:r>
          </a:p>
          <a:p>
            <a:r>
              <a:rPr sz="1800"/>
              <a:t>•  Bidirectional WebSocket — audio 2 chiều cùng lúc</a:t>
            </a:r>
          </a:p>
          <a:p>
            <a:r>
              <a:rPr sz="1800"/>
              <a:t>•  Built-in tool calling — model tự gọi lookup_product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Vì sao đáng dùng</a:t>
            </a:r>
          </a:p>
          <a:p>
            <a:r>
              <a:rPr sz="1800"/>
              <a:t>•  Barge-in tự nhiên, ngắt giọng người nói được</a:t>
            </a:r>
          </a:p>
          <a:p>
            <a:r>
              <a:rPr sz="1800"/>
              <a:t>•  Async tool calling — model nói trong khi tool chạy nền</a:t>
            </a:r>
          </a:p>
          <a:p>
            <a:r>
              <a:rPr sz="1800" b="1"/>
              <a:t>Latency &lt;2s · barge-in tự nhiên · không phải glue 3 vendor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Bedrock Knowledge Base + S3 Vectors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600" b="1"/>
              <a:t>RAG layer cho voice agent · serverless storage + retrieve</a:t>
            </a:r>
          </a:p>
          <a:p>
            <a:r>
              <a:rPr sz="1600" b="1"/>
              <a:t>Pipeline INGESTION</a:t>
            </a:r>
          </a:p>
          <a:p>
            <a:r>
              <a:rPr sz="1600"/>
              <a:t>catalog/*.md → S3 source → Bedrock ingestion job → Titan v2 embed → S3 Vectors</a:t>
            </a:r>
          </a:p>
          <a:p>
            <a:r>
              <a:rPr sz="1600" b="1"/>
              <a:t>Pipeline RETRIEVE (1 tool call)</a:t>
            </a:r>
          </a:p>
          <a:p>
            <a:r>
              <a:rPr sz="1600"/>
              <a:t>lookup_product(query) → Retrieve API → S3 Vectors search → top-3 chunks → Sonic reply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700" b="1"/>
              <a:t>S3 Vectors vs OpenSearch Serverless</a:t>
            </a:r>
          </a:p>
          <a:p>
            <a:r>
              <a:rPr sz="1700"/>
              <a:t>•  Serverless thật sự — pay per use, không OCU floor</a:t>
            </a:r>
          </a:p>
          <a:p>
            <a:r>
              <a:rPr sz="1700"/>
              <a:t>•  Native integration với Bedrock KB</a:t>
            </a:r>
          </a:p>
          <a:p>
            <a:r>
              <a:rPr sz="1700"/>
              <a:t>•  Hợp workload spiky, read-light, scale dần theo data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Amazon Bedrock AgentCore Runtime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700" b="1"/>
              <a:t>Managed serverless agent runtime — first-party voice + Pipecat pattern</a:t>
            </a:r>
          </a:p>
          <a:p>
            <a:r>
              <a:rPr sz="1700"/>
              <a:t>•  Managed serverless — không cần VPC, ECS, NAT</a:t>
            </a:r>
          </a:p>
          <a:p>
            <a:r>
              <a:rPr sz="1700"/>
              <a:t>•  Mỗi session = 1 microVM riêng (isolation)</a:t>
            </a:r>
          </a:p>
          <a:p>
            <a:r>
              <a:rPr sz="1700"/>
              <a:t>•  $0 khi idle — service tự wake khi có session</a:t>
            </a:r>
          </a:p>
          <a:p>
            <a:r>
              <a:rPr sz="1700"/>
              <a:t>•  Session tối đa 8 giờ (vs Lambda 15 phút)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700" b="1"/>
              <a:t>AgentCore vs ECS Fargate</a:t>
            </a:r>
          </a:p>
          <a:p>
            <a:r>
              <a:rPr sz="1700"/>
              <a:t>AgentCore: first-party agent runtime, scale-to-zero thật sự, managed networking, mỗi session một microVM.</a:t>
            </a:r>
          </a:p>
          <a:p>
            <a:r>
              <a:rPr sz="1700"/>
              <a:t>Fargate phù hợp khi cần always-on hoặc fine-tune VPC/NLB.</a:t>
            </a:r>
          </a:p>
        </p:txBody>
      </p:sp>
      <p:pic>
        <p:nvPicPr>
          <p:cNvPr id="5" name="Picture 4" descr="ic_agen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Edge + auth bridge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CloudFront → S3 widget · Lambda Function URL = SigV4 presigner</a:t>
            </a:r>
          </a:p>
          <a:p>
            <a:r>
              <a:rPr sz="1800"/>
              <a:t>CloudFront — HTTPS + OAC</a:t>
            </a:r>
          </a:p>
          <a:p>
            <a:r>
              <a:rPr sz="1800"/>
              <a:t>S3 widget — Static frontend</a:t>
            </a:r>
          </a:p>
          <a:p>
            <a:r>
              <a:rPr sz="1800"/>
              <a:t>Lambda URL — SigV4 presigner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TẠI SAO CẦN PRESIGNER?</a:t>
            </a:r>
          </a:p>
          <a:p>
            <a:r>
              <a:rPr sz="1800"/>
              <a:t>•  Browser không tự ký SigV4 cho WS upgrade</a:t>
            </a:r>
          </a:p>
          <a:p>
            <a:r>
              <a:rPr sz="1800"/>
              <a:t>•  Không muốn dùng Cognito/OIDC cho demo</a:t>
            </a:r>
          </a:p>
          <a:p>
            <a:r>
              <a:rPr sz="1800"/>
              <a:t>•  Lambda tạo URL có thời hạn 5 phút</a:t>
            </a:r>
          </a:p>
          <a:p>
            <a:r>
              <a:rPr sz="1800"/>
              <a:t>•  Gọi 1 lần mỗi khi user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Display"/>
              </a:rPr>
              <a:t>Một</a:t>
            </a:r>
            <a:r>
              <a:rPr dirty="0">
                <a:latin typeface="Aptos Display"/>
              </a:rPr>
              <a:t> voice turn </a:t>
            </a:r>
            <a:r>
              <a:rPr dirty="0" err="1">
                <a:latin typeface="Aptos Display"/>
              </a:rPr>
              <a:t>đi</a:t>
            </a:r>
            <a:r>
              <a:rPr dirty="0">
                <a:latin typeface="Aptos Display"/>
              </a:rPr>
              <a:t> qua </a:t>
            </a:r>
            <a:r>
              <a:rPr dirty="0" err="1">
                <a:latin typeface="Aptos Display"/>
              </a:rPr>
              <a:t>những</a:t>
            </a:r>
            <a:r>
              <a:rPr dirty="0">
                <a:latin typeface="Aptos Display"/>
              </a:rPr>
              <a:t> </a:t>
            </a:r>
            <a:r>
              <a:rPr dirty="0" err="1">
                <a:latin typeface="Aptos Display"/>
              </a:rPr>
              <a:t>đâu</a:t>
            </a:r>
            <a:r>
              <a:rPr dirty="0">
                <a:latin typeface="Aptos Display"/>
              </a:rPr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Autofit/>
          </a:bodyPr>
          <a:lstStyle/>
          <a:p>
            <a:r>
              <a:rPr sz="1700" b="1" dirty="0"/>
              <a:t>5 </a:t>
            </a:r>
            <a:r>
              <a:rPr sz="1700" b="1" dirty="0" err="1"/>
              <a:t>bước</a:t>
            </a:r>
            <a:r>
              <a:rPr sz="1700" b="1" dirty="0"/>
              <a:t> / 1 turn · end-to-end &lt; 3s p95</a:t>
            </a:r>
          </a:p>
          <a:p>
            <a:r>
              <a:rPr sz="1700" b="1" dirty="0"/>
              <a:t>01 · Browser </a:t>
            </a:r>
            <a:r>
              <a:rPr sz="1700" b="1" dirty="0" err="1"/>
              <a:t>xin</a:t>
            </a:r>
            <a:r>
              <a:rPr sz="1700" b="1" dirty="0"/>
              <a:t> </a:t>
            </a:r>
            <a:r>
              <a:rPr sz="1700" b="1" dirty="0" err="1"/>
              <a:t>presigned</a:t>
            </a:r>
            <a:r>
              <a:rPr sz="1700" b="1" dirty="0"/>
              <a:t> WSS URL</a:t>
            </a:r>
          </a:p>
          <a:p>
            <a:r>
              <a:rPr sz="1700" dirty="0"/>
              <a:t>Lambda </a:t>
            </a:r>
            <a:r>
              <a:rPr sz="1700" dirty="0" err="1"/>
              <a:t>presigner</a:t>
            </a:r>
            <a:r>
              <a:rPr sz="1700" dirty="0"/>
              <a:t> </a:t>
            </a:r>
            <a:r>
              <a:rPr sz="1700" dirty="0" err="1"/>
              <a:t>ký</a:t>
            </a:r>
            <a:r>
              <a:rPr sz="1700" dirty="0"/>
              <a:t> URL SigV4, TTL 5 </a:t>
            </a:r>
            <a:r>
              <a:rPr sz="1700" dirty="0" err="1"/>
              <a:t>phút</a:t>
            </a:r>
            <a:endParaRPr sz="1700" dirty="0"/>
          </a:p>
          <a:p>
            <a:r>
              <a:rPr sz="1700" b="1" dirty="0"/>
              <a:t>02 · Browser </a:t>
            </a:r>
            <a:r>
              <a:rPr sz="1700" b="1" dirty="0" err="1"/>
              <a:t>mở</a:t>
            </a:r>
            <a:r>
              <a:rPr sz="1700" b="1" dirty="0"/>
              <a:t> WebSocket → </a:t>
            </a:r>
            <a:r>
              <a:rPr sz="1700" b="1" dirty="0" err="1"/>
              <a:t>AgentCore</a:t>
            </a:r>
            <a:endParaRPr sz="1700" b="1" dirty="0"/>
          </a:p>
          <a:p>
            <a:r>
              <a:rPr sz="1700" dirty="0" err="1"/>
              <a:t>Không</a:t>
            </a:r>
            <a:r>
              <a:rPr sz="1700" dirty="0"/>
              <a:t> </a:t>
            </a:r>
            <a:r>
              <a:rPr sz="1700" dirty="0" err="1"/>
              <a:t>cần</a:t>
            </a:r>
            <a:r>
              <a:rPr sz="1700" dirty="0"/>
              <a:t> SDK, vanilla JS</a:t>
            </a:r>
          </a:p>
          <a:p>
            <a:r>
              <a:rPr sz="1700" b="1" dirty="0"/>
              <a:t>03 · </a:t>
            </a:r>
            <a:r>
              <a:rPr sz="1700" b="1" dirty="0" err="1"/>
              <a:t>Pipecat</a:t>
            </a:r>
            <a:r>
              <a:rPr sz="1700" b="1" dirty="0"/>
              <a:t> </a:t>
            </a:r>
            <a:r>
              <a:rPr sz="1700" b="1" dirty="0" err="1"/>
              <a:t>nhận</a:t>
            </a:r>
            <a:r>
              <a:rPr sz="1700" b="1" dirty="0"/>
              <a:t> mic PCM</a:t>
            </a:r>
          </a:p>
          <a:p>
            <a:r>
              <a:rPr sz="1700" dirty="0"/>
              <a:t>16 kHz mono Int16 qua WebSocket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600" b="1"/>
              <a:t>04 · Sonic gọi lookup_product</a:t>
            </a:r>
          </a:p>
          <a:p>
            <a:r>
              <a:rPr sz="1600"/>
              <a:t>Bedrock KB Retrieve → S3 Vectors → top-3</a:t>
            </a:r>
          </a:p>
          <a:p>
            <a:r>
              <a:rPr sz="1600" b="1"/>
              <a:t>05 · Sonic phát audio 24 kHz</a:t>
            </a:r>
          </a:p>
          <a:p>
            <a:r>
              <a:rPr sz="1600"/>
              <a:t>Browser phát qua audio worklet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EC7211"/>
                </a:solidFill>
                <a:latin typeface="Aptos Display"/>
              </a:rPr>
              <a:t>02</a:t>
            </a:r>
          </a:p>
          <a:p>
            <a:r>
              <a:rPr>
                <a:latin typeface="Aptos Display"/>
              </a:rPr>
              <a:t>Demo</a:t>
            </a:r>
          </a:p>
          <a:p>
            <a:r>
              <a:rPr sz="1800" b="0">
                <a:latin typeface="Aptos Display"/>
              </a:rPr>
              <a:t>Số liệu thực tế · surprises · v2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414750"/>
                </a:solidFill>
                <a:latin typeface="Aptos"/>
              </a:rPr>
              <a:t>Public URL · click record</a:t>
            </a:r>
          </a:p>
        </p:txBody>
      </p:sp>
      <p:pic>
        <p:nvPicPr>
          <p:cNvPr id="6" name="Picture 5" descr="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866" y="914400"/>
            <a:ext cx="8004387" cy="47526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Số liệu thực tế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14750"/>
                </a:solidFill>
                <a:latin typeface="Aptos"/>
              </a:rPr>
              <a:t>Cost · latency · pricing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&lt;$1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/h burst test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Voice + KB +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8064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98064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~$0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idle qua đêm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AgentCore $0, S3V $0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38928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0.86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KB top score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iPhone 13 stock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&lt;3s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p95 latency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end-of-utt →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0656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0656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$0.017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/phút conversation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Nova 2 Sonic pricing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Hướng mở rộng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900" b="1"/>
              <a:t>Tại sao giữ v1 và hướng mở rộng tiếp</a:t>
            </a:r>
          </a:p>
          <a:p>
            <a:r>
              <a:rPr sz="1900" b="1"/>
              <a:t>v2.0 Twilio</a:t>
            </a:r>
          </a:p>
          <a:p>
            <a:r>
              <a:rPr sz="1900"/>
              <a:t>App Runner edge từ chối inbound WS upgrade</a:t>
            </a:r>
          </a:p>
          <a:p>
            <a:r>
              <a:rPr sz="1900"/>
              <a:t>Bridge code đúng nhưng compute target defective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900" b="1"/>
              <a:t>Tương lai</a:t>
            </a:r>
          </a:p>
          <a:p>
            <a:r>
              <a:rPr sz="1900"/>
              <a:t>Multi-language, multi-agent routing</a:t>
            </a:r>
          </a:p>
          <a:p>
            <a:r>
              <a:rPr sz="1900"/>
              <a:t>Persistent conversation, AgentCore vs ECS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400" b="1"/>
              <a:t>Xây voice agent: 1 speech-to-speech model + tool calling + RAG, trên hạ tầng managed</a:t>
            </a:r>
          </a:p>
          <a:p>
            <a:r>
              <a:rPr sz="1400" b="1"/>
              <a:t>CÔNG THỨC VOICE AGENT</a:t>
            </a:r>
          </a:p>
          <a:p>
            <a:r>
              <a:rPr sz="1400"/>
              <a:t>Speech-to-speech: Nova 2 Sonic — 1 model, &lt; 3s/turn, barge-in</a:t>
            </a:r>
          </a:p>
          <a:p>
            <a:r>
              <a:rPr sz="1400"/>
              <a:t>Tool calling + RAG: Sonic gọi lookup_product → KB → S3 Vectors</a:t>
            </a:r>
          </a:p>
          <a:p>
            <a:r>
              <a:rPr sz="1400"/>
              <a:t>Pipecat: lo audio frame, barge-in, rotate stream — 1 ngày là chạy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400" b="1"/>
              <a:t>RẺ · GỌN · QUAN SÁT ĐƯỢC</a:t>
            </a:r>
          </a:p>
          <a:p>
            <a:r>
              <a:rPr sz="1400"/>
              <a:t>Managed/serverless: AgentCore scale-to-zero, $0 khi idle</a:t>
            </a:r>
          </a:p>
          <a:p>
            <a:r>
              <a:rPr sz="1400"/>
              <a:t>Quan sát được: Langfuse trace mỗi cuộc hội thoại</a:t>
            </a:r>
          </a:p>
          <a:p>
            <a:r>
              <a:rPr sz="1400"/>
              <a:t>KHÔNG ECS/EC2/VPC tự quản — idle ~$0, demo &lt; $1/h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Display"/>
              </a:rPr>
              <a:t>Cảm</a:t>
            </a:r>
            <a:r>
              <a:rPr dirty="0">
                <a:latin typeface="Aptos Display"/>
              </a:rPr>
              <a:t> </a:t>
            </a:r>
            <a:r>
              <a:rPr dirty="0" err="1">
                <a:latin typeface="Aptos Display"/>
              </a:rPr>
              <a:t>ơn</a:t>
            </a:r>
            <a:r>
              <a:rPr dirty="0">
                <a:latin typeface="Aptos Display"/>
              </a:rPr>
              <a:t>!</a:t>
            </a:r>
          </a:p>
          <a:p>
            <a:r>
              <a:rPr sz="2200" b="0" dirty="0" err="1">
                <a:latin typeface="Aptos Display"/>
              </a:rPr>
              <a:t>Câu</a:t>
            </a:r>
            <a:r>
              <a:rPr sz="2200" b="0" dirty="0">
                <a:latin typeface="Aptos Display"/>
              </a:rPr>
              <a:t> </a:t>
            </a:r>
            <a:r>
              <a:rPr sz="2200" b="0" dirty="0" err="1">
                <a:latin typeface="Aptos Display"/>
              </a:rPr>
              <a:t>hỏi</a:t>
            </a:r>
            <a:r>
              <a:rPr sz="2200" b="0" dirty="0">
                <a:latin typeface="Aptos Display"/>
              </a:rPr>
              <a:t> </a:t>
            </a:r>
            <a:r>
              <a:rPr sz="2200" b="0" dirty="0" err="1">
                <a:latin typeface="Aptos Display"/>
              </a:rPr>
              <a:t>và</a:t>
            </a:r>
            <a:r>
              <a:rPr sz="2200" b="0" dirty="0">
                <a:latin typeface="Aptos Display"/>
              </a:rPr>
              <a:t> </a:t>
            </a:r>
            <a:r>
              <a:rPr sz="2200" b="0" dirty="0" err="1">
                <a:latin typeface="Aptos Display"/>
              </a:rPr>
              <a:t>thảo</a:t>
            </a:r>
            <a:r>
              <a:rPr sz="2200" b="0" dirty="0">
                <a:latin typeface="Aptos Display"/>
              </a:rPr>
              <a:t> </a:t>
            </a:r>
            <a:r>
              <a:rPr sz="2200" b="0" dirty="0" err="1">
                <a:latin typeface="Aptos Display"/>
              </a:rPr>
              <a:t>luận</a:t>
            </a:r>
            <a:endParaRPr sz="2200" b="0" dirty="0">
              <a:latin typeface="Aptos Display"/>
            </a:endParaRPr>
          </a:p>
          <a:p>
            <a:r>
              <a:rPr sz="1600" b="0" dirty="0">
                <a:latin typeface="Aptos Display"/>
              </a:rPr>
              <a:t>Kiet Tran · Builder · AWS Student Builder Group HUFLIT</a:t>
            </a:r>
          </a:p>
          <a:p>
            <a:r>
              <a:rPr sz="1600" b="0" dirty="0">
                <a:latin typeface="Aptos Display"/>
              </a:rPr>
              <a:t>trantankiet140401@gmail.com</a:t>
            </a:r>
          </a:p>
          <a:p>
            <a:r>
              <a:rPr sz="1600" b="0" dirty="0">
                <a:latin typeface="Aptos Display"/>
              </a:rPr>
              <a:t>REPO: github.com/</a:t>
            </a:r>
            <a:r>
              <a:rPr sz="1600" b="0" dirty="0" err="1">
                <a:latin typeface="Aptos Display"/>
              </a:rPr>
              <a:t>KenzyTran</a:t>
            </a:r>
            <a:r>
              <a:rPr sz="1600" b="0" dirty="0">
                <a:latin typeface="Aptos Display"/>
              </a:rPr>
              <a:t>/</a:t>
            </a:r>
            <a:r>
              <a:rPr sz="1600" b="0" dirty="0" err="1">
                <a:latin typeface="Aptos Display"/>
              </a:rPr>
              <a:t>hera</a:t>
            </a:r>
            <a:endParaRPr sz="1600" b="0" dirty="0">
              <a:latin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AWS Builder">
      <a:dk1>
        <a:srgbClr val="151D25"/>
      </a:dk1>
      <a:lt1>
        <a:srgbClr val="FFFFFF"/>
      </a:lt1>
      <a:dk2>
        <a:srgbClr val="151D25"/>
      </a:dk2>
      <a:lt2>
        <a:srgbClr val="FFFFFF"/>
      </a:lt2>
      <a:accent1>
        <a:srgbClr val="151D25"/>
      </a:accent1>
      <a:accent2>
        <a:srgbClr val="FF57E9"/>
      </a:accent2>
      <a:accent3>
        <a:srgbClr val="00E582"/>
      </a:accent3>
      <a:accent4>
        <a:srgbClr val="AC5BFF"/>
      </a:accent4>
      <a:accent5>
        <a:srgbClr val="41B3FF"/>
      </a:accent5>
      <a:accent6>
        <a:srgbClr val="FF9900"/>
      </a:accent6>
      <a:hlink>
        <a:srgbClr val="41B3FF"/>
      </a:hlink>
      <a:folHlink>
        <a:srgbClr val="00E5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BBA5BA65C18149B1A3C9E34CA338B3" ma:contentTypeVersion="22" ma:contentTypeDescription="Create a new document." ma:contentTypeScope="" ma:versionID="f4707aabe2dd3c1fb54d25505b8c638b">
  <xsd:schema xmlns:xsd="http://www.w3.org/2001/XMLSchema" xmlns:xs="http://www.w3.org/2001/XMLSchema" xmlns:p="http://schemas.microsoft.com/office/2006/metadata/properties" xmlns:ns2="dba34d03-bc8c-4246-a181-fef561b45adc" xmlns:ns3="450c579d-3274-49e9-a0a5-72dc6366495b" targetNamespace="http://schemas.microsoft.com/office/2006/metadata/properties" ma:root="true" ma:fieldsID="1f1f5d4ce844e221d3ae999e30254bb9" ns2:_="" ns3:_="">
    <xsd:import namespace="dba34d03-bc8c-4246-a181-fef561b45adc"/>
    <xsd:import namespace="450c579d-3274-49e9-a0a5-72dc636649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34d03-bc8c-4246-a181-fef561b45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598f88-8395-42e3-b104-228bf013fe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c579d-3274-49e9-a0a5-72dc6366495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e0a8d44-b134-428a-a292-5c24a69b722b}" ma:internalName="TaxCatchAll" ma:showField="CatchAllData" ma:web="450c579d-3274-49e9-a0a5-72dc636649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a34d03-bc8c-4246-a181-fef561b45adc">
      <Terms xmlns="http://schemas.microsoft.com/office/infopath/2007/PartnerControls"/>
    </lcf76f155ced4ddcb4097134ff3c332f>
    <TaxCatchAll xmlns="450c579d-3274-49e9-a0a5-72dc6366495b" xsi:nil="true"/>
  </documentManagement>
</p:properties>
</file>

<file path=customXml/itemProps1.xml><?xml version="1.0" encoding="utf-8"?>
<ds:datastoreItem xmlns:ds="http://schemas.openxmlformats.org/officeDocument/2006/customXml" ds:itemID="{61F3C38F-CB27-40B2-8544-61F7275A0D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C3EC68-756C-4D1B-AEE1-879C0C7918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a34d03-bc8c-4246-a181-fef561b45adc"/>
    <ds:schemaRef ds:uri="450c579d-3274-49e9-a0a5-72dc636649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A6E2C3-CF76-41CC-8C7E-172D89CB23F7}">
  <ds:schemaRefs>
    <ds:schemaRef ds:uri="http://schemas.microsoft.com/office/2006/metadata/properties"/>
    <ds:schemaRef ds:uri="http://schemas.microsoft.com/office/infopath/2007/PartnerControls"/>
    <ds:schemaRef ds:uri="dba34d03-bc8c-4246-a181-fef561b45adc"/>
    <ds:schemaRef ds:uri="450c579d-3274-49e9-a0a5-72dc6366495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4737</TotalTime>
  <Words>1087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 Display</vt:lpstr>
      <vt:lpstr>Amazon Ember Duospace</vt:lpstr>
      <vt:lpstr>Aptos</vt:lpstr>
      <vt:lpstr>Arial</vt:lpstr>
      <vt:lpstr>Amazon Ember Display</vt:lpstr>
      <vt:lpstr>Covers</vt:lpstr>
      <vt:lpstr>Hera</vt:lpstr>
      <vt:lpstr>Agenda</vt:lpstr>
      <vt:lpstr>Hera là gì?</vt:lpstr>
      <vt:lpstr>Use case — Apple Store assistant</vt:lpstr>
      <vt:lpstr>PowerPoint Presentation</vt:lpstr>
      <vt:lpstr>01 Lý thuyết Vì sao chọn từng service</vt:lpstr>
      <vt:lpstr>Bài toán: voice AI đổi từ cascade sang speech-to-speech</vt:lpstr>
      <vt:lpstr>PowerPoint Presentation</vt:lpstr>
      <vt:lpstr>Amazon Bedrock + Nova 2 Sonic</vt:lpstr>
      <vt:lpstr>Bedrock Knowledge Base + S3 Vectors</vt:lpstr>
      <vt:lpstr>Amazon Bedrock AgentCore Runtime</vt:lpstr>
      <vt:lpstr>Edge + auth bridge</vt:lpstr>
      <vt:lpstr>Một voice turn đi qua những đâu?</vt:lpstr>
      <vt:lpstr>02 Demo Số liệu thực tế · surprises · v2</vt:lpstr>
      <vt:lpstr>PowerPoint Presentation</vt:lpstr>
      <vt:lpstr>PowerPoint Presentation</vt:lpstr>
      <vt:lpstr>Hướng mở rộng</vt:lpstr>
      <vt:lpstr>Recap</vt:lpstr>
      <vt:lpstr>Cảm ơn! Câu hỏi và thảo luận Kiet Tran · Builder · AWS Student Builder Group HUFLIT trantankiet140401@gmail.com REPO: github.com/KenzyTran/hera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Thagaard</dc:creator>
  <cp:lastModifiedBy>Tran Kiet</cp:lastModifiedBy>
  <cp:revision>206</cp:revision>
  <dcterms:created xsi:type="dcterms:W3CDTF">2025-06-11T07:43:35Z</dcterms:created>
  <dcterms:modified xsi:type="dcterms:W3CDTF">2026-05-30T12:40:23Z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2025-06-19T22:21:55Z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217925c7-55b6-46f2-8719-01135592f11b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10, 3, 0, 1</vt:lpwstr>
  </property>
  <property fmtid="{D5CDD505-2E9C-101B-9397-08002B2CF9AE}" pid="10" name="ContentTypeId">
    <vt:lpwstr>0x01010050BBA5BA65C18149B1A3C9E34CA338B3</vt:lpwstr>
  </property>
  <property fmtid="{D5CDD505-2E9C-101B-9397-08002B2CF9AE}" pid="11" name="MediaServiceImageTags">
    <vt:lpwstr/>
  </property>
</Properties>
</file>